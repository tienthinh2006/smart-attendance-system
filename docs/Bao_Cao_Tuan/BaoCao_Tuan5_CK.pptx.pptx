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8288000" cy="10287000"/>
  <p:notesSz cx="6858000" cy="9144000"/>
  <p:embeddedFontLst>
    <p:embeddedFont>
      <p:font typeface="Arial Bold" panose="020B0704020202020204" pitchFamily="34" charset="0"/>
      <p:regular r:id="rId12"/>
      <p:bold r:id="rId13"/>
    </p:embeddedFont>
    <p:embeddedFont>
      <p:font typeface="Montserrat Bold" panose="020B0604020202020204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B0604020202020204" charset="0"/>
      <p:regular r:id="rId16"/>
    </p:embeddedFont>
    <p:embeddedFont>
      <p:font typeface="Tahoma Bold" panose="020B0804030504040204" pitchFamily="34" charset="0"/>
      <p:regular r:id="rId17"/>
      <p:bold r:id="rId18"/>
    </p:embeddedFont>
    <p:embeddedFont>
      <p:font typeface="Verdana Bold" panose="020B080403050404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3.jpe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2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jpe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00600" y="3214668"/>
            <a:ext cx="12915900" cy="2628900"/>
            <a:chOff x="0" y="0"/>
            <a:chExt cx="17221200" cy="3505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21200" cy="3505198"/>
            </a:xfrm>
            <a:custGeom>
              <a:avLst/>
              <a:gdLst/>
              <a:ahLst/>
              <a:cxnLst/>
              <a:rect l="l" t="t" r="r" b="b"/>
              <a:pathLst>
                <a:path w="17221200" h="3505198">
                  <a:moveTo>
                    <a:pt x="0" y="0"/>
                  </a:moveTo>
                  <a:lnTo>
                    <a:pt x="17221200" y="0"/>
                  </a:lnTo>
                  <a:lnTo>
                    <a:pt x="17221200" y="3505198"/>
                  </a:lnTo>
                  <a:lnTo>
                    <a:pt x="0" y="35051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5730" b="-4573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221200" cy="3533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7200"/>
                </a:lnSpc>
              </a:pP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Môn: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Phát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triển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ứng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dụng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di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động</a:t>
              </a:r>
              <a:endParaRPr lang="en-US" sz="60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r">
                <a:lnSpc>
                  <a:spcPts val="7200"/>
                </a:lnSpc>
              </a:pP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Tuần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5-Project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cuối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6000" b="1" dirty="0" err="1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kì</a:t>
              </a:r>
              <a:r>
                <a:rPr lang="en-US" sz="6000" b="1" dirty="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70906" y="5670747"/>
            <a:ext cx="4715580" cy="81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000" b="1">
                <a:solidFill>
                  <a:srgbClr val="D9520F"/>
                </a:solidFill>
                <a:latin typeface="Tahoma Bold"/>
                <a:ea typeface="Tahoma Bold"/>
                <a:cs typeface="Tahoma Bold"/>
                <a:sym typeface="Tahoma Bold"/>
              </a:rPr>
              <a:t>Guide: Huỳnh Hoàng Hà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0"/>
            <a:ext cx="18288000" cy="2628900"/>
            <a:chOff x="0" y="0"/>
            <a:chExt cx="24384000" cy="3505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3505200"/>
            </a:xfrm>
            <a:custGeom>
              <a:avLst/>
              <a:gdLst/>
              <a:ahLst/>
              <a:cxnLst/>
              <a:rect l="l" t="t" r="r" b="b"/>
              <a:pathLst>
                <a:path w="24384000" h="3505200">
                  <a:moveTo>
                    <a:pt x="0" y="0"/>
                  </a:moveTo>
                  <a:lnTo>
                    <a:pt x="24384000" y="0"/>
                  </a:lnTo>
                  <a:lnTo>
                    <a:pt x="24384000" y="3505200"/>
                  </a:lnTo>
                  <a:lnTo>
                    <a:pt x="0" y="350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93" b="-519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828800" y="685800"/>
            <a:ext cx="15087600" cy="868673"/>
            <a:chOff x="0" y="0"/>
            <a:chExt cx="20116800" cy="1158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116800" cy="1158231"/>
            </a:xfrm>
            <a:custGeom>
              <a:avLst/>
              <a:gdLst/>
              <a:ahLst/>
              <a:cxnLst/>
              <a:rect l="l" t="t" r="r" b="b"/>
              <a:pathLst>
                <a:path w="20116800" h="1158231">
                  <a:moveTo>
                    <a:pt x="0" y="0"/>
                  </a:moveTo>
                  <a:lnTo>
                    <a:pt x="20116800" y="0"/>
                  </a:lnTo>
                  <a:lnTo>
                    <a:pt x="201168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769" b="-2870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1168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Tổng quan Tiến độ Thực tế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48905" y="2094302"/>
            <a:ext cx="8001000" cy="6072188"/>
            <a:chOff x="0" y="0"/>
            <a:chExt cx="10668000" cy="809625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10668000" cy="8096250"/>
            </a:xfrm>
            <a:custGeom>
              <a:avLst/>
              <a:gdLst/>
              <a:ahLst/>
              <a:cxnLst/>
              <a:rect l="l" t="t" r="r" b="b"/>
              <a:pathLst>
                <a:path w="10668000" h="8096250">
                  <a:moveTo>
                    <a:pt x="0" y="0"/>
                  </a:moveTo>
                  <a:lnTo>
                    <a:pt x="10668000" y="0"/>
                  </a:lnTo>
                  <a:lnTo>
                    <a:pt x="10668000" y="8096250"/>
                  </a:lnTo>
                  <a:lnTo>
                    <a:pt x="0" y="809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577480" y="2122877"/>
            <a:ext cx="7943850" cy="6015038"/>
            <a:chOff x="0" y="0"/>
            <a:chExt cx="10591800" cy="8020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91800" cy="8020050"/>
            </a:xfrm>
            <a:custGeom>
              <a:avLst/>
              <a:gdLst/>
              <a:ahLst/>
              <a:cxnLst/>
              <a:rect l="l" t="t" r="r" b="b"/>
              <a:pathLst>
                <a:path w="10591800" h="8020050">
                  <a:moveTo>
                    <a:pt x="0" y="0"/>
                  </a:moveTo>
                  <a:lnTo>
                    <a:pt x="10591800" y="0"/>
                  </a:lnTo>
                  <a:lnTo>
                    <a:pt x="10591800" y="8020050"/>
                  </a:lnTo>
                  <a:lnTo>
                    <a:pt x="0" y="802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73" r="-1073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722827"/>
            <a:ext cx="526351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3205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Khối Lượng Hoàn Thành: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384223"/>
            <a:ext cx="7937838" cy="54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10" lvl="1" indent="-310355" algn="l">
              <a:lnSpc>
                <a:spcPts val="4599"/>
              </a:lnSpc>
              <a:buFont typeface="Arial"/>
              <a:buChar char="•"/>
            </a:pPr>
            <a:r>
              <a:rPr lang="en-US" sz="2874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Phần cứng (60%):</a:t>
            </a:r>
            <a:r>
              <a:rPr lang="en-US" sz="2874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Giao tiếp AS608, WiFi.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389950"/>
            <a:ext cx="7937838" cy="113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10" lvl="1" indent="-310355" algn="l">
              <a:lnSpc>
                <a:spcPts val="4599"/>
              </a:lnSpc>
              <a:buFont typeface="Arial"/>
              <a:buChar char="•"/>
            </a:pPr>
            <a:r>
              <a:rPr lang="en-US" sz="2874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Backend (70%):</a:t>
            </a:r>
            <a:r>
              <a:rPr lang="en-US" sz="2874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Database Schema, xử lý Firebase.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596450"/>
            <a:ext cx="7937838" cy="113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10" lvl="1" indent="-310355" algn="l">
              <a:lnSpc>
                <a:spcPts val="4599"/>
              </a:lnSpc>
              <a:buFont typeface="Arial"/>
              <a:buChar char="•"/>
            </a:pPr>
            <a:r>
              <a:rPr lang="en-US" sz="2874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Mobile Admin (70%):</a:t>
            </a:r>
            <a:r>
              <a:rPr lang="en-US" sz="2874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UI, Quản lý NV, Dashboard.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5801114"/>
            <a:ext cx="7937838" cy="113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10" lvl="1" indent="-310355" algn="l">
              <a:lnSpc>
                <a:spcPts val="4599"/>
              </a:lnSpc>
              <a:buFont typeface="Arial"/>
              <a:buChar char="•"/>
            </a:pPr>
            <a:r>
              <a:rPr lang="en-US" sz="2874" b="1" dirty="0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Mobile Employee (50%):</a:t>
            </a:r>
            <a:r>
              <a:rPr lang="en-US" sz="2874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UI </a:t>
            </a:r>
            <a:r>
              <a:rPr lang="en-US" sz="2874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Cá</a:t>
            </a:r>
            <a:r>
              <a:rPr lang="en-US" sz="2874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74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nhân</a:t>
            </a:r>
            <a:r>
              <a:rPr lang="en-US" sz="2874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874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Lịch</a:t>
            </a:r>
            <a:r>
              <a:rPr lang="en-US" sz="2874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74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sử</a:t>
            </a:r>
            <a:r>
              <a:rPr lang="en-US" sz="2874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874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Lọc</a:t>
            </a:r>
            <a:r>
              <a:rPr lang="en-US" sz="2874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data.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7007614"/>
            <a:ext cx="7937838" cy="113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710" lvl="1" indent="-310355" algn="l">
              <a:lnSpc>
                <a:spcPts val="4599"/>
              </a:lnSpc>
              <a:buFont typeface="Arial"/>
              <a:buChar char="•"/>
            </a:pPr>
            <a:r>
              <a:rPr lang="en-US" sz="2874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BA/QA (70%):</a:t>
            </a:r>
            <a:r>
              <a:rPr lang="en-US" sz="2874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Use Case, Quy tắc chấm công, Test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28800" y="685800"/>
            <a:ext cx="15087600" cy="868673"/>
            <a:chOff x="0" y="0"/>
            <a:chExt cx="20116800" cy="1158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116800" cy="1158231"/>
            </a:xfrm>
            <a:custGeom>
              <a:avLst/>
              <a:gdLst/>
              <a:ahLst/>
              <a:cxnLst/>
              <a:rect l="l" t="t" r="r" b="b"/>
              <a:pathLst>
                <a:path w="20116800" h="1158231">
                  <a:moveTo>
                    <a:pt x="0" y="0"/>
                  </a:moveTo>
                  <a:lnTo>
                    <a:pt x="20116800" y="0"/>
                  </a:lnTo>
                  <a:lnTo>
                    <a:pt x="201168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769" b="-287084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1168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Khối Nền tảng: Hardware &amp; Backend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7391" y="2213457"/>
            <a:ext cx="8001000" cy="6093619"/>
            <a:chOff x="0" y="0"/>
            <a:chExt cx="10668000" cy="8124825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0668000" cy="8124825"/>
            </a:xfrm>
            <a:custGeom>
              <a:avLst/>
              <a:gdLst/>
              <a:ahLst/>
              <a:cxnLst/>
              <a:rect l="l" t="t" r="r" b="b"/>
              <a:pathLst>
                <a:path w="10668000" h="8124825">
                  <a:moveTo>
                    <a:pt x="0" y="0"/>
                  </a:moveTo>
                  <a:lnTo>
                    <a:pt x="10668000" y="0"/>
                  </a:lnTo>
                  <a:lnTo>
                    <a:pt x="10668000" y="8124825"/>
                  </a:lnTo>
                  <a:lnTo>
                    <a:pt x="0" y="8124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8" b="-5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409891" y="2213457"/>
            <a:ext cx="8001000" cy="6093619"/>
            <a:chOff x="0" y="0"/>
            <a:chExt cx="10668000" cy="8124825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0668000" cy="8124825"/>
            </a:xfrm>
            <a:custGeom>
              <a:avLst/>
              <a:gdLst/>
              <a:ahLst/>
              <a:cxnLst/>
              <a:rect l="l" t="t" r="r" b="b"/>
              <a:pathLst>
                <a:path w="10668000" h="8124825">
                  <a:moveTo>
                    <a:pt x="0" y="0"/>
                  </a:moveTo>
                  <a:lnTo>
                    <a:pt x="10668000" y="0"/>
                  </a:lnTo>
                  <a:lnTo>
                    <a:pt x="10668000" y="8124825"/>
                  </a:lnTo>
                  <a:lnTo>
                    <a:pt x="0" y="8124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8" b="-58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038534" y="2421893"/>
            <a:ext cx="183999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805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31598" y="2441314"/>
            <a:ext cx="169402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705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54128" y="2412368"/>
            <a:ext cx="493830" cy="486518"/>
            <a:chOff x="0" y="0"/>
            <a:chExt cx="361950" cy="356591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61950" cy="356616"/>
            </a:xfrm>
            <a:custGeom>
              <a:avLst/>
              <a:gdLst/>
              <a:ahLst/>
              <a:cxnLst/>
              <a:rect l="l" t="t" r="r" b="b"/>
              <a:pathLst>
                <a:path w="361950" h="356616">
                  <a:moveTo>
                    <a:pt x="0" y="0"/>
                  </a:moveTo>
                  <a:lnTo>
                    <a:pt x="361950" y="0"/>
                  </a:lnTo>
                  <a:lnTo>
                    <a:pt x="361950" y="356616"/>
                  </a:lnTo>
                  <a:lnTo>
                    <a:pt x="0" y="35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51" b="-74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764516" y="2460736"/>
            <a:ext cx="316888" cy="370732"/>
            <a:chOff x="0" y="0"/>
            <a:chExt cx="304800" cy="356591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304800" cy="356616"/>
            </a:xfrm>
            <a:custGeom>
              <a:avLst/>
              <a:gdLst/>
              <a:ahLst/>
              <a:cxnLst/>
              <a:rect l="l" t="t" r="r" b="b"/>
              <a:pathLst>
                <a:path w="304800" h="356616">
                  <a:moveTo>
                    <a:pt x="0" y="0"/>
                  </a:moveTo>
                  <a:lnTo>
                    <a:pt x="304800" y="0"/>
                  </a:lnTo>
                  <a:lnTo>
                    <a:pt x="304800" y="356616"/>
                  </a:lnTo>
                  <a:lnTo>
                    <a:pt x="0" y="35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51" b="-744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254128" y="2882703"/>
            <a:ext cx="7131449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AS608: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Đăng ký, lưu mẫu, xác thực qua UART.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4128" y="4102503"/>
            <a:ext cx="7131449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Phản hồi: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Điều khiển Buzzer (qua NPN C1815) &amp; LED.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4128" y="5319798"/>
            <a:ext cx="6893140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IoT: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Kết nối WiFi, đóng gói JSON `{"fingerprintId": ID}`.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1600" y="6602453"/>
            <a:ext cx="6615112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Truyền tải: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Gửi HTTP POST lên Firebase.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64516" y="2990621"/>
            <a:ext cx="6893140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Database: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Thiết kế Schema cho Employee &amp; Attendance.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29800" y="4122191"/>
            <a:ext cx="6952717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Firebase: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Tạo project, cấu hình Realtime Database Rules.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22960" y="5253761"/>
            <a:ext cx="6825800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Xử lý dữ liệu: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Tiếp nhận dữ liệu từ ESP32, ghi nhận Timestamp.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22960" y="6539588"/>
            <a:ext cx="6952717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Giao tiếp: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Thiết lập luồng HTTP/MQTT chuẩn bị tích hợp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Khối Hiển thị: Mobile Application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253175"/>
            <a:ext cx="8001000" cy="6093619"/>
            <a:chOff x="0" y="0"/>
            <a:chExt cx="10668000" cy="8124825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0668000" cy="8124825"/>
            </a:xfrm>
            <a:custGeom>
              <a:avLst/>
              <a:gdLst/>
              <a:ahLst/>
              <a:cxnLst/>
              <a:rect l="l" t="t" r="r" b="b"/>
              <a:pathLst>
                <a:path w="10668000" h="8124825">
                  <a:moveTo>
                    <a:pt x="0" y="0"/>
                  </a:moveTo>
                  <a:lnTo>
                    <a:pt x="10668000" y="0"/>
                  </a:lnTo>
                  <a:lnTo>
                    <a:pt x="10668000" y="8124825"/>
                  </a:lnTo>
                  <a:lnTo>
                    <a:pt x="0" y="8124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8" b="-5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601200" y="2253175"/>
            <a:ext cx="8001000" cy="6093619"/>
            <a:chOff x="0" y="0"/>
            <a:chExt cx="10668000" cy="8124825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0668000" cy="8124825"/>
            </a:xfrm>
            <a:custGeom>
              <a:avLst/>
              <a:gdLst/>
              <a:ahLst/>
              <a:cxnLst/>
              <a:rect l="l" t="t" r="r" b="b"/>
              <a:pathLst>
                <a:path w="10668000" h="8124825">
                  <a:moveTo>
                    <a:pt x="0" y="0"/>
                  </a:moveTo>
                  <a:lnTo>
                    <a:pt x="10668000" y="0"/>
                  </a:lnTo>
                  <a:lnTo>
                    <a:pt x="10668000" y="8124825"/>
                  </a:lnTo>
                  <a:lnTo>
                    <a:pt x="0" y="8124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8" b="-58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329731" y="2669622"/>
            <a:ext cx="269946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3005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 Admin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46645" y="2634175"/>
            <a:ext cx="3424238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705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 Employee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57267" y="2610839"/>
            <a:ext cx="414408" cy="484822"/>
            <a:chOff x="0" y="0"/>
            <a:chExt cx="304800" cy="356591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04800" cy="356616"/>
            </a:xfrm>
            <a:custGeom>
              <a:avLst/>
              <a:gdLst/>
              <a:ahLst/>
              <a:cxnLst/>
              <a:rect l="l" t="t" r="r" b="b"/>
              <a:pathLst>
                <a:path w="304800" h="356616">
                  <a:moveTo>
                    <a:pt x="0" y="0"/>
                  </a:moveTo>
                  <a:lnTo>
                    <a:pt x="304800" y="0"/>
                  </a:lnTo>
                  <a:lnTo>
                    <a:pt x="304800" y="356616"/>
                  </a:lnTo>
                  <a:lnTo>
                    <a:pt x="0" y="35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51" b="-74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0122088" y="2610839"/>
            <a:ext cx="362607" cy="484823"/>
            <a:chOff x="0" y="0"/>
            <a:chExt cx="266700" cy="356591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266700" cy="356616"/>
            </a:xfrm>
            <a:custGeom>
              <a:avLst/>
              <a:gdLst/>
              <a:ahLst/>
              <a:cxnLst/>
              <a:rect l="l" t="t" r="r" b="b"/>
              <a:pathLst>
                <a:path w="266700" h="356616">
                  <a:moveTo>
                    <a:pt x="0" y="0"/>
                  </a:moveTo>
                  <a:lnTo>
                    <a:pt x="266700" y="0"/>
                  </a:lnTo>
                  <a:lnTo>
                    <a:pt x="266700" y="356616"/>
                  </a:lnTo>
                  <a:lnTo>
                    <a:pt x="0" y="35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51" b="-744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557267" y="3204542"/>
            <a:ext cx="6615112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UI/UX: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Hoàn thiện giao diện tổng thể và Màn hình Login.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57267" y="4250387"/>
            <a:ext cx="6615112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Quản lý: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Xây dựng luồng Thêm/Sửa/Xóa nhân viên.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57267" y="5414847"/>
            <a:ext cx="6615112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Định danh: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Chức năng gán Employee với Fingerprint ID.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7267" y="6574992"/>
            <a:ext cx="6615112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Dashboard:</a:t>
            </a: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Hiển thị thống kê trạng thái (Present/Absent/Late).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03391" y="3129147"/>
            <a:ext cx="6615112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 dirty="0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UI/UX: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Thiết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kế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giao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diện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cá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nhân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hóa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03391" y="3817952"/>
            <a:ext cx="6615112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 dirty="0" err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Lịch</a:t>
            </a:r>
            <a:r>
              <a:rPr lang="en-US" sz="2475" b="1" dirty="0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75" b="1" dirty="0" err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sử</a:t>
            </a:r>
            <a:r>
              <a:rPr lang="en-US" sz="2475" b="1" dirty="0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: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Xem chi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tiết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lịch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sử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chấm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công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cá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nhân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03391" y="4982412"/>
            <a:ext cx="6615112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 b="1" dirty="0" err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Lọc</a:t>
            </a:r>
            <a:r>
              <a:rPr lang="en-US" sz="2475" b="1" dirty="0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75" b="1" dirty="0" err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dữ</a:t>
            </a:r>
            <a:r>
              <a:rPr lang="en-US" sz="2475" b="1" dirty="0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75" b="1" dirty="0" err="1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liệu</a:t>
            </a:r>
            <a:r>
              <a:rPr lang="en-US" sz="2475" b="1" dirty="0">
                <a:solidFill>
                  <a:srgbClr val="333333"/>
                </a:solidFill>
                <a:latin typeface="Roboto Bold"/>
                <a:ea typeface="Roboto Bold"/>
                <a:cs typeface="Roboto Bold"/>
                <a:sym typeface="Roboto Bold"/>
              </a:rPr>
              <a:t>: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Filter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theo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Ngày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Tuần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2475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Tháng</a:t>
            </a:r>
            <a:r>
              <a:rPr lang="en-US" sz="2475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Khối Hiển thị: Mobile Application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371600" y="2069033"/>
            <a:ext cx="3345404" cy="7013257"/>
          </a:xfrm>
          <a:custGeom>
            <a:avLst/>
            <a:gdLst/>
            <a:ahLst/>
            <a:cxnLst/>
            <a:rect l="l" t="t" r="r" b="b"/>
            <a:pathLst>
              <a:path w="3345404" h="7013257">
                <a:moveTo>
                  <a:pt x="0" y="0"/>
                </a:moveTo>
                <a:lnTo>
                  <a:pt x="3345404" y="0"/>
                </a:lnTo>
                <a:lnTo>
                  <a:pt x="3345404" y="7013257"/>
                </a:lnTo>
                <a:lnTo>
                  <a:pt x="0" y="7013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354751" y="2069033"/>
            <a:ext cx="3343529" cy="7013257"/>
          </a:xfrm>
          <a:custGeom>
            <a:avLst/>
            <a:gdLst/>
            <a:ahLst/>
            <a:cxnLst/>
            <a:rect l="l" t="t" r="r" b="b"/>
            <a:pathLst>
              <a:path w="3343529" h="7013257">
                <a:moveTo>
                  <a:pt x="0" y="0"/>
                </a:moveTo>
                <a:lnTo>
                  <a:pt x="3343529" y="0"/>
                </a:lnTo>
                <a:lnTo>
                  <a:pt x="3343529" y="7013257"/>
                </a:lnTo>
                <a:lnTo>
                  <a:pt x="0" y="70132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36455" y="2069033"/>
            <a:ext cx="3446856" cy="7013257"/>
          </a:xfrm>
          <a:custGeom>
            <a:avLst/>
            <a:gdLst/>
            <a:ahLst/>
            <a:cxnLst/>
            <a:rect l="l" t="t" r="r" b="b"/>
            <a:pathLst>
              <a:path w="3446856" h="7013257">
                <a:moveTo>
                  <a:pt x="0" y="0"/>
                </a:moveTo>
                <a:lnTo>
                  <a:pt x="3446857" y="0"/>
                </a:lnTo>
                <a:lnTo>
                  <a:pt x="3446857" y="7013257"/>
                </a:lnTo>
                <a:lnTo>
                  <a:pt x="0" y="70132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421487" y="2069033"/>
            <a:ext cx="3150163" cy="7013257"/>
          </a:xfrm>
          <a:custGeom>
            <a:avLst/>
            <a:gdLst/>
            <a:ahLst/>
            <a:cxnLst/>
            <a:rect l="l" t="t" r="r" b="b"/>
            <a:pathLst>
              <a:path w="3150163" h="7013257">
                <a:moveTo>
                  <a:pt x="0" y="0"/>
                </a:moveTo>
                <a:lnTo>
                  <a:pt x="3150162" y="0"/>
                </a:lnTo>
                <a:lnTo>
                  <a:pt x="3150162" y="7013257"/>
                </a:lnTo>
                <a:lnTo>
                  <a:pt x="0" y="70132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 Kế hoạch Tuần 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7250" y="2438562"/>
            <a:ext cx="5333924" cy="6072188"/>
            <a:chOff x="0" y="0"/>
            <a:chExt cx="7111898" cy="809625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7111873" cy="8096250"/>
            </a:xfrm>
            <a:custGeom>
              <a:avLst/>
              <a:gdLst/>
              <a:ahLst/>
              <a:cxnLst/>
              <a:rect l="l" t="t" r="r" b="b"/>
              <a:pathLst>
                <a:path w="7111873" h="8096250">
                  <a:moveTo>
                    <a:pt x="0" y="0"/>
                  </a:moveTo>
                  <a:lnTo>
                    <a:pt x="7111873" y="0"/>
                  </a:lnTo>
                  <a:lnTo>
                    <a:pt x="7111873" y="8096250"/>
                  </a:lnTo>
                  <a:lnTo>
                    <a:pt x="0" y="809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" r="-9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476924" y="2438562"/>
            <a:ext cx="5333924" cy="6072188"/>
            <a:chOff x="0" y="0"/>
            <a:chExt cx="7111898" cy="809625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7111873" cy="8096250"/>
            </a:xfrm>
            <a:custGeom>
              <a:avLst/>
              <a:gdLst/>
              <a:ahLst/>
              <a:cxnLst/>
              <a:rect l="l" t="t" r="r" b="b"/>
              <a:pathLst>
                <a:path w="7111873" h="8096250">
                  <a:moveTo>
                    <a:pt x="0" y="0"/>
                  </a:moveTo>
                  <a:lnTo>
                    <a:pt x="7111873" y="0"/>
                  </a:lnTo>
                  <a:lnTo>
                    <a:pt x="7111873" y="8096250"/>
                  </a:lnTo>
                  <a:lnTo>
                    <a:pt x="0" y="809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0" r="-9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096598" y="2438562"/>
            <a:ext cx="5334152" cy="6072188"/>
            <a:chOff x="0" y="0"/>
            <a:chExt cx="7112203" cy="809625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112254" cy="8096250"/>
            </a:xfrm>
            <a:custGeom>
              <a:avLst/>
              <a:gdLst/>
              <a:ahLst/>
              <a:cxnLst/>
              <a:rect l="l" t="t" r="r" b="b"/>
              <a:pathLst>
                <a:path w="7112254" h="8096250">
                  <a:moveTo>
                    <a:pt x="0" y="0"/>
                  </a:moveTo>
                  <a:lnTo>
                    <a:pt x="7112254" y="0"/>
                  </a:lnTo>
                  <a:lnTo>
                    <a:pt x="7112254" y="8096250"/>
                  </a:lnTo>
                  <a:lnTo>
                    <a:pt x="0" y="809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7" r="-8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871662" y="2810037"/>
            <a:ext cx="4145442" cy="414338"/>
            <a:chOff x="0" y="0"/>
            <a:chExt cx="5527256" cy="5524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27252" cy="552450"/>
            </a:xfrm>
            <a:custGeom>
              <a:avLst/>
              <a:gdLst/>
              <a:ahLst/>
              <a:cxnLst/>
              <a:rect l="l" t="t" r="r" b="b"/>
              <a:pathLst>
                <a:path w="5527252" h="552450">
                  <a:moveTo>
                    <a:pt x="0" y="0"/>
                  </a:moveTo>
                  <a:lnTo>
                    <a:pt x="5527252" y="0"/>
                  </a:lnTo>
                  <a:lnTo>
                    <a:pt x="5527252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947" b="-14494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5527256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3A7BD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Hệ thống chung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4194496"/>
            <a:ext cx="4590974" cy="245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Tích hợp toàn diện các module (End-to-End).</a:t>
            </a:r>
          </a:p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Chạy luồng dữ liệu thực tế từ lúc quét tay đến khi hiện Push Notification.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391324" y="2810037"/>
            <a:ext cx="4250455" cy="414338"/>
            <a:chOff x="0" y="0"/>
            <a:chExt cx="5667273" cy="5524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67270" cy="552450"/>
            </a:xfrm>
            <a:custGeom>
              <a:avLst/>
              <a:gdLst/>
              <a:ahLst/>
              <a:cxnLst/>
              <a:rect l="l" t="t" r="r" b="b"/>
              <a:pathLst>
                <a:path w="5667270" h="552450">
                  <a:moveTo>
                    <a:pt x="0" y="0"/>
                  </a:moveTo>
                  <a:lnTo>
                    <a:pt x="5667270" y="0"/>
                  </a:lnTo>
                  <a:lnTo>
                    <a:pt x="566727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9886" b="-14988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667273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3A7BD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Kiểm thử (QA)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848513" y="4194496"/>
            <a:ext cx="4590974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Rà soát các Test Case ngoại lệ (rớt mạng, quét sai liên tục). Ghi nhận và theo dõi sửa lỗi.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968135" y="2810037"/>
            <a:ext cx="4295689" cy="414338"/>
            <a:chOff x="0" y="0"/>
            <a:chExt cx="5727586" cy="5524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727590" cy="552450"/>
            </a:xfrm>
            <a:custGeom>
              <a:avLst/>
              <a:gdLst/>
              <a:ahLst/>
              <a:cxnLst/>
              <a:rect l="l" t="t" r="r" b="b"/>
              <a:pathLst>
                <a:path w="5727590" h="552450">
                  <a:moveTo>
                    <a:pt x="0" y="0"/>
                  </a:moveTo>
                  <a:lnTo>
                    <a:pt x="5727590" y="0"/>
                  </a:lnTo>
                  <a:lnTo>
                    <a:pt x="572759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013" b="-15201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5727586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3A7BD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Báo cáo &amp; Tài liệu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468073" y="4194496"/>
            <a:ext cx="4591202" cy="19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Bắt đầu viết cuốn Báo cáo môn học.</a:t>
            </a:r>
          </a:p>
          <a:p>
            <a:pPr marL="534352" lvl="1" indent="-267176" algn="l">
              <a:lnSpc>
                <a:spcPts val="3960"/>
              </a:lnSpc>
              <a:buFont typeface="Arial"/>
              <a:buChar char="•"/>
            </a:pPr>
            <a:r>
              <a:rPr lang="en-US" sz="2475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Chuẩn bị kịch bản nghiệm thu cuối kỳ.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28725" y="2817181"/>
            <a:ext cx="500062" cy="400050"/>
            <a:chOff x="0" y="0"/>
            <a:chExt cx="666750" cy="5334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666750" cy="533400"/>
            </a:xfrm>
            <a:custGeom>
              <a:avLst/>
              <a:gdLst/>
              <a:ahLst/>
              <a:cxnLst/>
              <a:rect l="l" t="t" r="r" b="b"/>
              <a:pathLst>
                <a:path w="666750" h="53340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785" b="-1785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6848399" y="2817181"/>
            <a:ext cx="400050" cy="400050"/>
            <a:chOff x="0" y="0"/>
            <a:chExt cx="533400" cy="5334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2468073" y="2817181"/>
            <a:ext cx="357188" cy="400050"/>
            <a:chOff x="0" y="0"/>
            <a:chExt cx="476250" cy="5334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476250" cy="533400"/>
            </a:xfrm>
            <a:custGeom>
              <a:avLst/>
              <a:gdLst/>
              <a:ahLst/>
              <a:cxnLst/>
              <a:rect l="l" t="t" r="r" b="b"/>
              <a:pathLst>
                <a:path w="476250" h="53340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07" r="-20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hình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Vận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hành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(Data Flow)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2886" y="3599058"/>
            <a:ext cx="4667326" cy="4145855"/>
            <a:chOff x="0" y="0"/>
            <a:chExt cx="6223102" cy="5527806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6223127" cy="5527806"/>
            </a:xfrm>
            <a:custGeom>
              <a:avLst/>
              <a:gdLst/>
              <a:ahLst/>
              <a:cxnLst/>
              <a:rect l="l" t="t" r="r" b="b"/>
              <a:pathLst>
                <a:path w="6223127" h="5527806">
                  <a:moveTo>
                    <a:pt x="0" y="0"/>
                  </a:moveTo>
                  <a:lnTo>
                    <a:pt x="6223127" y="0"/>
                  </a:lnTo>
                  <a:lnTo>
                    <a:pt x="6223127" y="5527806"/>
                  </a:lnTo>
                  <a:lnTo>
                    <a:pt x="0" y="552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159" b="-2315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810337" y="3599058"/>
            <a:ext cx="4667326" cy="4145855"/>
            <a:chOff x="0" y="0"/>
            <a:chExt cx="6223102" cy="5527806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6223127" cy="5527806"/>
            </a:xfrm>
            <a:custGeom>
              <a:avLst/>
              <a:gdLst/>
              <a:ahLst/>
              <a:cxnLst/>
              <a:rect l="l" t="t" r="r" b="b"/>
              <a:pathLst>
                <a:path w="6223127" h="5527806">
                  <a:moveTo>
                    <a:pt x="0" y="0"/>
                  </a:moveTo>
                  <a:lnTo>
                    <a:pt x="6223127" y="0"/>
                  </a:lnTo>
                  <a:lnTo>
                    <a:pt x="6223127" y="5527806"/>
                  </a:lnTo>
                  <a:lnTo>
                    <a:pt x="0" y="552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2936" b="-2293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477788" y="3599058"/>
            <a:ext cx="4667326" cy="4145855"/>
            <a:chOff x="0" y="0"/>
            <a:chExt cx="6223102" cy="5527806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6223127" cy="5527806"/>
            </a:xfrm>
            <a:custGeom>
              <a:avLst/>
              <a:gdLst/>
              <a:ahLst/>
              <a:cxnLst/>
              <a:rect l="l" t="t" r="r" b="b"/>
              <a:pathLst>
                <a:path w="6223127" h="5527806">
                  <a:moveTo>
                    <a:pt x="0" y="0"/>
                  </a:moveTo>
                  <a:lnTo>
                    <a:pt x="6223127" y="0"/>
                  </a:lnTo>
                  <a:lnTo>
                    <a:pt x="6223127" y="5527806"/>
                  </a:lnTo>
                  <a:lnTo>
                    <a:pt x="0" y="552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2936" b="-2293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371600" y="3998391"/>
            <a:ext cx="4270610" cy="4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Phần cứng (ESP32)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2923" y="5280569"/>
            <a:ext cx="4067251" cy="122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25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Quét vân tay → So khớp nội bộ → Lấy ID → Đóng gói JSON → Gửi HTTP POST qua WiFi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24524" y="5752056"/>
            <a:ext cx="571500" cy="571500"/>
            <a:chOff x="0" y="0"/>
            <a:chExt cx="762000" cy="7620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50" r="-1250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008695" y="3998391"/>
            <a:ext cx="4270610" cy="4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Cloud (Firebase)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08695" y="5431722"/>
            <a:ext cx="4067251" cy="122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25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Nhận dữ liệu → Ghi nhận Server Timestamp → Lưu vào Database → Kích hoạt Listener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691976" y="5752056"/>
            <a:ext cx="571500" cy="571500"/>
            <a:chOff x="0" y="0"/>
            <a:chExt cx="762000" cy="7620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50" r="-1250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2649238" y="3998391"/>
            <a:ext cx="4270610" cy="4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1A367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Mobile Apps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77826" y="5239992"/>
            <a:ext cx="4067251" cy="122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25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Nhận tín hiệu Real-time → Áp dụng luật chấm công (Đúng/Trễ) → Cập nhật Dashboard &amp; Lịch sử cá nhân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6EB1-3CD7-BF33-B59C-34782F5EB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48D88B-E191-E0C8-8DDB-B6529A09B6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C072B0E-68C7-DD2D-B89D-F509FE7C79AC}"/>
              </a:ext>
            </a:extLst>
          </p:cNvPr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97DCAC7-389B-91AE-6D59-BC615DC837C3}"/>
                </a:ext>
              </a:extLst>
            </p:cNvPr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C97D7CC-BC08-EF98-1475-6098D3D7CAD6}"/>
              </a:ext>
            </a:extLst>
          </p:cNvPr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4D3CB5F-9DC1-3CBD-E664-B788025630F7}"/>
                </a:ext>
              </a:extLst>
            </p:cNvPr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D985A9C-F7EF-F712-BE48-73D42D03DD3C}"/>
              </a:ext>
            </a:extLst>
          </p:cNvPr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12FBB70-1B9A-DC6E-3FC5-D323ABF18013}"/>
              </a:ext>
            </a:extLst>
          </p:cNvPr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9FEC43AF-E05C-50AA-3FCC-780A347A3B64}"/>
              </a:ext>
            </a:extLst>
          </p:cNvPr>
          <p:cNvGrpSpPr/>
          <p:nvPr/>
        </p:nvGrpSpPr>
        <p:grpSpPr>
          <a:xfrm>
            <a:off x="2114550" y="720328"/>
            <a:ext cx="15430500" cy="868673"/>
            <a:chOff x="0" y="0"/>
            <a:chExt cx="20574000" cy="115823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3A0A2CE-23F2-AAD2-778D-01B24E0794B6}"/>
                </a:ext>
              </a:extLst>
            </p:cNvPr>
            <p:cNvSpPr/>
            <p:nvPr/>
          </p:nvSpPr>
          <p:spPr>
            <a:xfrm>
              <a:off x="0" y="0"/>
              <a:ext cx="20574000" cy="1158231"/>
            </a:xfrm>
            <a:custGeom>
              <a:avLst/>
              <a:gdLst/>
              <a:ahLst/>
              <a:cxnLst/>
              <a:rect l="l" t="t" r="r" b="b"/>
              <a:pathLst>
                <a:path w="20574000" h="1158231">
                  <a:moveTo>
                    <a:pt x="0" y="0"/>
                  </a:moveTo>
                  <a:lnTo>
                    <a:pt x="20574000" y="0"/>
                  </a:lnTo>
                  <a:lnTo>
                    <a:pt x="20574000" y="1158231"/>
                  </a:lnTo>
                  <a:lnTo>
                    <a:pt x="0" y="1158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7461" b="-294775"/>
              </a:stretch>
            </a:blip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0C75937-698A-DDE3-8635-7E4F86726C2F}"/>
                </a:ext>
              </a:extLst>
            </p:cNvPr>
            <p:cNvSpPr txBox="1"/>
            <p:nvPr/>
          </p:nvSpPr>
          <p:spPr>
            <a:xfrm>
              <a:off x="0" y="-19050"/>
              <a:ext cx="20574000" cy="117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hình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Vận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4200" b="1" dirty="0" err="1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hành</a:t>
              </a:r>
              <a:r>
                <a:rPr lang="en-US" sz="4200" b="1" dirty="0">
                  <a:solidFill>
                    <a:srgbClr val="4B546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(Data Flow)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84FF6021-0C2C-576E-D664-AC0D4E054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1548479"/>
            <a:ext cx="11125200" cy="74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2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1600" y="1028700"/>
            <a:ext cx="16916400" cy="176841"/>
            <a:chOff x="0" y="0"/>
            <a:chExt cx="22555200" cy="2357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id="5" name="Group 5"/>
          <p:cNvGrpSpPr/>
          <p:nvPr/>
        </p:nvGrpSpPr>
        <p:grpSpPr>
          <a:xfrm>
            <a:off x="1371600" y="1242384"/>
            <a:ext cx="16916400" cy="176841"/>
            <a:chOff x="0" y="0"/>
            <a:chExt cx="22555200" cy="2357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55200" cy="235839"/>
            </a:xfrm>
            <a:custGeom>
              <a:avLst/>
              <a:gdLst/>
              <a:ahLst/>
              <a:cxnLst/>
              <a:rect l="l" t="t" r="r" b="b"/>
              <a:pathLst>
                <a:path w="22555200" h="235839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1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id="7" name="Freeform 7"/>
          <p:cNvSpPr/>
          <p:nvPr/>
        </p:nvSpPr>
        <p:spPr>
          <a:xfrm>
            <a:off x="720728" y="68580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25840" y="9734245"/>
            <a:ext cx="8122920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55430" y="4274820"/>
            <a:ext cx="10104120" cy="105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gradFill>
                  <a:gsLst>
                    <a:gs pos="0">
                      <a:srgbClr val="4987E3">
                        <a:alpha val="100000"/>
                      </a:srgbClr>
                    </a:gs>
                    <a:gs pos="100000">
                      <a:srgbClr val="9CC769">
                        <a:alpha val="100000"/>
                      </a:srgbClr>
                    </a:gs>
                  </a:gsLst>
                  <a:lin ang="5400000"/>
                </a:gradFill>
                <a:latin typeface="Verdana Bold"/>
                <a:ea typeface="Verdana Bold"/>
                <a:cs typeface="Verdana Bold"/>
                <a:sym typeface="Verdana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63840" y="8865870"/>
            <a:ext cx="5189220" cy="46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www.themegallery.com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574</Words>
  <Application>Microsoft Office PowerPoint</Application>
  <PresentationFormat>Custom</PresentationFormat>
  <Paragraphs>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 Bold</vt:lpstr>
      <vt:lpstr>Tahoma Bold</vt:lpstr>
      <vt:lpstr>Montserrat Bold</vt:lpstr>
      <vt:lpstr>Verdana Bold</vt:lpstr>
      <vt:lpstr>Roboto Bold</vt:lpstr>
      <vt:lpstr>Roboto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BaoCao_Tuan4_CK.pptx</dc:title>
  <cp:lastModifiedBy>thinh thinh</cp:lastModifiedBy>
  <cp:revision>4</cp:revision>
  <dcterms:created xsi:type="dcterms:W3CDTF">2006-08-16T00:00:00Z</dcterms:created>
  <dcterms:modified xsi:type="dcterms:W3CDTF">2026-09-14T04:16:57Z</dcterms:modified>
  <dc:identifier>DAHVDzUlzMA</dc:identifier>
</cp:coreProperties>
</file>