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Arial Bold" panose="020B0704020202020204" pitchFamily="34" charset="0"/>
      <p:regular r:id="rId10"/>
      <p:bold r:id="rId11"/>
    </p:embeddedFont>
    <p:embeddedFont>
      <p:font typeface="Calibri (MS)" panose="020B0604020202020204" charset="0"/>
      <p:regular r:id="rId12"/>
    </p:embeddedFont>
    <p:embeddedFont>
      <p:font typeface="Calibri (MS) Bold" panose="020B0604020202020204" charset="0"/>
      <p:regular r:id="rId13"/>
    </p:embeddedFont>
    <p:embeddedFont>
      <p:font typeface="Calibri (MS) Italics" panose="020B0604020202020204" charset="0"/>
      <p:regular r:id="rId14"/>
    </p:embeddedFont>
    <p:embeddedFont>
      <p:font typeface="Tahoma Bold" panose="020B0804030504040204" pitchFamily="34" charset="0"/>
      <p:regular r:id="rId15"/>
      <p:bold r:id="rId16"/>
    </p:embeddedFont>
    <p:embeddedFont>
      <p:font typeface="Verdana Bold" panose="020B0804030504040204" pitchFamily="34" charset="0"/>
      <p:regular r:id="rId17"/>
      <p:bold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802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21.09.2026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71600" y="1028700"/>
            <a:ext cx="16916400" cy="176841"/>
            <a:chOff x="0" y="0"/>
            <a:chExt cx="22555200" cy="2357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555200" cy="235839"/>
            </a:xfrm>
            <a:custGeom>
              <a:avLst/>
              <a:gdLst/>
              <a:ahLst/>
              <a:cxnLst/>
              <a:rect l="l" t="t" r="r" b="b"/>
              <a:pathLst>
                <a:path w="22555200" h="235839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1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grpSp>
        <p:nvGrpSpPr>
          <p:cNvPr id="5" name="Group 5"/>
          <p:cNvGrpSpPr/>
          <p:nvPr/>
        </p:nvGrpSpPr>
        <p:grpSpPr>
          <a:xfrm>
            <a:off x="1371600" y="1242384"/>
            <a:ext cx="16916400" cy="176841"/>
            <a:chOff x="0" y="0"/>
            <a:chExt cx="22555200" cy="23578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555200" cy="235839"/>
            </a:xfrm>
            <a:custGeom>
              <a:avLst/>
              <a:gdLst/>
              <a:ahLst/>
              <a:cxnLst/>
              <a:rect l="l" t="t" r="r" b="b"/>
              <a:pathLst>
                <a:path w="22555200" h="235839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1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sp>
        <p:nvSpPr>
          <p:cNvPr id="7" name="Freeform 7"/>
          <p:cNvSpPr/>
          <p:nvPr/>
        </p:nvSpPr>
        <p:spPr>
          <a:xfrm>
            <a:off x="720728" y="685800"/>
            <a:ext cx="1066800" cy="914400"/>
          </a:xfrm>
          <a:custGeom>
            <a:avLst/>
            <a:gdLst/>
            <a:ahLst/>
            <a:cxnLst/>
            <a:rect l="l" t="t" r="r" b="b"/>
            <a:pathLst>
              <a:path w="1066800" h="914400">
                <a:moveTo>
                  <a:pt x="0" y="0"/>
                </a:moveTo>
                <a:lnTo>
                  <a:pt x="1066800" y="0"/>
                </a:lnTo>
                <a:lnTo>
                  <a:pt x="10668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625840" y="9734245"/>
            <a:ext cx="8122920" cy="37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HCMC University of Technology and Education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800600" y="3214668"/>
            <a:ext cx="12915900" cy="2628900"/>
            <a:chOff x="0" y="0"/>
            <a:chExt cx="17221200" cy="3505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221200" cy="3505198"/>
            </a:xfrm>
            <a:custGeom>
              <a:avLst/>
              <a:gdLst/>
              <a:ahLst/>
              <a:cxnLst/>
              <a:rect l="l" t="t" r="r" b="b"/>
              <a:pathLst>
                <a:path w="17221200" h="3505198">
                  <a:moveTo>
                    <a:pt x="0" y="0"/>
                  </a:moveTo>
                  <a:lnTo>
                    <a:pt x="17221200" y="0"/>
                  </a:lnTo>
                  <a:lnTo>
                    <a:pt x="17221200" y="3505198"/>
                  </a:lnTo>
                  <a:lnTo>
                    <a:pt x="0" y="350519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45730" b="-45730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17221200" cy="35337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7200"/>
                </a:lnSpc>
              </a:pPr>
              <a:r>
                <a:rPr lang="en-US" sz="6000" b="1" dirty="0">
                  <a:solidFill>
                    <a:srgbClr val="FF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Môn: </a:t>
              </a:r>
              <a:r>
                <a:rPr lang="en-US" sz="6000" b="1" dirty="0" err="1">
                  <a:solidFill>
                    <a:srgbClr val="FF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Phát</a:t>
              </a:r>
              <a:r>
                <a:rPr lang="en-US" sz="6000" b="1" dirty="0">
                  <a:solidFill>
                    <a:srgbClr val="FF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</a:t>
              </a:r>
              <a:r>
                <a:rPr lang="en-US" sz="6000" b="1" dirty="0" err="1">
                  <a:solidFill>
                    <a:srgbClr val="FF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triển</a:t>
              </a:r>
              <a:r>
                <a:rPr lang="en-US" sz="6000" b="1" dirty="0">
                  <a:solidFill>
                    <a:srgbClr val="FF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</a:t>
              </a:r>
              <a:r>
                <a:rPr lang="en-US" sz="6000" b="1" dirty="0" err="1">
                  <a:solidFill>
                    <a:srgbClr val="FF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ứng</a:t>
              </a:r>
              <a:r>
                <a:rPr lang="en-US" sz="6000" b="1" dirty="0">
                  <a:solidFill>
                    <a:srgbClr val="FF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</a:t>
              </a:r>
              <a:r>
                <a:rPr lang="en-US" sz="6000" b="1" dirty="0" err="1">
                  <a:solidFill>
                    <a:srgbClr val="FF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dụng</a:t>
              </a:r>
              <a:r>
                <a:rPr lang="en-US" sz="6000" b="1" dirty="0">
                  <a:solidFill>
                    <a:srgbClr val="FF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di </a:t>
              </a:r>
              <a:r>
                <a:rPr lang="en-US" sz="6000" b="1" dirty="0" err="1">
                  <a:solidFill>
                    <a:srgbClr val="FF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động</a:t>
              </a:r>
              <a:endParaRPr lang="en-US" sz="6000" b="1" dirty="0">
                <a:solidFill>
                  <a:srgbClr val="FF0000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  <a:p>
              <a:pPr algn="r">
                <a:lnSpc>
                  <a:spcPts val="7200"/>
                </a:lnSpc>
              </a:pPr>
              <a:r>
                <a:rPr lang="en-US" sz="6000" b="1" dirty="0">
                  <a:solidFill>
                    <a:srgbClr val="FF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(</a:t>
              </a:r>
              <a:r>
                <a:rPr lang="en-US" sz="6000" b="1" dirty="0" err="1">
                  <a:solidFill>
                    <a:srgbClr val="FF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Tuần</a:t>
              </a:r>
              <a:r>
                <a:rPr lang="en-US" sz="6000" b="1">
                  <a:solidFill>
                    <a:srgbClr val="FF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6-Project </a:t>
              </a:r>
              <a:r>
                <a:rPr lang="en-US" sz="6000" b="1" dirty="0" err="1">
                  <a:solidFill>
                    <a:srgbClr val="FF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cuối</a:t>
              </a:r>
              <a:r>
                <a:rPr lang="en-US" sz="6000" b="1" dirty="0">
                  <a:solidFill>
                    <a:srgbClr val="FF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</a:t>
              </a:r>
              <a:r>
                <a:rPr lang="en-US" sz="6000" b="1" dirty="0" err="1">
                  <a:solidFill>
                    <a:srgbClr val="FF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kì</a:t>
              </a:r>
              <a:r>
                <a:rPr lang="en-US" sz="6000" b="1" dirty="0">
                  <a:solidFill>
                    <a:srgbClr val="FF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)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370906" y="5670747"/>
            <a:ext cx="4715580" cy="816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400"/>
              </a:lnSpc>
            </a:pPr>
            <a:r>
              <a:rPr lang="en-US" sz="3000" b="1">
                <a:solidFill>
                  <a:srgbClr val="D9520F"/>
                </a:solidFill>
                <a:latin typeface="Tahoma Bold"/>
                <a:ea typeface="Tahoma Bold"/>
                <a:cs typeface="Tahoma Bold"/>
                <a:sym typeface="Tahoma Bold"/>
              </a:rPr>
              <a:t>Guide: Huỳnh Hoàng Hà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0" y="0"/>
            <a:ext cx="18288000" cy="2628900"/>
            <a:chOff x="0" y="0"/>
            <a:chExt cx="24384000" cy="3505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4384000" cy="3505200"/>
            </a:xfrm>
            <a:custGeom>
              <a:avLst/>
              <a:gdLst/>
              <a:ahLst/>
              <a:cxnLst/>
              <a:rect l="l" t="t" r="r" b="b"/>
              <a:pathLst>
                <a:path w="24384000" h="3505200">
                  <a:moveTo>
                    <a:pt x="0" y="0"/>
                  </a:moveTo>
                  <a:lnTo>
                    <a:pt x="24384000" y="0"/>
                  </a:lnTo>
                  <a:lnTo>
                    <a:pt x="24384000" y="3505200"/>
                  </a:lnTo>
                  <a:lnTo>
                    <a:pt x="0" y="350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5193" b="-5194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71600" y="1028700"/>
            <a:ext cx="16916400" cy="176841"/>
            <a:chOff x="0" y="0"/>
            <a:chExt cx="22555200" cy="2357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555200" cy="235839"/>
            </a:xfrm>
            <a:custGeom>
              <a:avLst/>
              <a:gdLst/>
              <a:ahLst/>
              <a:cxnLst/>
              <a:rect l="l" t="t" r="r" b="b"/>
              <a:pathLst>
                <a:path w="22555200" h="235839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1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grpSp>
        <p:nvGrpSpPr>
          <p:cNvPr id="5" name="Group 5"/>
          <p:cNvGrpSpPr/>
          <p:nvPr/>
        </p:nvGrpSpPr>
        <p:grpSpPr>
          <a:xfrm>
            <a:off x="1371600" y="1242384"/>
            <a:ext cx="16916400" cy="176841"/>
            <a:chOff x="0" y="0"/>
            <a:chExt cx="22555200" cy="23578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555200" cy="235839"/>
            </a:xfrm>
            <a:custGeom>
              <a:avLst/>
              <a:gdLst/>
              <a:ahLst/>
              <a:cxnLst/>
              <a:rect l="l" t="t" r="r" b="b"/>
              <a:pathLst>
                <a:path w="22555200" h="235839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1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sp>
        <p:nvSpPr>
          <p:cNvPr id="7" name="Freeform 7"/>
          <p:cNvSpPr/>
          <p:nvPr/>
        </p:nvSpPr>
        <p:spPr>
          <a:xfrm>
            <a:off x="720728" y="685800"/>
            <a:ext cx="1066800" cy="914400"/>
          </a:xfrm>
          <a:custGeom>
            <a:avLst/>
            <a:gdLst/>
            <a:ahLst/>
            <a:cxnLst/>
            <a:rect l="l" t="t" r="r" b="b"/>
            <a:pathLst>
              <a:path w="1066800" h="914400">
                <a:moveTo>
                  <a:pt x="0" y="0"/>
                </a:moveTo>
                <a:lnTo>
                  <a:pt x="1066800" y="0"/>
                </a:lnTo>
                <a:lnTo>
                  <a:pt x="10668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828800" y="685800"/>
            <a:ext cx="15087600" cy="868673"/>
            <a:chOff x="0" y="0"/>
            <a:chExt cx="20116800" cy="115823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116800" cy="1158231"/>
            </a:xfrm>
            <a:custGeom>
              <a:avLst/>
              <a:gdLst/>
              <a:ahLst/>
              <a:cxnLst/>
              <a:rect l="l" t="t" r="r" b="b"/>
              <a:pathLst>
                <a:path w="20116800" h="1158231">
                  <a:moveTo>
                    <a:pt x="0" y="0"/>
                  </a:moveTo>
                  <a:lnTo>
                    <a:pt x="20116800" y="0"/>
                  </a:lnTo>
                  <a:lnTo>
                    <a:pt x="20116800" y="1158231"/>
                  </a:lnTo>
                  <a:lnTo>
                    <a:pt x="0" y="115823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89769" b="-287084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20116800" cy="11772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b="1">
                  <a:solidFill>
                    <a:srgbClr val="4B546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1. Kiến trúc tổng thể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8625840" y="9734245"/>
            <a:ext cx="8122920" cy="37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HCMC University of Technology and Education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4381976" y="2050256"/>
            <a:ext cx="4403408" cy="1180148"/>
            <a:chOff x="0" y="0"/>
            <a:chExt cx="5871210" cy="157353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871210" cy="1573530"/>
            </a:xfrm>
            <a:custGeom>
              <a:avLst/>
              <a:gdLst/>
              <a:ahLst/>
              <a:cxnLst/>
              <a:rect l="l" t="t" r="r" b="b"/>
              <a:pathLst>
                <a:path w="5871210" h="1573530">
                  <a:moveTo>
                    <a:pt x="0" y="222123"/>
                  </a:moveTo>
                  <a:cubicBezTo>
                    <a:pt x="0" y="99441"/>
                    <a:pt x="99441" y="0"/>
                    <a:pt x="222123" y="0"/>
                  </a:cubicBezTo>
                  <a:lnTo>
                    <a:pt x="5649087" y="0"/>
                  </a:lnTo>
                  <a:cubicBezTo>
                    <a:pt x="5771769" y="0"/>
                    <a:pt x="5871210" y="99441"/>
                    <a:pt x="5871210" y="222123"/>
                  </a:cubicBezTo>
                  <a:lnTo>
                    <a:pt x="5871210" y="1351407"/>
                  </a:lnTo>
                  <a:cubicBezTo>
                    <a:pt x="5871210" y="1474089"/>
                    <a:pt x="5771769" y="1573530"/>
                    <a:pt x="5649087" y="1573530"/>
                  </a:cubicBezTo>
                  <a:lnTo>
                    <a:pt x="222123" y="1573530"/>
                  </a:lnTo>
                  <a:cubicBezTo>
                    <a:pt x="99441" y="1573530"/>
                    <a:pt x="0" y="1474089"/>
                    <a:pt x="0" y="1351407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CE4EE"/>
              </a:solidFill>
              <a:prstDash val="solid"/>
              <a:miter/>
            </a:ln>
          </p:spPr>
        </p:sp>
      </p:grpSp>
      <p:sp>
        <p:nvSpPr>
          <p:cNvPr id="14" name="TextBox 14"/>
          <p:cNvSpPr txBox="1"/>
          <p:nvPr/>
        </p:nvSpPr>
        <p:spPr>
          <a:xfrm>
            <a:off x="4389120" y="2096262"/>
            <a:ext cx="4389120" cy="605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0F2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Admin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389120" y="2626995"/>
            <a:ext cx="4389120" cy="459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>
                <a:solidFill>
                  <a:srgbClr val="5B6B7F"/>
                </a:solidFill>
                <a:latin typeface="Calibri (MS)"/>
                <a:ea typeface="Calibri (MS)"/>
                <a:cs typeface="Calibri (MS)"/>
                <a:sym typeface="Calibri (MS)"/>
              </a:rPr>
              <a:t>Quản lý hệ thống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456896" y="2050256"/>
            <a:ext cx="4403408" cy="1180148"/>
            <a:chOff x="0" y="0"/>
            <a:chExt cx="5871210" cy="157353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871210" cy="1573530"/>
            </a:xfrm>
            <a:custGeom>
              <a:avLst/>
              <a:gdLst/>
              <a:ahLst/>
              <a:cxnLst/>
              <a:rect l="l" t="t" r="r" b="b"/>
              <a:pathLst>
                <a:path w="5871210" h="1573530">
                  <a:moveTo>
                    <a:pt x="0" y="222123"/>
                  </a:moveTo>
                  <a:cubicBezTo>
                    <a:pt x="0" y="99441"/>
                    <a:pt x="99441" y="0"/>
                    <a:pt x="222123" y="0"/>
                  </a:cubicBezTo>
                  <a:lnTo>
                    <a:pt x="5649087" y="0"/>
                  </a:lnTo>
                  <a:cubicBezTo>
                    <a:pt x="5771769" y="0"/>
                    <a:pt x="5871210" y="99441"/>
                    <a:pt x="5871210" y="222123"/>
                  </a:cubicBezTo>
                  <a:lnTo>
                    <a:pt x="5871210" y="1351407"/>
                  </a:lnTo>
                  <a:cubicBezTo>
                    <a:pt x="5871210" y="1474089"/>
                    <a:pt x="5771769" y="1573530"/>
                    <a:pt x="5649087" y="1573530"/>
                  </a:cubicBezTo>
                  <a:lnTo>
                    <a:pt x="222123" y="1573530"/>
                  </a:lnTo>
                  <a:cubicBezTo>
                    <a:pt x="99441" y="1573530"/>
                    <a:pt x="0" y="1474089"/>
                    <a:pt x="0" y="1351407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CE4EE"/>
              </a:solidFill>
              <a:prstDash val="solid"/>
              <a:miter/>
            </a:ln>
          </p:spPr>
        </p:sp>
      </p:grpSp>
      <p:sp>
        <p:nvSpPr>
          <p:cNvPr id="18" name="TextBox 18"/>
          <p:cNvSpPr txBox="1"/>
          <p:nvPr/>
        </p:nvSpPr>
        <p:spPr>
          <a:xfrm>
            <a:off x="9464040" y="2096262"/>
            <a:ext cx="4389120" cy="605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0F2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Nhân viên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64040" y="2626995"/>
            <a:ext cx="4389120" cy="459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>
                <a:solidFill>
                  <a:srgbClr val="5B6B7F"/>
                </a:solidFill>
                <a:latin typeface="Calibri (MS)"/>
                <a:ea typeface="Calibri (MS)"/>
                <a:cs typeface="Calibri (MS)"/>
                <a:sym typeface="Calibri (MS)"/>
              </a:rPr>
              <a:t>Xem thông tin, chấm công</a:t>
            </a:r>
          </a:p>
        </p:txBody>
      </p:sp>
      <p:sp>
        <p:nvSpPr>
          <p:cNvPr id="20" name="AutoShape 20"/>
          <p:cNvSpPr/>
          <p:nvPr/>
        </p:nvSpPr>
        <p:spPr>
          <a:xfrm rot="5254619">
            <a:off x="6189469" y="3659505"/>
            <a:ext cx="788422" cy="0"/>
          </a:xfrm>
          <a:prstGeom prst="line">
            <a:avLst/>
          </a:prstGeom>
          <a:ln w="19050" cap="rnd">
            <a:solidFill>
              <a:srgbClr val="5B6B7F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1" name="AutoShape 21"/>
          <p:cNvSpPr/>
          <p:nvPr/>
        </p:nvSpPr>
        <p:spPr>
          <a:xfrm rot="5254619">
            <a:off x="11264389" y="3659505"/>
            <a:ext cx="788422" cy="0"/>
          </a:xfrm>
          <a:prstGeom prst="line">
            <a:avLst/>
          </a:prstGeom>
          <a:ln w="19050" cap="rnd">
            <a:solidFill>
              <a:srgbClr val="5B6B7F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22" name="Group 22"/>
          <p:cNvGrpSpPr/>
          <p:nvPr/>
        </p:nvGrpSpPr>
        <p:grpSpPr>
          <a:xfrm>
            <a:off x="4379595" y="4105275"/>
            <a:ext cx="9483090" cy="1322070"/>
            <a:chOff x="0" y="0"/>
            <a:chExt cx="12644120" cy="176276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2644120" cy="1762760"/>
            </a:xfrm>
            <a:custGeom>
              <a:avLst/>
              <a:gdLst/>
              <a:ahLst/>
              <a:cxnLst/>
              <a:rect l="l" t="t" r="r" b="b"/>
              <a:pathLst>
                <a:path w="12644120" h="1762760">
                  <a:moveTo>
                    <a:pt x="0" y="222631"/>
                  </a:moveTo>
                  <a:cubicBezTo>
                    <a:pt x="0" y="99695"/>
                    <a:pt x="99695" y="0"/>
                    <a:pt x="222631" y="0"/>
                  </a:cubicBezTo>
                  <a:lnTo>
                    <a:pt x="12421489" y="0"/>
                  </a:lnTo>
                  <a:cubicBezTo>
                    <a:pt x="12544425" y="0"/>
                    <a:pt x="12644120" y="99695"/>
                    <a:pt x="12644120" y="222631"/>
                  </a:cubicBezTo>
                  <a:lnTo>
                    <a:pt x="12644120" y="1540129"/>
                  </a:lnTo>
                  <a:cubicBezTo>
                    <a:pt x="12644120" y="1663065"/>
                    <a:pt x="12544425" y="1762760"/>
                    <a:pt x="12421489" y="1762760"/>
                  </a:cubicBezTo>
                  <a:lnTo>
                    <a:pt x="222631" y="1762760"/>
                  </a:lnTo>
                  <a:cubicBezTo>
                    <a:pt x="99695" y="1762760"/>
                    <a:pt x="0" y="1663065"/>
                    <a:pt x="0" y="1540129"/>
                  </a:cubicBezTo>
                  <a:close/>
                </a:path>
              </a:pathLst>
            </a:custGeom>
            <a:solidFill>
              <a:srgbClr val="0F2A4A"/>
            </a:solidFill>
            <a:ln w="19050" cap="sq">
              <a:solidFill>
                <a:srgbClr val="0F2A4A"/>
              </a:solidFill>
              <a:prstDash val="solid"/>
              <a:miter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4389120" y="4114800"/>
            <a:ext cx="9464040" cy="1303020"/>
            <a:chOff x="0" y="0"/>
            <a:chExt cx="12618720" cy="173736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618720" cy="1737360"/>
            </a:xfrm>
            <a:custGeom>
              <a:avLst/>
              <a:gdLst/>
              <a:ahLst/>
              <a:cxnLst/>
              <a:rect l="l" t="t" r="r" b="b"/>
              <a:pathLst>
                <a:path w="12618720" h="1737360">
                  <a:moveTo>
                    <a:pt x="0" y="0"/>
                  </a:moveTo>
                  <a:lnTo>
                    <a:pt x="12618720" y="0"/>
                  </a:lnTo>
                  <a:lnTo>
                    <a:pt x="1261872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1522" b="-91522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66675"/>
              <a:ext cx="12618720" cy="18040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Ứng dụng Android · React Native (TypeScript)</a:t>
              </a:r>
            </a:p>
          </p:txBody>
        </p:sp>
      </p:grpSp>
      <p:sp>
        <p:nvSpPr>
          <p:cNvPr id="27" name="AutoShape 27"/>
          <p:cNvSpPr/>
          <p:nvPr/>
        </p:nvSpPr>
        <p:spPr>
          <a:xfrm rot="5304479">
            <a:off x="6258173" y="6059805"/>
            <a:ext cx="1199664" cy="0"/>
          </a:xfrm>
          <a:prstGeom prst="line">
            <a:avLst/>
          </a:prstGeom>
          <a:ln w="19050" cap="rnd">
            <a:solidFill>
              <a:srgbClr val="5B6B7F"/>
            </a:solidFill>
            <a:prstDash val="solid"/>
            <a:headEnd type="triangle" w="lg" len="med"/>
            <a:tailEnd type="triangle" w="lg" len="med"/>
          </a:ln>
        </p:spPr>
      </p:sp>
      <p:sp>
        <p:nvSpPr>
          <p:cNvPr id="28" name="TextBox 28"/>
          <p:cNvSpPr txBox="1"/>
          <p:nvPr/>
        </p:nvSpPr>
        <p:spPr>
          <a:xfrm>
            <a:off x="7063740" y="5832348"/>
            <a:ext cx="2057400" cy="449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1">
                <a:solidFill>
                  <a:srgbClr val="5B6B7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realtime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220152" y="6706553"/>
            <a:ext cx="7435215" cy="1605915"/>
            <a:chOff x="0" y="0"/>
            <a:chExt cx="9913620" cy="214122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9913620" cy="2141220"/>
            </a:xfrm>
            <a:custGeom>
              <a:avLst/>
              <a:gdLst/>
              <a:ahLst/>
              <a:cxnLst/>
              <a:rect l="l" t="t" r="r" b="b"/>
              <a:pathLst>
                <a:path w="9913620" h="2141220">
                  <a:moveTo>
                    <a:pt x="0" y="223393"/>
                  </a:moveTo>
                  <a:cubicBezTo>
                    <a:pt x="0" y="100076"/>
                    <a:pt x="100076" y="0"/>
                    <a:pt x="223393" y="0"/>
                  </a:cubicBezTo>
                  <a:lnTo>
                    <a:pt x="9690227" y="0"/>
                  </a:lnTo>
                  <a:cubicBezTo>
                    <a:pt x="9813672" y="0"/>
                    <a:pt x="9913620" y="100076"/>
                    <a:pt x="9913620" y="223393"/>
                  </a:cubicBezTo>
                  <a:lnTo>
                    <a:pt x="9913620" y="1917827"/>
                  </a:lnTo>
                  <a:cubicBezTo>
                    <a:pt x="9913620" y="2041271"/>
                    <a:pt x="9813544" y="2141220"/>
                    <a:pt x="9690227" y="2141220"/>
                  </a:cubicBezTo>
                  <a:lnTo>
                    <a:pt x="223393" y="2141220"/>
                  </a:lnTo>
                  <a:cubicBezTo>
                    <a:pt x="100076" y="2141220"/>
                    <a:pt x="0" y="2041144"/>
                    <a:pt x="0" y="1917827"/>
                  </a:cubicBezTo>
                  <a:close/>
                </a:path>
              </a:pathLst>
            </a:custGeom>
            <a:solidFill>
              <a:srgbClr val="FFF4DB"/>
            </a:solidFill>
            <a:ln w="28575" cap="sq">
              <a:solidFill>
                <a:srgbClr val="F59E0B"/>
              </a:solidFill>
              <a:prstDash val="solid"/>
              <a:miter/>
            </a:ln>
          </p:spPr>
        </p:sp>
      </p:grpSp>
      <p:sp>
        <p:nvSpPr>
          <p:cNvPr id="31" name="TextBox 31"/>
          <p:cNvSpPr txBox="1"/>
          <p:nvPr/>
        </p:nvSpPr>
        <p:spPr>
          <a:xfrm>
            <a:off x="1234440" y="6800850"/>
            <a:ext cx="7406640" cy="605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9"/>
              </a:lnSpc>
            </a:pPr>
            <a:r>
              <a:rPr lang="en-US" sz="2850" b="1">
                <a:solidFill>
                  <a:srgbClr val="0F2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Firebase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34440" y="7427595"/>
            <a:ext cx="7406640" cy="596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Authentication · Realtime Database · Storage · FCM</a:t>
            </a:r>
          </a:p>
        </p:txBody>
      </p:sp>
      <p:sp>
        <p:nvSpPr>
          <p:cNvPr id="33" name="AutoShape 33"/>
          <p:cNvSpPr/>
          <p:nvPr/>
        </p:nvSpPr>
        <p:spPr>
          <a:xfrm rot="74280">
            <a:off x="8624230" y="7493127"/>
            <a:ext cx="1542459" cy="0"/>
          </a:xfrm>
          <a:prstGeom prst="line">
            <a:avLst/>
          </a:prstGeom>
          <a:ln w="19050" cap="rnd">
            <a:solidFill>
              <a:srgbClr val="5B6B7F"/>
            </a:solidFill>
            <a:prstDash val="solid"/>
            <a:headEnd type="triangle" w="lg" len="med"/>
            <a:tailEnd type="triangle" w="lg" len="med"/>
          </a:ln>
        </p:spPr>
      </p:sp>
      <p:sp>
        <p:nvSpPr>
          <p:cNvPr id="34" name="TextBox 34"/>
          <p:cNvSpPr txBox="1"/>
          <p:nvPr/>
        </p:nvSpPr>
        <p:spPr>
          <a:xfrm>
            <a:off x="8641080" y="6998208"/>
            <a:ext cx="1508760" cy="449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i="1">
                <a:solidFill>
                  <a:srgbClr val="5B6B7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HTTPS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10135552" y="6706553"/>
            <a:ext cx="6886575" cy="1605915"/>
            <a:chOff x="0" y="0"/>
            <a:chExt cx="9182100" cy="214122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9182100" cy="2141220"/>
            </a:xfrm>
            <a:custGeom>
              <a:avLst/>
              <a:gdLst/>
              <a:ahLst/>
              <a:cxnLst/>
              <a:rect l="l" t="t" r="r" b="b"/>
              <a:pathLst>
                <a:path w="9182100" h="2141220">
                  <a:moveTo>
                    <a:pt x="0" y="223393"/>
                  </a:moveTo>
                  <a:cubicBezTo>
                    <a:pt x="0" y="100076"/>
                    <a:pt x="100076" y="0"/>
                    <a:pt x="223393" y="0"/>
                  </a:cubicBezTo>
                  <a:lnTo>
                    <a:pt x="8958707" y="0"/>
                  </a:lnTo>
                  <a:cubicBezTo>
                    <a:pt x="9082024" y="0"/>
                    <a:pt x="9182100" y="100076"/>
                    <a:pt x="9182100" y="223393"/>
                  </a:cubicBezTo>
                  <a:lnTo>
                    <a:pt x="9182100" y="1917827"/>
                  </a:lnTo>
                  <a:cubicBezTo>
                    <a:pt x="9182100" y="2041271"/>
                    <a:pt x="9082024" y="2141220"/>
                    <a:pt x="8958707" y="2141220"/>
                  </a:cubicBezTo>
                  <a:lnTo>
                    <a:pt x="223393" y="2141220"/>
                  </a:lnTo>
                  <a:cubicBezTo>
                    <a:pt x="100076" y="2141220"/>
                    <a:pt x="0" y="2041144"/>
                    <a:pt x="0" y="1917827"/>
                  </a:cubicBezTo>
                  <a:close/>
                </a:path>
              </a:pathLst>
            </a:custGeom>
            <a:solidFill>
              <a:srgbClr val="DDF3F2"/>
            </a:solidFill>
            <a:ln w="28575" cap="sq">
              <a:solidFill>
                <a:srgbClr val="0E9F9A"/>
              </a:solidFill>
              <a:prstDash val="solid"/>
              <a:miter/>
            </a:ln>
          </p:spPr>
        </p:sp>
      </p:grpSp>
      <p:sp>
        <p:nvSpPr>
          <p:cNvPr id="37" name="TextBox 37"/>
          <p:cNvSpPr txBox="1"/>
          <p:nvPr/>
        </p:nvSpPr>
        <p:spPr>
          <a:xfrm>
            <a:off x="10149840" y="6800850"/>
            <a:ext cx="6858000" cy="605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9"/>
              </a:lnSpc>
            </a:pPr>
            <a:r>
              <a:rPr lang="en-US" sz="2850" b="1">
                <a:solidFill>
                  <a:srgbClr val="0F2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ESP32 + cảm biến AS608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149840" y="7427595"/>
            <a:ext cx="6858000" cy="596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Trạm điểm danh: đăng ký và chấm công vân tay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34440" y="8808720"/>
            <a:ext cx="15773400" cy="586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i="1">
                <a:solidFill>
                  <a:srgbClr val="5B6B7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ESP32 và ứng dụng không nối trực tiếp với nhau: mọi trao đổi đều đi qua Firebase.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71600" y="1028700"/>
            <a:ext cx="16916400" cy="176841"/>
            <a:chOff x="0" y="0"/>
            <a:chExt cx="22555200" cy="2357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555200" cy="235839"/>
            </a:xfrm>
            <a:custGeom>
              <a:avLst/>
              <a:gdLst/>
              <a:ahLst/>
              <a:cxnLst/>
              <a:rect l="l" t="t" r="r" b="b"/>
              <a:pathLst>
                <a:path w="22555200" h="235839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1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grpSp>
        <p:nvGrpSpPr>
          <p:cNvPr id="5" name="Group 5"/>
          <p:cNvGrpSpPr/>
          <p:nvPr/>
        </p:nvGrpSpPr>
        <p:grpSpPr>
          <a:xfrm>
            <a:off x="1371600" y="1242384"/>
            <a:ext cx="16916400" cy="176841"/>
            <a:chOff x="0" y="0"/>
            <a:chExt cx="22555200" cy="23578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555200" cy="235839"/>
            </a:xfrm>
            <a:custGeom>
              <a:avLst/>
              <a:gdLst/>
              <a:ahLst/>
              <a:cxnLst/>
              <a:rect l="l" t="t" r="r" b="b"/>
              <a:pathLst>
                <a:path w="22555200" h="235839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1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sp>
        <p:nvSpPr>
          <p:cNvPr id="7" name="Freeform 7"/>
          <p:cNvSpPr/>
          <p:nvPr/>
        </p:nvSpPr>
        <p:spPr>
          <a:xfrm>
            <a:off x="720728" y="685800"/>
            <a:ext cx="1066800" cy="914400"/>
          </a:xfrm>
          <a:custGeom>
            <a:avLst/>
            <a:gdLst/>
            <a:ahLst/>
            <a:cxnLst/>
            <a:rect l="l" t="t" r="r" b="b"/>
            <a:pathLst>
              <a:path w="1066800" h="914400">
                <a:moveTo>
                  <a:pt x="0" y="0"/>
                </a:moveTo>
                <a:lnTo>
                  <a:pt x="1066800" y="0"/>
                </a:lnTo>
                <a:lnTo>
                  <a:pt x="10668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625840" y="9734245"/>
            <a:ext cx="8122920" cy="37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HCMC University of Technology and Education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828800" y="685800"/>
            <a:ext cx="15087600" cy="868673"/>
            <a:chOff x="0" y="0"/>
            <a:chExt cx="20116800" cy="115823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116800" cy="1158231"/>
            </a:xfrm>
            <a:custGeom>
              <a:avLst/>
              <a:gdLst/>
              <a:ahLst/>
              <a:cxnLst/>
              <a:rect l="l" t="t" r="r" b="b"/>
              <a:pathLst>
                <a:path w="20116800" h="1158231">
                  <a:moveTo>
                    <a:pt x="0" y="0"/>
                  </a:moveTo>
                  <a:lnTo>
                    <a:pt x="20116800" y="0"/>
                  </a:lnTo>
                  <a:lnTo>
                    <a:pt x="20116800" y="1158231"/>
                  </a:lnTo>
                  <a:lnTo>
                    <a:pt x="0" y="115823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89769" b="-287084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20116800" cy="11772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b="1">
                  <a:solidFill>
                    <a:srgbClr val="4B546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2. Luồng đăng ký vân tay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13435" y="2226183"/>
            <a:ext cx="704850" cy="704850"/>
            <a:chOff x="0" y="0"/>
            <a:chExt cx="939800" cy="939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39800" cy="939800"/>
            </a:xfrm>
            <a:custGeom>
              <a:avLst/>
              <a:gdLst/>
              <a:ahLst/>
              <a:cxnLst/>
              <a:rect l="l" t="t" r="r" b="b"/>
              <a:pathLst>
                <a:path w="939800" h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0E9F9A"/>
            </a:solidFill>
            <a:ln w="19050" cap="sq">
              <a:solidFill>
                <a:srgbClr val="0E9F9A"/>
              </a:soli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822960" y="2235708"/>
            <a:ext cx="685800" cy="685800"/>
            <a:chOff x="0" y="0"/>
            <a:chExt cx="914400" cy="914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914400" cy="952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851660" y="2125980"/>
            <a:ext cx="9189720" cy="905256"/>
            <a:chOff x="0" y="0"/>
            <a:chExt cx="12252960" cy="120700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252960" cy="1207008"/>
            </a:xfrm>
            <a:custGeom>
              <a:avLst/>
              <a:gdLst/>
              <a:ahLst/>
              <a:cxnLst/>
              <a:rect l="l" t="t" r="r" b="b"/>
              <a:pathLst>
                <a:path w="12252960" h="1207008">
                  <a:moveTo>
                    <a:pt x="0" y="0"/>
                  </a:moveTo>
                  <a:lnTo>
                    <a:pt x="12252960" y="0"/>
                  </a:lnTo>
                  <a:lnTo>
                    <a:pt x="12252960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7802" b="-147802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12252960" cy="12546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Admin chọn nhân viên trong ứng dụng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13435" y="3296031"/>
            <a:ext cx="704850" cy="704850"/>
            <a:chOff x="0" y="0"/>
            <a:chExt cx="939800" cy="939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39800" cy="939800"/>
            </a:xfrm>
            <a:custGeom>
              <a:avLst/>
              <a:gdLst/>
              <a:ahLst/>
              <a:cxnLst/>
              <a:rect l="l" t="t" r="r" b="b"/>
              <a:pathLst>
                <a:path w="939800" h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0E9F9A"/>
            </a:solidFill>
            <a:ln w="19050" cap="sq">
              <a:solidFill>
                <a:srgbClr val="0E9F9A"/>
              </a:solidFill>
              <a:prstDash val="solid"/>
              <a:miter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822960" y="3305556"/>
            <a:ext cx="685800" cy="685800"/>
            <a:chOff x="0" y="0"/>
            <a:chExt cx="914400" cy="9144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914400" cy="952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851660" y="3195828"/>
            <a:ext cx="9189720" cy="905256"/>
            <a:chOff x="0" y="0"/>
            <a:chExt cx="12252960" cy="1207008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2252960" cy="1207008"/>
            </a:xfrm>
            <a:custGeom>
              <a:avLst/>
              <a:gdLst/>
              <a:ahLst/>
              <a:cxnLst/>
              <a:rect l="l" t="t" r="r" b="b"/>
              <a:pathLst>
                <a:path w="12252960" h="1207008">
                  <a:moveTo>
                    <a:pt x="0" y="0"/>
                  </a:moveTo>
                  <a:lnTo>
                    <a:pt x="12252960" y="0"/>
                  </a:lnTo>
                  <a:lnTo>
                    <a:pt x="12252960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7802" b="-147802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47625"/>
              <a:ext cx="12252960" cy="12546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App tạo enrollment_request, trạng thái PENDING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13435" y="4365879"/>
            <a:ext cx="704850" cy="704850"/>
            <a:chOff x="0" y="0"/>
            <a:chExt cx="939800" cy="939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939800" cy="939800"/>
            </a:xfrm>
            <a:custGeom>
              <a:avLst/>
              <a:gdLst/>
              <a:ahLst/>
              <a:cxnLst/>
              <a:rect l="l" t="t" r="r" b="b"/>
              <a:pathLst>
                <a:path w="939800" h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0E9F9A"/>
            </a:solidFill>
            <a:ln w="19050" cap="sq">
              <a:solidFill>
                <a:srgbClr val="0E9F9A"/>
              </a:solidFill>
              <a:prstDash val="solid"/>
              <a:miter/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822960" y="4375404"/>
            <a:ext cx="685800" cy="685800"/>
            <a:chOff x="0" y="0"/>
            <a:chExt cx="914400" cy="9144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914400" cy="952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851660" y="4265676"/>
            <a:ext cx="9189720" cy="905256"/>
            <a:chOff x="0" y="0"/>
            <a:chExt cx="12252960" cy="1207008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2252960" cy="1207008"/>
            </a:xfrm>
            <a:custGeom>
              <a:avLst/>
              <a:gdLst/>
              <a:ahLst/>
              <a:cxnLst/>
              <a:rect l="l" t="t" r="r" b="b"/>
              <a:pathLst>
                <a:path w="12252960" h="1207008">
                  <a:moveTo>
                    <a:pt x="0" y="0"/>
                  </a:moveTo>
                  <a:lnTo>
                    <a:pt x="12252960" y="0"/>
                  </a:lnTo>
                  <a:lnTo>
                    <a:pt x="12252960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7802" b="-147802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47625"/>
              <a:ext cx="12252960" cy="12546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ESP32 nhận đúng deviceId, đổi sang PROCESSING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13435" y="5435727"/>
            <a:ext cx="704850" cy="704850"/>
            <a:chOff x="0" y="0"/>
            <a:chExt cx="939800" cy="939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939800" cy="939800"/>
            </a:xfrm>
            <a:custGeom>
              <a:avLst/>
              <a:gdLst/>
              <a:ahLst/>
              <a:cxnLst/>
              <a:rect l="l" t="t" r="r" b="b"/>
              <a:pathLst>
                <a:path w="939800" h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0E9F9A"/>
            </a:solidFill>
            <a:ln w="19050" cap="sq">
              <a:solidFill>
                <a:srgbClr val="0E9F9A"/>
              </a:solidFill>
              <a:prstDash val="solid"/>
              <a:miter/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822960" y="5445252"/>
            <a:ext cx="685800" cy="685800"/>
            <a:chOff x="0" y="0"/>
            <a:chExt cx="914400" cy="9144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914400" cy="952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851660" y="5335524"/>
            <a:ext cx="9189720" cy="905256"/>
            <a:chOff x="0" y="0"/>
            <a:chExt cx="12252960" cy="1207008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2252960" cy="1207008"/>
            </a:xfrm>
            <a:custGeom>
              <a:avLst/>
              <a:gdLst/>
              <a:ahLst/>
              <a:cxnLst/>
              <a:rect l="l" t="t" r="r" b="b"/>
              <a:pathLst>
                <a:path w="12252960" h="1207008">
                  <a:moveTo>
                    <a:pt x="0" y="0"/>
                  </a:moveTo>
                  <a:lnTo>
                    <a:pt x="12252960" y="0"/>
                  </a:lnTo>
                  <a:lnTo>
                    <a:pt x="12252960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7802" b="-147802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47625"/>
              <a:ext cx="12252960" cy="12546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AS608 đăng ký vân tay thật: đặt tay hai lần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13435" y="6505575"/>
            <a:ext cx="704850" cy="704850"/>
            <a:chOff x="0" y="0"/>
            <a:chExt cx="939800" cy="939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939800" cy="939800"/>
            </a:xfrm>
            <a:custGeom>
              <a:avLst/>
              <a:gdLst/>
              <a:ahLst/>
              <a:cxnLst/>
              <a:rect l="l" t="t" r="r" b="b"/>
              <a:pathLst>
                <a:path w="939800" h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0E9F9A"/>
            </a:solidFill>
            <a:ln w="19050" cap="sq">
              <a:solidFill>
                <a:srgbClr val="0E9F9A"/>
              </a:solidFill>
              <a:prstDash val="solid"/>
              <a:miter/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822960" y="6515100"/>
            <a:ext cx="685800" cy="685800"/>
            <a:chOff x="0" y="0"/>
            <a:chExt cx="914400" cy="9144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-38100"/>
              <a:ext cx="914400" cy="952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851660" y="6405372"/>
            <a:ext cx="9189720" cy="905256"/>
            <a:chOff x="0" y="0"/>
            <a:chExt cx="12252960" cy="1207008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2252960" cy="1207008"/>
            </a:xfrm>
            <a:custGeom>
              <a:avLst/>
              <a:gdLst/>
              <a:ahLst/>
              <a:cxnLst/>
              <a:rect l="l" t="t" r="r" b="b"/>
              <a:pathLst>
                <a:path w="12252960" h="1207008">
                  <a:moveTo>
                    <a:pt x="0" y="0"/>
                  </a:moveTo>
                  <a:lnTo>
                    <a:pt x="12252960" y="0"/>
                  </a:lnTo>
                  <a:lnTo>
                    <a:pt x="12252960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7802" b="-147802"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0" y="-47625"/>
              <a:ext cx="12252960" cy="12546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ESP32 ghi SUCCESS + fingerprintId (hoặc FAILED)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813435" y="7575423"/>
            <a:ext cx="704850" cy="704850"/>
            <a:chOff x="0" y="0"/>
            <a:chExt cx="939800" cy="9398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939800" cy="939800"/>
            </a:xfrm>
            <a:custGeom>
              <a:avLst/>
              <a:gdLst/>
              <a:ahLst/>
              <a:cxnLst/>
              <a:rect l="l" t="t" r="r" b="b"/>
              <a:pathLst>
                <a:path w="939800" h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0E9F9A"/>
            </a:solidFill>
            <a:ln w="19050" cap="sq">
              <a:solidFill>
                <a:srgbClr val="0E9F9A"/>
              </a:solidFill>
              <a:prstDash val="solid"/>
              <a:miter/>
            </a:ln>
          </p:spPr>
        </p:sp>
      </p:grpSp>
      <p:grpSp>
        <p:nvGrpSpPr>
          <p:cNvPr id="54" name="Group 54"/>
          <p:cNvGrpSpPr/>
          <p:nvPr/>
        </p:nvGrpSpPr>
        <p:grpSpPr>
          <a:xfrm>
            <a:off x="822960" y="7584948"/>
            <a:ext cx="685800" cy="685800"/>
            <a:chOff x="0" y="0"/>
            <a:chExt cx="914400" cy="91440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-38100"/>
              <a:ext cx="914400" cy="952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851660" y="7475220"/>
            <a:ext cx="9189720" cy="905256"/>
            <a:chOff x="0" y="0"/>
            <a:chExt cx="12252960" cy="1207008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12252960" cy="1207008"/>
            </a:xfrm>
            <a:custGeom>
              <a:avLst/>
              <a:gdLst/>
              <a:ahLst/>
              <a:cxnLst/>
              <a:rect l="l" t="t" r="r" b="b"/>
              <a:pathLst>
                <a:path w="12252960" h="1207008">
                  <a:moveTo>
                    <a:pt x="0" y="0"/>
                  </a:moveTo>
                  <a:lnTo>
                    <a:pt x="12252960" y="0"/>
                  </a:lnTo>
                  <a:lnTo>
                    <a:pt x="12252960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7802" b="-147802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-47625"/>
              <a:ext cx="12252960" cy="12546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App cập nhật employees/{id}/fingerprintId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1377136" y="2050256"/>
            <a:ext cx="6090475" cy="6529388"/>
            <a:chOff x="0" y="0"/>
            <a:chExt cx="8120634" cy="870585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8120634" cy="8705850"/>
            </a:xfrm>
            <a:custGeom>
              <a:avLst/>
              <a:gdLst/>
              <a:ahLst/>
              <a:cxnLst/>
              <a:rect l="l" t="t" r="r" b="b"/>
              <a:pathLst>
                <a:path w="8120634" h="8705850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7900670" y="0"/>
                  </a:lnTo>
                  <a:cubicBezTo>
                    <a:pt x="8022209" y="0"/>
                    <a:pt x="8120634" y="98552"/>
                    <a:pt x="8120634" y="219964"/>
                  </a:cubicBezTo>
                  <a:lnTo>
                    <a:pt x="8120634" y="8485886"/>
                  </a:lnTo>
                  <a:cubicBezTo>
                    <a:pt x="8120634" y="8607425"/>
                    <a:pt x="8022082" y="8705850"/>
                    <a:pt x="7900670" y="8705850"/>
                  </a:cubicBezTo>
                  <a:lnTo>
                    <a:pt x="219964" y="8705850"/>
                  </a:lnTo>
                  <a:cubicBezTo>
                    <a:pt x="98552" y="8705850"/>
                    <a:pt x="0" y="8607298"/>
                    <a:pt x="0" y="8485886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CE4EE"/>
              </a:solidFill>
              <a:prstDash val="solid"/>
              <a:miter/>
            </a:ln>
          </p:spPr>
        </p:sp>
      </p:grpSp>
      <p:sp>
        <p:nvSpPr>
          <p:cNvPr id="62" name="TextBox 62"/>
          <p:cNvSpPr txBox="1"/>
          <p:nvPr/>
        </p:nvSpPr>
        <p:spPr>
          <a:xfrm>
            <a:off x="11795760" y="2205990"/>
            <a:ext cx="5349240" cy="674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0F2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Trạng thái của request</a:t>
            </a:r>
          </a:p>
        </p:txBody>
      </p:sp>
      <p:grpSp>
        <p:nvGrpSpPr>
          <p:cNvPr id="63" name="Group 63"/>
          <p:cNvGrpSpPr/>
          <p:nvPr/>
        </p:nvGrpSpPr>
        <p:grpSpPr>
          <a:xfrm>
            <a:off x="12060555" y="3145155"/>
            <a:ext cx="4682490" cy="704850"/>
            <a:chOff x="0" y="0"/>
            <a:chExt cx="6243320" cy="93980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6243320" cy="939800"/>
            </a:xfrm>
            <a:custGeom>
              <a:avLst/>
              <a:gdLst/>
              <a:ahLst/>
              <a:cxnLst/>
              <a:rect l="l" t="t" r="r" b="b"/>
              <a:pathLst>
                <a:path w="6243320" h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lnTo>
                    <a:pt x="5773420" y="0"/>
                  </a:lnTo>
                  <a:cubicBezTo>
                    <a:pt x="6032881" y="0"/>
                    <a:pt x="6243320" y="210439"/>
                    <a:pt x="6243320" y="469900"/>
                  </a:cubicBezTo>
                  <a:cubicBezTo>
                    <a:pt x="6243320" y="729361"/>
                    <a:pt x="6032881" y="939800"/>
                    <a:pt x="5773420" y="939800"/>
                  </a:cubicBezTo>
                  <a:lnTo>
                    <a:pt x="469900" y="939800"/>
                  </a:ln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F59E0B"/>
            </a:solidFill>
            <a:ln w="1905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id="65" name="Group 65"/>
          <p:cNvGrpSpPr/>
          <p:nvPr/>
        </p:nvGrpSpPr>
        <p:grpSpPr>
          <a:xfrm>
            <a:off x="12070080" y="3154680"/>
            <a:ext cx="4663440" cy="685800"/>
            <a:chOff x="0" y="0"/>
            <a:chExt cx="6217920" cy="91440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6217920" cy="914400"/>
            </a:xfrm>
            <a:custGeom>
              <a:avLst/>
              <a:gdLst/>
              <a:ahLst/>
              <a:cxnLst/>
              <a:rect l="l" t="t" r="r" b="b"/>
              <a:pathLst>
                <a:path w="6217920" h="914400">
                  <a:moveTo>
                    <a:pt x="0" y="0"/>
                  </a:moveTo>
                  <a:lnTo>
                    <a:pt x="6217920" y="0"/>
                  </a:lnTo>
                  <a:lnTo>
                    <a:pt x="6217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2498" b="-82498"/>
              </a:stretch>
            </a:blipFill>
          </p:spPr>
        </p:sp>
        <p:sp>
          <p:nvSpPr>
            <p:cNvPr id="67" name="TextBox 67"/>
            <p:cNvSpPr txBox="1"/>
            <p:nvPr/>
          </p:nvSpPr>
          <p:spPr>
            <a:xfrm>
              <a:off x="0" y="-57150"/>
              <a:ext cx="6217920" cy="9715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0"/>
                </a:lnSpc>
              </a:pPr>
              <a:r>
                <a:rPr lang="en-US" sz="2250" b="1">
                  <a:solidFill>
                    <a:srgbClr val="1F29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PENDING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2060555" y="4077843"/>
            <a:ext cx="4682490" cy="704850"/>
            <a:chOff x="0" y="0"/>
            <a:chExt cx="6243320" cy="93980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6243320" cy="939800"/>
            </a:xfrm>
            <a:custGeom>
              <a:avLst/>
              <a:gdLst/>
              <a:ahLst/>
              <a:cxnLst/>
              <a:rect l="l" t="t" r="r" b="b"/>
              <a:pathLst>
                <a:path w="6243320" h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lnTo>
                    <a:pt x="5773420" y="0"/>
                  </a:lnTo>
                  <a:cubicBezTo>
                    <a:pt x="6032881" y="0"/>
                    <a:pt x="6243320" y="210439"/>
                    <a:pt x="6243320" y="469900"/>
                  </a:cubicBezTo>
                  <a:cubicBezTo>
                    <a:pt x="6243320" y="729361"/>
                    <a:pt x="6032881" y="939800"/>
                    <a:pt x="5773420" y="939800"/>
                  </a:cubicBezTo>
                  <a:lnTo>
                    <a:pt x="469900" y="939800"/>
                  </a:ln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3B82F6"/>
            </a:solidFill>
            <a:ln w="19050" cap="sq">
              <a:solidFill>
                <a:srgbClr val="3B82F6"/>
              </a:solidFill>
              <a:prstDash val="solid"/>
              <a:miter/>
            </a:ln>
          </p:spPr>
        </p:sp>
      </p:grpSp>
      <p:grpSp>
        <p:nvGrpSpPr>
          <p:cNvPr id="70" name="Group 70"/>
          <p:cNvGrpSpPr/>
          <p:nvPr/>
        </p:nvGrpSpPr>
        <p:grpSpPr>
          <a:xfrm>
            <a:off x="12070080" y="4087368"/>
            <a:ext cx="4663440" cy="685800"/>
            <a:chOff x="0" y="0"/>
            <a:chExt cx="6217920" cy="914400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6217920" cy="914400"/>
            </a:xfrm>
            <a:custGeom>
              <a:avLst/>
              <a:gdLst/>
              <a:ahLst/>
              <a:cxnLst/>
              <a:rect l="l" t="t" r="r" b="b"/>
              <a:pathLst>
                <a:path w="6217920" h="914400">
                  <a:moveTo>
                    <a:pt x="0" y="0"/>
                  </a:moveTo>
                  <a:lnTo>
                    <a:pt x="6217920" y="0"/>
                  </a:lnTo>
                  <a:lnTo>
                    <a:pt x="6217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2498" b="-82498"/>
              </a:stretch>
            </a:blipFill>
          </p:spPr>
        </p:sp>
        <p:sp>
          <p:nvSpPr>
            <p:cNvPr id="72" name="TextBox 72"/>
            <p:cNvSpPr txBox="1"/>
            <p:nvPr/>
          </p:nvSpPr>
          <p:spPr>
            <a:xfrm>
              <a:off x="0" y="-57150"/>
              <a:ext cx="6217920" cy="9715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0"/>
                </a:lnSpc>
              </a:pPr>
              <a:r>
                <a:rPr lang="en-US" sz="22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PROCESSING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2060555" y="5010531"/>
            <a:ext cx="4682490" cy="704850"/>
            <a:chOff x="0" y="0"/>
            <a:chExt cx="6243320" cy="939800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6243320" cy="939800"/>
            </a:xfrm>
            <a:custGeom>
              <a:avLst/>
              <a:gdLst/>
              <a:ahLst/>
              <a:cxnLst/>
              <a:rect l="l" t="t" r="r" b="b"/>
              <a:pathLst>
                <a:path w="6243320" h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lnTo>
                    <a:pt x="5773420" y="0"/>
                  </a:lnTo>
                  <a:cubicBezTo>
                    <a:pt x="6032881" y="0"/>
                    <a:pt x="6243320" y="210439"/>
                    <a:pt x="6243320" y="469900"/>
                  </a:cubicBezTo>
                  <a:cubicBezTo>
                    <a:pt x="6243320" y="729361"/>
                    <a:pt x="6032881" y="939800"/>
                    <a:pt x="5773420" y="939800"/>
                  </a:cubicBezTo>
                  <a:lnTo>
                    <a:pt x="469900" y="939800"/>
                  </a:ln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16A34A"/>
            </a:solidFill>
            <a:ln w="19050" cap="sq">
              <a:solidFill>
                <a:srgbClr val="16A34A"/>
              </a:solidFill>
              <a:prstDash val="solid"/>
              <a:miter/>
            </a:ln>
          </p:spPr>
        </p:sp>
      </p:grpSp>
      <p:grpSp>
        <p:nvGrpSpPr>
          <p:cNvPr id="75" name="Group 75"/>
          <p:cNvGrpSpPr/>
          <p:nvPr/>
        </p:nvGrpSpPr>
        <p:grpSpPr>
          <a:xfrm>
            <a:off x="12070080" y="5020056"/>
            <a:ext cx="4663440" cy="685800"/>
            <a:chOff x="0" y="0"/>
            <a:chExt cx="6217920" cy="914400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6217920" cy="914400"/>
            </a:xfrm>
            <a:custGeom>
              <a:avLst/>
              <a:gdLst/>
              <a:ahLst/>
              <a:cxnLst/>
              <a:rect l="l" t="t" r="r" b="b"/>
              <a:pathLst>
                <a:path w="6217920" h="914400">
                  <a:moveTo>
                    <a:pt x="0" y="0"/>
                  </a:moveTo>
                  <a:lnTo>
                    <a:pt x="6217920" y="0"/>
                  </a:lnTo>
                  <a:lnTo>
                    <a:pt x="6217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2498" b="-82498"/>
              </a:stretch>
            </a:blipFill>
          </p:spPr>
        </p:sp>
        <p:sp>
          <p:nvSpPr>
            <p:cNvPr id="77" name="TextBox 77"/>
            <p:cNvSpPr txBox="1"/>
            <p:nvPr/>
          </p:nvSpPr>
          <p:spPr>
            <a:xfrm>
              <a:off x="0" y="-57150"/>
              <a:ext cx="6217920" cy="9715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0"/>
                </a:lnSpc>
              </a:pPr>
              <a:r>
                <a:rPr lang="en-US" sz="22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SUCCESS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12060555" y="5943219"/>
            <a:ext cx="4682490" cy="704850"/>
            <a:chOff x="0" y="0"/>
            <a:chExt cx="6243320" cy="939800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6243320" cy="939800"/>
            </a:xfrm>
            <a:custGeom>
              <a:avLst/>
              <a:gdLst/>
              <a:ahLst/>
              <a:cxnLst/>
              <a:rect l="l" t="t" r="r" b="b"/>
              <a:pathLst>
                <a:path w="6243320" h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lnTo>
                    <a:pt x="5773420" y="0"/>
                  </a:lnTo>
                  <a:cubicBezTo>
                    <a:pt x="6032881" y="0"/>
                    <a:pt x="6243320" y="210439"/>
                    <a:pt x="6243320" y="469900"/>
                  </a:cubicBezTo>
                  <a:cubicBezTo>
                    <a:pt x="6243320" y="729361"/>
                    <a:pt x="6032881" y="939800"/>
                    <a:pt x="5773420" y="939800"/>
                  </a:cubicBezTo>
                  <a:lnTo>
                    <a:pt x="469900" y="939800"/>
                  </a:ln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DC2626"/>
            </a:solidFill>
            <a:ln w="19050" cap="sq">
              <a:solidFill>
                <a:srgbClr val="DC2626"/>
              </a:solidFill>
              <a:prstDash val="solid"/>
              <a:miter/>
            </a:ln>
          </p:spPr>
        </p:sp>
      </p:grpSp>
      <p:grpSp>
        <p:nvGrpSpPr>
          <p:cNvPr id="80" name="Group 80"/>
          <p:cNvGrpSpPr/>
          <p:nvPr/>
        </p:nvGrpSpPr>
        <p:grpSpPr>
          <a:xfrm>
            <a:off x="12070080" y="5952744"/>
            <a:ext cx="4663440" cy="685800"/>
            <a:chOff x="0" y="0"/>
            <a:chExt cx="6217920" cy="914400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6217920" cy="914400"/>
            </a:xfrm>
            <a:custGeom>
              <a:avLst/>
              <a:gdLst/>
              <a:ahLst/>
              <a:cxnLst/>
              <a:rect l="l" t="t" r="r" b="b"/>
              <a:pathLst>
                <a:path w="6217920" h="914400">
                  <a:moveTo>
                    <a:pt x="0" y="0"/>
                  </a:moveTo>
                  <a:lnTo>
                    <a:pt x="6217920" y="0"/>
                  </a:lnTo>
                  <a:lnTo>
                    <a:pt x="6217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2498" b="-82498"/>
              </a:stretch>
            </a:blipFill>
          </p:spPr>
        </p:sp>
        <p:sp>
          <p:nvSpPr>
            <p:cNvPr id="82" name="TextBox 82"/>
            <p:cNvSpPr txBox="1"/>
            <p:nvPr/>
          </p:nvSpPr>
          <p:spPr>
            <a:xfrm>
              <a:off x="0" y="-57150"/>
              <a:ext cx="6217920" cy="9715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0"/>
                </a:lnSpc>
              </a:pPr>
              <a:r>
                <a:rPr lang="en-US" sz="22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FAILED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12060555" y="6875907"/>
            <a:ext cx="4682490" cy="704850"/>
            <a:chOff x="0" y="0"/>
            <a:chExt cx="6243320" cy="939800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6243320" cy="939800"/>
            </a:xfrm>
            <a:custGeom>
              <a:avLst/>
              <a:gdLst/>
              <a:ahLst/>
              <a:cxnLst/>
              <a:rect l="l" t="t" r="r" b="b"/>
              <a:pathLst>
                <a:path w="6243320" h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lnTo>
                    <a:pt x="5773420" y="0"/>
                  </a:lnTo>
                  <a:cubicBezTo>
                    <a:pt x="6032881" y="0"/>
                    <a:pt x="6243320" y="210439"/>
                    <a:pt x="6243320" y="469900"/>
                  </a:cubicBezTo>
                  <a:cubicBezTo>
                    <a:pt x="6243320" y="729361"/>
                    <a:pt x="6032881" y="939800"/>
                    <a:pt x="5773420" y="939800"/>
                  </a:cubicBezTo>
                  <a:lnTo>
                    <a:pt x="469900" y="939800"/>
                  </a:ln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6B7280"/>
            </a:solidFill>
            <a:ln w="19050" cap="sq">
              <a:solidFill>
                <a:srgbClr val="6B7280"/>
              </a:solidFill>
              <a:prstDash val="solid"/>
              <a:miter/>
            </a:ln>
          </p:spPr>
        </p:sp>
      </p:grpSp>
      <p:grpSp>
        <p:nvGrpSpPr>
          <p:cNvPr id="85" name="Group 85"/>
          <p:cNvGrpSpPr/>
          <p:nvPr/>
        </p:nvGrpSpPr>
        <p:grpSpPr>
          <a:xfrm>
            <a:off x="12070080" y="6885432"/>
            <a:ext cx="4663440" cy="685800"/>
            <a:chOff x="0" y="0"/>
            <a:chExt cx="6217920" cy="914400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6217920" cy="914400"/>
            </a:xfrm>
            <a:custGeom>
              <a:avLst/>
              <a:gdLst/>
              <a:ahLst/>
              <a:cxnLst/>
              <a:rect l="l" t="t" r="r" b="b"/>
              <a:pathLst>
                <a:path w="6217920" h="914400">
                  <a:moveTo>
                    <a:pt x="0" y="0"/>
                  </a:moveTo>
                  <a:lnTo>
                    <a:pt x="6217920" y="0"/>
                  </a:lnTo>
                  <a:lnTo>
                    <a:pt x="6217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2498" b="-82498"/>
              </a:stretch>
            </a:blipFill>
          </p:spPr>
        </p:sp>
        <p:sp>
          <p:nvSpPr>
            <p:cNvPr id="87" name="TextBox 87"/>
            <p:cNvSpPr txBox="1"/>
            <p:nvPr/>
          </p:nvSpPr>
          <p:spPr>
            <a:xfrm>
              <a:off x="0" y="-57150"/>
              <a:ext cx="6217920" cy="9715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0"/>
                </a:lnSpc>
              </a:pPr>
              <a:r>
                <a:rPr lang="en-US" sz="22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CANCELLED</a:t>
              </a:r>
            </a:p>
          </p:txBody>
        </p:sp>
      </p:grpSp>
      <p:sp>
        <p:nvSpPr>
          <p:cNvPr id="88" name="TextBox 88"/>
          <p:cNvSpPr txBox="1"/>
          <p:nvPr/>
        </p:nvSpPr>
        <p:spPr>
          <a:xfrm>
            <a:off x="11795760" y="7633335"/>
            <a:ext cx="5349240" cy="802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i="1">
                <a:solidFill>
                  <a:srgbClr val="5B6B7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fingerprintId do cảm biến trả về, ứng dụng không tự tạo.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71600" y="1028700"/>
            <a:ext cx="16916400" cy="176841"/>
            <a:chOff x="0" y="0"/>
            <a:chExt cx="22555200" cy="2357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555200" cy="235839"/>
            </a:xfrm>
            <a:custGeom>
              <a:avLst/>
              <a:gdLst/>
              <a:ahLst/>
              <a:cxnLst/>
              <a:rect l="l" t="t" r="r" b="b"/>
              <a:pathLst>
                <a:path w="22555200" h="235839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1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grpSp>
        <p:nvGrpSpPr>
          <p:cNvPr id="5" name="Group 5"/>
          <p:cNvGrpSpPr/>
          <p:nvPr/>
        </p:nvGrpSpPr>
        <p:grpSpPr>
          <a:xfrm>
            <a:off x="1371600" y="1242384"/>
            <a:ext cx="16916400" cy="176841"/>
            <a:chOff x="0" y="0"/>
            <a:chExt cx="22555200" cy="23578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555200" cy="235839"/>
            </a:xfrm>
            <a:custGeom>
              <a:avLst/>
              <a:gdLst/>
              <a:ahLst/>
              <a:cxnLst/>
              <a:rect l="l" t="t" r="r" b="b"/>
              <a:pathLst>
                <a:path w="22555200" h="235839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1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sp>
        <p:nvSpPr>
          <p:cNvPr id="7" name="Freeform 7"/>
          <p:cNvSpPr/>
          <p:nvPr/>
        </p:nvSpPr>
        <p:spPr>
          <a:xfrm>
            <a:off x="720728" y="685800"/>
            <a:ext cx="1066800" cy="914400"/>
          </a:xfrm>
          <a:custGeom>
            <a:avLst/>
            <a:gdLst/>
            <a:ahLst/>
            <a:cxnLst/>
            <a:rect l="l" t="t" r="r" b="b"/>
            <a:pathLst>
              <a:path w="1066800" h="914400">
                <a:moveTo>
                  <a:pt x="0" y="0"/>
                </a:moveTo>
                <a:lnTo>
                  <a:pt x="1066800" y="0"/>
                </a:lnTo>
                <a:lnTo>
                  <a:pt x="10668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625840" y="9734245"/>
            <a:ext cx="8122920" cy="37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HCMC University of Technology and Education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2114550" y="720328"/>
            <a:ext cx="15430500" cy="868673"/>
            <a:chOff x="0" y="0"/>
            <a:chExt cx="20574000" cy="115823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574000" cy="1158231"/>
            </a:xfrm>
            <a:custGeom>
              <a:avLst/>
              <a:gdLst/>
              <a:ahLst/>
              <a:cxnLst/>
              <a:rect l="l" t="t" r="r" b="b"/>
              <a:pathLst>
                <a:path w="20574000" h="1158231">
                  <a:moveTo>
                    <a:pt x="0" y="0"/>
                  </a:moveTo>
                  <a:lnTo>
                    <a:pt x="20574000" y="0"/>
                  </a:lnTo>
                  <a:lnTo>
                    <a:pt x="20574000" y="1158231"/>
                  </a:lnTo>
                  <a:lnTo>
                    <a:pt x="0" y="115823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97461" b="-294775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20574000" cy="11772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b="1">
                  <a:solidFill>
                    <a:srgbClr val="4B546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3. Luồng chấm công: ESP32 tính công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90136" y="2187416"/>
            <a:ext cx="2894648" cy="2277428"/>
            <a:chOff x="0" y="0"/>
            <a:chExt cx="3859530" cy="303657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859530" cy="3036570"/>
            </a:xfrm>
            <a:custGeom>
              <a:avLst/>
              <a:gdLst/>
              <a:ahLst/>
              <a:cxnLst/>
              <a:rect l="l" t="t" r="r" b="b"/>
              <a:pathLst>
                <a:path w="3859530" h="3036570">
                  <a:moveTo>
                    <a:pt x="0" y="220853"/>
                  </a:moveTo>
                  <a:cubicBezTo>
                    <a:pt x="0" y="98933"/>
                    <a:pt x="98933" y="0"/>
                    <a:pt x="220853" y="0"/>
                  </a:cubicBezTo>
                  <a:lnTo>
                    <a:pt x="3638677" y="0"/>
                  </a:lnTo>
                  <a:cubicBezTo>
                    <a:pt x="3760597" y="0"/>
                    <a:pt x="3859530" y="98933"/>
                    <a:pt x="3859530" y="220853"/>
                  </a:cubicBezTo>
                  <a:lnTo>
                    <a:pt x="3859530" y="2815717"/>
                  </a:lnTo>
                  <a:cubicBezTo>
                    <a:pt x="3859530" y="2937637"/>
                    <a:pt x="3760597" y="3036570"/>
                    <a:pt x="3638677" y="3036570"/>
                  </a:cubicBezTo>
                  <a:lnTo>
                    <a:pt x="220853" y="3036570"/>
                  </a:lnTo>
                  <a:cubicBezTo>
                    <a:pt x="98933" y="3036570"/>
                    <a:pt x="0" y="2937637"/>
                    <a:pt x="0" y="2815717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CE4EE"/>
              </a:soli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1293495" y="2349627"/>
            <a:ext cx="567690" cy="567690"/>
            <a:chOff x="0" y="0"/>
            <a:chExt cx="756920" cy="75692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56920" cy="756920"/>
            </a:xfrm>
            <a:custGeom>
              <a:avLst/>
              <a:gdLst/>
              <a:ahLst/>
              <a:cxnLst/>
              <a:rect l="l" t="t" r="r" b="b"/>
              <a:pathLst>
                <a:path w="756920" h="756920">
                  <a:moveTo>
                    <a:pt x="0" y="378460"/>
                  </a:moveTo>
                  <a:cubicBezTo>
                    <a:pt x="0" y="169418"/>
                    <a:pt x="169418" y="0"/>
                    <a:pt x="378460" y="0"/>
                  </a:cubicBezTo>
                  <a:cubicBezTo>
                    <a:pt x="587502" y="0"/>
                    <a:pt x="756920" y="169418"/>
                    <a:pt x="756920" y="378460"/>
                  </a:cubicBezTo>
                  <a:cubicBezTo>
                    <a:pt x="756920" y="587502"/>
                    <a:pt x="587502" y="756920"/>
                    <a:pt x="378460" y="756920"/>
                  </a:cubicBezTo>
                  <a:cubicBezTo>
                    <a:pt x="169418" y="756920"/>
                    <a:pt x="0" y="587502"/>
                    <a:pt x="0" y="378460"/>
                  </a:cubicBezTo>
                  <a:close/>
                </a:path>
              </a:pathLst>
            </a:custGeom>
            <a:solidFill>
              <a:srgbClr val="0E9F9A"/>
            </a:solidFill>
            <a:ln w="19050" cap="sq">
              <a:solidFill>
                <a:srgbClr val="0E9F9A"/>
              </a:solidFill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1303020" y="2359152"/>
            <a:ext cx="548640" cy="548640"/>
            <a:chOff x="0" y="0"/>
            <a:chExt cx="731520" cy="73152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73152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303020" y="2969895"/>
            <a:ext cx="2468880" cy="1419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0F2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Nhân viên đặt vân tay</a:t>
            </a:r>
          </a:p>
        </p:txBody>
      </p:sp>
      <p:sp>
        <p:nvSpPr>
          <p:cNvPr id="20" name="AutoShape 20"/>
          <p:cNvSpPr/>
          <p:nvPr/>
        </p:nvSpPr>
        <p:spPr>
          <a:xfrm rot="257160">
            <a:off x="3960352" y="3309747"/>
            <a:ext cx="446065" cy="0"/>
          </a:xfrm>
          <a:prstGeom prst="line">
            <a:avLst/>
          </a:prstGeom>
          <a:ln w="19050" cap="rnd">
            <a:solidFill>
              <a:srgbClr val="5B6B7F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21" name="Group 21"/>
          <p:cNvGrpSpPr/>
          <p:nvPr/>
        </p:nvGrpSpPr>
        <p:grpSpPr>
          <a:xfrm>
            <a:off x="4381976" y="2187416"/>
            <a:ext cx="2894648" cy="2277428"/>
            <a:chOff x="0" y="0"/>
            <a:chExt cx="3859530" cy="303657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859530" cy="3036570"/>
            </a:xfrm>
            <a:custGeom>
              <a:avLst/>
              <a:gdLst/>
              <a:ahLst/>
              <a:cxnLst/>
              <a:rect l="l" t="t" r="r" b="b"/>
              <a:pathLst>
                <a:path w="3859530" h="3036570">
                  <a:moveTo>
                    <a:pt x="0" y="220853"/>
                  </a:moveTo>
                  <a:cubicBezTo>
                    <a:pt x="0" y="98933"/>
                    <a:pt x="98933" y="0"/>
                    <a:pt x="220853" y="0"/>
                  </a:cubicBezTo>
                  <a:lnTo>
                    <a:pt x="3638677" y="0"/>
                  </a:lnTo>
                  <a:cubicBezTo>
                    <a:pt x="3760597" y="0"/>
                    <a:pt x="3859530" y="98933"/>
                    <a:pt x="3859530" y="220853"/>
                  </a:cubicBezTo>
                  <a:lnTo>
                    <a:pt x="3859530" y="2815717"/>
                  </a:lnTo>
                  <a:cubicBezTo>
                    <a:pt x="3859530" y="2937637"/>
                    <a:pt x="3760597" y="3036570"/>
                    <a:pt x="3638677" y="3036570"/>
                  </a:cubicBezTo>
                  <a:lnTo>
                    <a:pt x="220853" y="3036570"/>
                  </a:lnTo>
                  <a:cubicBezTo>
                    <a:pt x="98933" y="3036570"/>
                    <a:pt x="0" y="2937637"/>
                    <a:pt x="0" y="2815717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CE4EE"/>
              </a:solidFill>
              <a:prstDash val="solid"/>
              <a:miter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4585335" y="2349627"/>
            <a:ext cx="567690" cy="567690"/>
            <a:chOff x="0" y="0"/>
            <a:chExt cx="756920" cy="75692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56920" cy="756920"/>
            </a:xfrm>
            <a:custGeom>
              <a:avLst/>
              <a:gdLst/>
              <a:ahLst/>
              <a:cxnLst/>
              <a:rect l="l" t="t" r="r" b="b"/>
              <a:pathLst>
                <a:path w="756920" h="756920">
                  <a:moveTo>
                    <a:pt x="0" y="378460"/>
                  </a:moveTo>
                  <a:cubicBezTo>
                    <a:pt x="0" y="169418"/>
                    <a:pt x="169418" y="0"/>
                    <a:pt x="378460" y="0"/>
                  </a:cubicBezTo>
                  <a:cubicBezTo>
                    <a:pt x="587502" y="0"/>
                    <a:pt x="756920" y="169418"/>
                    <a:pt x="756920" y="378460"/>
                  </a:cubicBezTo>
                  <a:cubicBezTo>
                    <a:pt x="756920" y="587502"/>
                    <a:pt x="587502" y="756920"/>
                    <a:pt x="378460" y="756920"/>
                  </a:cubicBezTo>
                  <a:cubicBezTo>
                    <a:pt x="169418" y="756920"/>
                    <a:pt x="0" y="587502"/>
                    <a:pt x="0" y="378460"/>
                  </a:cubicBezTo>
                  <a:close/>
                </a:path>
              </a:pathLst>
            </a:custGeom>
            <a:solidFill>
              <a:srgbClr val="0E9F9A"/>
            </a:solidFill>
            <a:ln w="19050" cap="sq">
              <a:solidFill>
                <a:srgbClr val="0E9F9A"/>
              </a:solidFill>
              <a:prstDash val="solid"/>
              <a:miter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4594860" y="2359152"/>
            <a:ext cx="548640" cy="548640"/>
            <a:chOff x="0" y="0"/>
            <a:chExt cx="731520" cy="73152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47625"/>
              <a:ext cx="73152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4594860" y="2969895"/>
            <a:ext cx="2468880" cy="1419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0F2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AS608 so khớp, trả về fingerprintId</a:t>
            </a:r>
          </a:p>
        </p:txBody>
      </p:sp>
      <p:sp>
        <p:nvSpPr>
          <p:cNvPr id="29" name="AutoShape 29"/>
          <p:cNvSpPr/>
          <p:nvPr/>
        </p:nvSpPr>
        <p:spPr>
          <a:xfrm rot="257159">
            <a:off x="7252192" y="3309747"/>
            <a:ext cx="446065" cy="0"/>
          </a:xfrm>
          <a:prstGeom prst="line">
            <a:avLst/>
          </a:prstGeom>
          <a:ln w="19050" cap="rnd">
            <a:solidFill>
              <a:srgbClr val="5B6B7F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30" name="Group 30"/>
          <p:cNvGrpSpPr/>
          <p:nvPr/>
        </p:nvGrpSpPr>
        <p:grpSpPr>
          <a:xfrm>
            <a:off x="7673816" y="2187416"/>
            <a:ext cx="2894648" cy="2277428"/>
            <a:chOff x="0" y="0"/>
            <a:chExt cx="3859530" cy="303657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859530" cy="3036570"/>
            </a:xfrm>
            <a:custGeom>
              <a:avLst/>
              <a:gdLst/>
              <a:ahLst/>
              <a:cxnLst/>
              <a:rect l="l" t="t" r="r" b="b"/>
              <a:pathLst>
                <a:path w="3859530" h="3036570">
                  <a:moveTo>
                    <a:pt x="0" y="220853"/>
                  </a:moveTo>
                  <a:cubicBezTo>
                    <a:pt x="0" y="98933"/>
                    <a:pt x="98933" y="0"/>
                    <a:pt x="220853" y="0"/>
                  </a:cubicBezTo>
                  <a:lnTo>
                    <a:pt x="3638677" y="0"/>
                  </a:lnTo>
                  <a:cubicBezTo>
                    <a:pt x="3760597" y="0"/>
                    <a:pt x="3859530" y="98933"/>
                    <a:pt x="3859530" y="220853"/>
                  </a:cubicBezTo>
                  <a:lnTo>
                    <a:pt x="3859530" y="2815717"/>
                  </a:lnTo>
                  <a:cubicBezTo>
                    <a:pt x="3859530" y="2937637"/>
                    <a:pt x="3760597" y="3036570"/>
                    <a:pt x="3638677" y="3036570"/>
                  </a:cubicBezTo>
                  <a:lnTo>
                    <a:pt x="220853" y="3036570"/>
                  </a:lnTo>
                  <a:cubicBezTo>
                    <a:pt x="98933" y="3036570"/>
                    <a:pt x="0" y="2937637"/>
                    <a:pt x="0" y="2815717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CE4EE"/>
              </a:solidFill>
              <a:prstDash val="solid"/>
              <a:miter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7877175" y="2349627"/>
            <a:ext cx="567690" cy="567690"/>
            <a:chOff x="0" y="0"/>
            <a:chExt cx="756920" cy="75692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756920" cy="756920"/>
            </a:xfrm>
            <a:custGeom>
              <a:avLst/>
              <a:gdLst/>
              <a:ahLst/>
              <a:cxnLst/>
              <a:rect l="l" t="t" r="r" b="b"/>
              <a:pathLst>
                <a:path w="756920" h="756920">
                  <a:moveTo>
                    <a:pt x="0" y="378460"/>
                  </a:moveTo>
                  <a:cubicBezTo>
                    <a:pt x="0" y="169418"/>
                    <a:pt x="169418" y="0"/>
                    <a:pt x="378460" y="0"/>
                  </a:cubicBezTo>
                  <a:cubicBezTo>
                    <a:pt x="587502" y="0"/>
                    <a:pt x="756920" y="169418"/>
                    <a:pt x="756920" y="378460"/>
                  </a:cubicBezTo>
                  <a:cubicBezTo>
                    <a:pt x="756920" y="587502"/>
                    <a:pt x="587502" y="756920"/>
                    <a:pt x="378460" y="756920"/>
                  </a:cubicBezTo>
                  <a:cubicBezTo>
                    <a:pt x="169418" y="756920"/>
                    <a:pt x="0" y="587502"/>
                    <a:pt x="0" y="378460"/>
                  </a:cubicBezTo>
                  <a:close/>
                </a:path>
              </a:pathLst>
            </a:custGeom>
            <a:solidFill>
              <a:srgbClr val="0E9F9A"/>
            </a:solidFill>
            <a:ln w="19050" cap="sq">
              <a:solidFill>
                <a:srgbClr val="0E9F9A"/>
              </a:solidFill>
              <a:prstDash val="solid"/>
              <a:miter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7886700" y="2359152"/>
            <a:ext cx="548640" cy="548640"/>
            <a:chOff x="0" y="0"/>
            <a:chExt cx="731520" cy="73152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-47625"/>
              <a:ext cx="73152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7886700" y="2969895"/>
            <a:ext cx="2468880" cy="1419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0F2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ESP32 tra nhân viên và ca làm việc</a:t>
            </a:r>
          </a:p>
        </p:txBody>
      </p:sp>
      <p:sp>
        <p:nvSpPr>
          <p:cNvPr id="38" name="AutoShape 38"/>
          <p:cNvSpPr/>
          <p:nvPr/>
        </p:nvSpPr>
        <p:spPr>
          <a:xfrm rot="257159">
            <a:off x="10544032" y="3309747"/>
            <a:ext cx="446065" cy="0"/>
          </a:xfrm>
          <a:prstGeom prst="line">
            <a:avLst/>
          </a:prstGeom>
          <a:ln w="19050" cap="rnd">
            <a:solidFill>
              <a:srgbClr val="5B6B7F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39" name="Group 39"/>
          <p:cNvGrpSpPr/>
          <p:nvPr/>
        </p:nvGrpSpPr>
        <p:grpSpPr>
          <a:xfrm>
            <a:off x="10965656" y="2187416"/>
            <a:ext cx="2894648" cy="2277428"/>
            <a:chOff x="0" y="0"/>
            <a:chExt cx="3859530" cy="303657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3859530" cy="3036570"/>
            </a:xfrm>
            <a:custGeom>
              <a:avLst/>
              <a:gdLst/>
              <a:ahLst/>
              <a:cxnLst/>
              <a:rect l="l" t="t" r="r" b="b"/>
              <a:pathLst>
                <a:path w="3859530" h="3036570">
                  <a:moveTo>
                    <a:pt x="0" y="220853"/>
                  </a:moveTo>
                  <a:cubicBezTo>
                    <a:pt x="0" y="98933"/>
                    <a:pt x="98933" y="0"/>
                    <a:pt x="220853" y="0"/>
                  </a:cubicBezTo>
                  <a:lnTo>
                    <a:pt x="3638677" y="0"/>
                  </a:lnTo>
                  <a:cubicBezTo>
                    <a:pt x="3760597" y="0"/>
                    <a:pt x="3859530" y="98933"/>
                    <a:pt x="3859530" y="220853"/>
                  </a:cubicBezTo>
                  <a:lnTo>
                    <a:pt x="3859530" y="2815717"/>
                  </a:lnTo>
                  <a:cubicBezTo>
                    <a:pt x="3859530" y="2937637"/>
                    <a:pt x="3760597" y="3036570"/>
                    <a:pt x="3638677" y="3036570"/>
                  </a:cubicBezTo>
                  <a:lnTo>
                    <a:pt x="220853" y="3036570"/>
                  </a:lnTo>
                  <a:cubicBezTo>
                    <a:pt x="98933" y="3036570"/>
                    <a:pt x="0" y="2937637"/>
                    <a:pt x="0" y="2815717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CE4EE"/>
              </a:solidFill>
              <a:prstDash val="solid"/>
              <a:miter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11169015" y="2349627"/>
            <a:ext cx="567690" cy="567690"/>
            <a:chOff x="0" y="0"/>
            <a:chExt cx="756920" cy="75692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756920" cy="756920"/>
            </a:xfrm>
            <a:custGeom>
              <a:avLst/>
              <a:gdLst/>
              <a:ahLst/>
              <a:cxnLst/>
              <a:rect l="l" t="t" r="r" b="b"/>
              <a:pathLst>
                <a:path w="756920" h="756920">
                  <a:moveTo>
                    <a:pt x="0" y="378460"/>
                  </a:moveTo>
                  <a:cubicBezTo>
                    <a:pt x="0" y="169418"/>
                    <a:pt x="169418" y="0"/>
                    <a:pt x="378460" y="0"/>
                  </a:cubicBezTo>
                  <a:cubicBezTo>
                    <a:pt x="587502" y="0"/>
                    <a:pt x="756920" y="169418"/>
                    <a:pt x="756920" y="378460"/>
                  </a:cubicBezTo>
                  <a:cubicBezTo>
                    <a:pt x="756920" y="587502"/>
                    <a:pt x="587502" y="756920"/>
                    <a:pt x="378460" y="756920"/>
                  </a:cubicBezTo>
                  <a:cubicBezTo>
                    <a:pt x="169418" y="756920"/>
                    <a:pt x="0" y="587502"/>
                    <a:pt x="0" y="378460"/>
                  </a:cubicBezTo>
                  <a:close/>
                </a:path>
              </a:pathLst>
            </a:custGeom>
            <a:solidFill>
              <a:srgbClr val="0E9F9A"/>
            </a:solidFill>
            <a:ln w="19050" cap="sq">
              <a:solidFill>
                <a:srgbClr val="0E9F9A"/>
              </a:solidFill>
              <a:prstDash val="solid"/>
              <a:miter/>
            </a:ln>
          </p:spPr>
        </p:sp>
      </p:grpSp>
      <p:grpSp>
        <p:nvGrpSpPr>
          <p:cNvPr id="43" name="Group 43"/>
          <p:cNvGrpSpPr/>
          <p:nvPr/>
        </p:nvGrpSpPr>
        <p:grpSpPr>
          <a:xfrm>
            <a:off x="11178540" y="2359152"/>
            <a:ext cx="548640" cy="548640"/>
            <a:chOff x="0" y="0"/>
            <a:chExt cx="731520" cy="73152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-47625"/>
              <a:ext cx="73152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11178540" y="2969895"/>
            <a:ext cx="2468880" cy="1419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0F2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ESP32 tính công và ghi vào attendance</a:t>
            </a:r>
          </a:p>
        </p:txBody>
      </p:sp>
      <p:sp>
        <p:nvSpPr>
          <p:cNvPr id="47" name="AutoShape 47"/>
          <p:cNvSpPr/>
          <p:nvPr/>
        </p:nvSpPr>
        <p:spPr>
          <a:xfrm rot="257159">
            <a:off x="13835872" y="3309747"/>
            <a:ext cx="446065" cy="0"/>
          </a:xfrm>
          <a:prstGeom prst="line">
            <a:avLst/>
          </a:prstGeom>
          <a:ln w="19050" cap="rnd">
            <a:solidFill>
              <a:srgbClr val="5B6B7F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48" name="Group 48"/>
          <p:cNvGrpSpPr/>
          <p:nvPr/>
        </p:nvGrpSpPr>
        <p:grpSpPr>
          <a:xfrm>
            <a:off x="14257496" y="2187416"/>
            <a:ext cx="2894648" cy="2277428"/>
            <a:chOff x="0" y="0"/>
            <a:chExt cx="3859530" cy="303657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3859530" cy="3036570"/>
            </a:xfrm>
            <a:custGeom>
              <a:avLst/>
              <a:gdLst/>
              <a:ahLst/>
              <a:cxnLst/>
              <a:rect l="l" t="t" r="r" b="b"/>
              <a:pathLst>
                <a:path w="3859530" h="3036570">
                  <a:moveTo>
                    <a:pt x="0" y="220853"/>
                  </a:moveTo>
                  <a:cubicBezTo>
                    <a:pt x="0" y="98933"/>
                    <a:pt x="98933" y="0"/>
                    <a:pt x="220853" y="0"/>
                  </a:cubicBezTo>
                  <a:lnTo>
                    <a:pt x="3638677" y="0"/>
                  </a:lnTo>
                  <a:cubicBezTo>
                    <a:pt x="3760597" y="0"/>
                    <a:pt x="3859530" y="98933"/>
                    <a:pt x="3859530" y="220853"/>
                  </a:cubicBezTo>
                  <a:lnTo>
                    <a:pt x="3859530" y="2815717"/>
                  </a:lnTo>
                  <a:cubicBezTo>
                    <a:pt x="3859530" y="2937637"/>
                    <a:pt x="3760597" y="3036570"/>
                    <a:pt x="3638677" y="3036570"/>
                  </a:cubicBezTo>
                  <a:lnTo>
                    <a:pt x="220853" y="3036570"/>
                  </a:lnTo>
                  <a:cubicBezTo>
                    <a:pt x="98933" y="3036570"/>
                    <a:pt x="0" y="2937637"/>
                    <a:pt x="0" y="2815717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CE4EE"/>
              </a:solidFill>
              <a:prstDash val="solid"/>
              <a:miter/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14460855" y="2349627"/>
            <a:ext cx="567690" cy="567690"/>
            <a:chOff x="0" y="0"/>
            <a:chExt cx="756920" cy="75692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756920" cy="756920"/>
            </a:xfrm>
            <a:custGeom>
              <a:avLst/>
              <a:gdLst/>
              <a:ahLst/>
              <a:cxnLst/>
              <a:rect l="l" t="t" r="r" b="b"/>
              <a:pathLst>
                <a:path w="756920" h="756920">
                  <a:moveTo>
                    <a:pt x="0" y="378460"/>
                  </a:moveTo>
                  <a:cubicBezTo>
                    <a:pt x="0" y="169418"/>
                    <a:pt x="169418" y="0"/>
                    <a:pt x="378460" y="0"/>
                  </a:cubicBezTo>
                  <a:cubicBezTo>
                    <a:pt x="587502" y="0"/>
                    <a:pt x="756920" y="169418"/>
                    <a:pt x="756920" y="378460"/>
                  </a:cubicBezTo>
                  <a:cubicBezTo>
                    <a:pt x="756920" y="587502"/>
                    <a:pt x="587502" y="756920"/>
                    <a:pt x="378460" y="756920"/>
                  </a:cubicBezTo>
                  <a:cubicBezTo>
                    <a:pt x="169418" y="756920"/>
                    <a:pt x="0" y="587502"/>
                    <a:pt x="0" y="378460"/>
                  </a:cubicBezTo>
                  <a:close/>
                </a:path>
              </a:pathLst>
            </a:custGeom>
            <a:solidFill>
              <a:srgbClr val="0E9F9A"/>
            </a:solidFill>
            <a:ln w="19050" cap="sq">
              <a:solidFill>
                <a:srgbClr val="0E9F9A"/>
              </a:solidFill>
              <a:prstDash val="solid"/>
              <a:miter/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14470380" y="2359152"/>
            <a:ext cx="548640" cy="548640"/>
            <a:chOff x="0" y="0"/>
            <a:chExt cx="731520" cy="73152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54" name="TextBox 54"/>
            <p:cNvSpPr txBox="1"/>
            <p:nvPr/>
          </p:nvSpPr>
          <p:spPr>
            <a:xfrm>
              <a:off x="0" y="-47625"/>
              <a:ext cx="73152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14470380" y="2969895"/>
            <a:ext cx="2468880" cy="1419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0F2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App hiển thị realtime</a:t>
            </a:r>
          </a:p>
        </p:txBody>
      </p:sp>
      <p:grpSp>
        <p:nvGrpSpPr>
          <p:cNvPr id="56" name="Group 56"/>
          <p:cNvGrpSpPr/>
          <p:nvPr/>
        </p:nvGrpSpPr>
        <p:grpSpPr>
          <a:xfrm>
            <a:off x="815816" y="4999196"/>
            <a:ext cx="3854767" cy="3168967"/>
            <a:chOff x="0" y="0"/>
            <a:chExt cx="5139690" cy="422529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5139690" cy="4225290"/>
            </a:xfrm>
            <a:custGeom>
              <a:avLst/>
              <a:gdLst/>
              <a:ahLst/>
              <a:cxnLst/>
              <a:rect l="l" t="t" r="r" b="b"/>
              <a:pathLst>
                <a:path w="5139690" h="4225290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4919218" y="0"/>
                  </a:lnTo>
                  <a:cubicBezTo>
                    <a:pt x="5041011" y="0"/>
                    <a:pt x="5139690" y="98679"/>
                    <a:pt x="5139690" y="220472"/>
                  </a:cubicBezTo>
                  <a:lnTo>
                    <a:pt x="5139690" y="4004818"/>
                  </a:lnTo>
                  <a:cubicBezTo>
                    <a:pt x="5139690" y="4126611"/>
                    <a:pt x="5041011" y="4225290"/>
                    <a:pt x="4919218" y="4225290"/>
                  </a:cubicBezTo>
                  <a:lnTo>
                    <a:pt x="220472" y="4225290"/>
                  </a:lnTo>
                  <a:cubicBezTo>
                    <a:pt x="98679" y="4225290"/>
                    <a:pt x="0" y="4126611"/>
                    <a:pt x="0" y="400481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CE4EE"/>
              </a:solidFill>
              <a:prstDash val="solid"/>
              <a:miter/>
            </a:ln>
          </p:spPr>
        </p:sp>
      </p:grpSp>
      <p:sp>
        <p:nvSpPr>
          <p:cNvPr id="58" name="TextBox 58"/>
          <p:cNvSpPr txBox="1"/>
          <p:nvPr/>
        </p:nvSpPr>
        <p:spPr>
          <a:xfrm>
            <a:off x="1097280" y="5233035"/>
            <a:ext cx="3291840" cy="596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1">
                <a:solidFill>
                  <a:srgbClr val="0E9F9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Vào ca và ra ca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097280" y="5909310"/>
            <a:ext cx="3291840" cy="2114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Lần quét đầu trong ngày là vào ca. Các lần sau là ra ca, giờ ra được cập nhật.</a:t>
            </a:r>
          </a:p>
        </p:txBody>
      </p:sp>
      <p:grpSp>
        <p:nvGrpSpPr>
          <p:cNvPr id="60" name="Group 60"/>
          <p:cNvGrpSpPr/>
          <p:nvPr/>
        </p:nvGrpSpPr>
        <p:grpSpPr>
          <a:xfrm>
            <a:off x="5067776" y="4999196"/>
            <a:ext cx="3854767" cy="3168967"/>
            <a:chOff x="0" y="0"/>
            <a:chExt cx="5139690" cy="422529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5139690" cy="4225290"/>
            </a:xfrm>
            <a:custGeom>
              <a:avLst/>
              <a:gdLst/>
              <a:ahLst/>
              <a:cxnLst/>
              <a:rect l="l" t="t" r="r" b="b"/>
              <a:pathLst>
                <a:path w="5139690" h="4225290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4919218" y="0"/>
                  </a:lnTo>
                  <a:cubicBezTo>
                    <a:pt x="5041011" y="0"/>
                    <a:pt x="5139690" y="98679"/>
                    <a:pt x="5139690" y="220472"/>
                  </a:cubicBezTo>
                  <a:lnTo>
                    <a:pt x="5139690" y="4004818"/>
                  </a:lnTo>
                  <a:cubicBezTo>
                    <a:pt x="5139690" y="4126611"/>
                    <a:pt x="5041011" y="4225290"/>
                    <a:pt x="4919218" y="4225290"/>
                  </a:cubicBezTo>
                  <a:lnTo>
                    <a:pt x="220472" y="4225290"/>
                  </a:lnTo>
                  <a:cubicBezTo>
                    <a:pt x="98679" y="4225290"/>
                    <a:pt x="0" y="4126611"/>
                    <a:pt x="0" y="400481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CE4EE"/>
              </a:solidFill>
              <a:prstDash val="solid"/>
              <a:miter/>
            </a:ln>
          </p:spPr>
        </p:sp>
      </p:grpSp>
      <p:sp>
        <p:nvSpPr>
          <p:cNvPr id="62" name="TextBox 62"/>
          <p:cNvSpPr txBox="1"/>
          <p:nvPr/>
        </p:nvSpPr>
        <p:spPr>
          <a:xfrm>
            <a:off x="5349240" y="5233035"/>
            <a:ext cx="3291840" cy="596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1">
                <a:solidFill>
                  <a:srgbClr val="0E9F9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Đi trễ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5349240" y="5909310"/>
            <a:ext cx="3291840" cy="2114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Trễ từ 10 phút trở lên (gracePeriodMinutes của ca) mới tính là late.</a:t>
            </a:r>
          </a:p>
        </p:txBody>
      </p:sp>
      <p:grpSp>
        <p:nvGrpSpPr>
          <p:cNvPr id="64" name="Group 64"/>
          <p:cNvGrpSpPr/>
          <p:nvPr/>
        </p:nvGrpSpPr>
        <p:grpSpPr>
          <a:xfrm>
            <a:off x="9319736" y="4999196"/>
            <a:ext cx="3854767" cy="3168967"/>
            <a:chOff x="0" y="0"/>
            <a:chExt cx="5139690" cy="422529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5139690" cy="4225290"/>
            </a:xfrm>
            <a:custGeom>
              <a:avLst/>
              <a:gdLst/>
              <a:ahLst/>
              <a:cxnLst/>
              <a:rect l="l" t="t" r="r" b="b"/>
              <a:pathLst>
                <a:path w="5139690" h="4225290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4919218" y="0"/>
                  </a:lnTo>
                  <a:cubicBezTo>
                    <a:pt x="5041011" y="0"/>
                    <a:pt x="5139690" y="98679"/>
                    <a:pt x="5139690" y="220472"/>
                  </a:cubicBezTo>
                  <a:lnTo>
                    <a:pt x="5139690" y="4004818"/>
                  </a:lnTo>
                  <a:cubicBezTo>
                    <a:pt x="5139690" y="4126611"/>
                    <a:pt x="5041011" y="4225290"/>
                    <a:pt x="4919218" y="4225290"/>
                  </a:cubicBezTo>
                  <a:lnTo>
                    <a:pt x="220472" y="4225290"/>
                  </a:lnTo>
                  <a:cubicBezTo>
                    <a:pt x="98679" y="4225290"/>
                    <a:pt x="0" y="4126611"/>
                    <a:pt x="0" y="400481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CE4EE"/>
              </a:solidFill>
              <a:prstDash val="solid"/>
              <a:miter/>
            </a:ln>
          </p:spPr>
        </p:sp>
      </p:grpSp>
      <p:sp>
        <p:nvSpPr>
          <p:cNvPr id="66" name="TextBox 66"/>
          <p:cNvSpPr txBox="1"/>
          <p:nvPr/>
        </p:nvSpPr>
        <p:spPr>
          <a:xfrm>
            <a:off x="9601200" y="5233035"/>
            <a:ext cx="3291840" cy="596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1">
                <a:solidFill>
                  <a:srgbClr val="0E9F9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Tự động tính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9601200" y="5909310"/>
            <a:ext cx="3291840" cy="2114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lateMinutes, earlyMinutes, overtimeHours và workingHours theo giờ của ca.</a:t>
            </a:r>
          </a:p>
        </p:txBody>
      </p:sp>
      <p:grpSp>
        <p:nvGrpSpPr>
          <p:cNvPr id="68" name="Group 68"/>
          <p:cNvGrpSpPr/>
          <p:nvPr/>
        </p:nvGrpSpPr>
        <p:grpSpPr>
          <a:xfrm>
            <a:off x="13571696" y="4999196"/>
            <a:ext cx="3854767" cy="3168967"/>
            <a:chOff x="0" y="0"/>
            <a:chExt cx="5139690" cy="422529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5139690" cy="4225290"/>
            </a:xfrm>
            <a:custGeom>
              <a:avLst/>
              <a:gdLst/>
              <a:ahLst/>
              <a:cxnLst/>
              <a:rect l="l" t="t" r="r" b="b"/>
              <a:pathLst>
                <a:path w="5139690" h="4225290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4919218" y="0"/>
                  </a:lnTo>
                  <a:cubicBezTo>
                    <a:pt x="5041011" y="0"/>
                    <a:pt x="5139690" y="98679"/>
                    <a:pt x="5139690" y="220472"/>
                  </a:cubicBezTo>
                  <a:lnTo>
                    <a:pt x="5139690" y="4004818"/>
                  </a:lnTo>
                  <a:cubicBezTo>
                    <a:pt x="5139690" y="4126611"/>
                    <a:pt x="5041011" y="4225290"/>
                    <a:pt x="4919218" y="4225290"/>
                  </a:cubicBezTo>
                  <a:lnTo>
                    <a:pt x="220472" y="4225290"/>
                  </a:lnTo>
                  <a:cubicBezTo>
                    <a:pt x="98679" y="4225290"/>
                    <a:pt x="0" y="4126611"/>
                    <a:pt x="0" y="400481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CE4EE"/>
              </a:solidFill>
              <a:prstDash val="solid"/>
              <a:miter/>
            </a:ln>
          </p:spPr>
        </p:sp>
      </p:grpSp>
      <p:sp>
        <p:nvSpPr>
          <p:cNvPr id="70" name="TextBox 70"/>
          <p:cNvSpPr txBox="1"/>
          <p:nvPr/>
        </p:nvSpPr>
        <p:spPr>
          <a:xfrm>
            <a:off x="13853160" y="5233035"/>
            <a:ext cx="3291840" cy="596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1">
                <a:solidFill>
                  <a:srgbClr val="0E9F9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Chống sai sót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3853160" y="5909310"/>
            <a:ext cx="3291840" cy="2114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Quét lại trong 5 phút bị bỏ qua. Ca đêm qua nửa đêm ghi đúng ngày.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822960" y="8652510"/>
            <a:ext cx="16459200" cy="605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i="1">
                <a:solidFill>
                  <a:srgbClr val="5B6B7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Mỗi lần quét còn được ghi thô vào attendance_logs để đối chiếu.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71600" y="1028700"/>
            <a:ext cx="16916400" cy="176841"/>
            <a:chOff x="0" y="0"/>
            <a:chExt cx="22555200" cy="2357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555200" cy="235839"/>
            </a:xfrm>
            <a:custGeom>
              <a:avLst/>
              <a:gdLst/>
              <a:ahLst/>
              <a:cxnLst/>
              <a:rect l="l" t="t" r="r" b="b"/>
              <a:pathLst>
                <a:path w="22555200" h="235839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1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grpSp>
        <p:nvGrpSpPr>
          <p:cNvPr id="5" name="Group 5"/>
          <p:cNvGrpSpPr/>
          <p:nvPr/>
        </p:nvGrpSpPr>
        <p:grpSpPr>
          <a:xfrm>
            <a:off x="1371600" y="1242384"/>
            <a:ext cx="16916400" cy="176841"/>
            <a:chOff x="0" y="0"/>
            <a:chExt cx="22555200" cy="23578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555200" cy="235839"/>
            </a:xfrm>
            <a:custGeom>
              <a:avLst/>
              <a:gdLst/>
              <a:ahLst/>
              <a:cxnLst/>
              <a:rect l="l" t="t" r="r" b="b"/>
              <a:pathLst>
                <a:path w="22555200" h="235839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1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sp>
        <p:nvSpPr>
          <p:cNvPr id="7" name="Freeform 7"/>
          <p:cNvSpPr/>
          <p:nvPr/>
        </p:nvSpPr>
        <p:spPr>
          <a:xfrm>
            <a:off x="720728" y="685800"/>
            <a:ext cx="1066800" cy="914400"/>
          </a:xfrm>
          <a:custGeom>
            <a:avLst/>
            <a:gdLst/>
            <a:ahLst/>
            <a:cxnLst/>
            <a:rect l="l" t="t" r="r" b="b"/>
            <a:pathLst>
              <a:path w="1066800" h="914400">
                <a:moveTo>
                  <a:pt x="0" y="0"/>
                </a:moveTo>
                <a:lnTo>
                  <a:pt x="1066800" y="0"/>
                </a:lnTo>
                <a:lnTo>
                  <a:pt x="10668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2114550" y="720328"/>
            <a:ext cx="15430500" cy="868673"/>
            <a:chOff x="0" y="0"/>
            <a:chExt cx="20574000" cy="115823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574000" cy="1158231"/>
            </a:xfrm>
            <a:custGeom>
              <a:avLst/>
              <a:gdLst/>
              <a:ahLst/>
              <a:cxnLst/>
              <a:rect l="l" t="t" r="r" b="b"/>
              <a:pathLst>
                <a:path w="20574000" h="1158231">
                  <a:moveTo>
                    <a:pt x="0" y="0"/>
                  </a:moveTo>
                  <a:lnTo>
                    <a:pt x="20574000" y="0"/>
                  </a:lnTo>
                  <a:lnTo>
                    <a:pt x="20574000" y="1158231"/>
                  </a:lnTo>
                  <a:lnTo>
                    <a:pt x="0" y="115823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97461" b="-294775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20574000" cy="11772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b="1">
                  <a:solidFill>
                    <a:srgbClr val="4B546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3. Ứng dụng và dữ liệu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8625840" y="9734245"/>
            <a:ext cx="8122920" cy="37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HCMC University of Technology and Education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815816" y="2050256"/>
            <a:ext cx="8175307" cy="5157788"/>
            <a:chOff x="0" y="0"/>
            <a:chExt cx="10900410" cy="687705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900410" cy="6877050"/>
            </a:xfrm>
            <a:custGeom>
              <a:avLst/>
              <a:gdLst/>
              <a:ahLst/>
              <a:cxnLst/>
              <a:rect l="l" t="t" r="r" b="b"/>
              <a:pathLst>
                <a:path w="10900410" h="6877050">
                  <a:moveTo>
                    <a:pt x="0" y="220091"/>
                  </a:moveTo>
                  <a:cubicBezTo>
                    <a:pt x="0" y="98552"/>
                    <a:pt x="98552" y="0"/>
                    <a:pt x="220091" y="0"/>
                  </a:cubicBezTo>
                  <a:lnTo>
                    <a:pt x="10680319" y="0"/>
                  </a:lnTo>
                  <a:cubicBezTo>
                    <a:pt x="10801858" y="0"/>
                    <a:pt x="10900410" y="98552"/>
                    <a:pt x="10900410" y="220091"/>
                  </a:cubicBezTo>
                  <a:lnTo>
                    <a:pt x="10900410" y="6656959"/>
                  </a:lnTo>
                  <a:cubicBezTo>
                    <a:pt x="10900410" y="6778498"/>
                    <a:pt x="10801858" y="6877050"/>
                    <a:pt x="10680319" y="6877050"/>
                  </a:cubicBezTo>
                  <a:lnTo>
                    <a:pt x="220091" y="6877050"/>
                  </a:lnTo>
                  <a:cubicBezTo>
                    <a:pt x="98552" y="6877050"/>
                    <a:pt x="0" y="6778498"/>
                    <a:pt x="0" y="6656959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CE4EE"/>
              </a:solidFill>
              <a:prstDash val="solid"/>
              <a:miter/>
            </a:ln>
          </p:spPr>
        </p:sp>
      </p:grpSp>
      <p:sp>
        <p:nvSpPr>
          <p:cNvPr id="14" name="TextBox 14"/>
          <p:cNvSpPr txBox="1"/>
          <p:nvPr/>
        </p:nvSpPr>
        <p:spPr>
          <a:xfrm>
            <a:off x="1234440" y="2265045"/>
            <a:ext cx="7338060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1">
                <a:solidFill>
                  <a:srgbClr val="0F2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Admin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34440" y="3175635"/>
            <a:ext cx="7338060" cy="3888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1486" lvl="1" indent="-230743" algn="l">
              <a:lnSpc>
                <a:spcPts val="3060"/>
              </a:lnSpc>
              <a:buFont typeface="Arial"/>
              <a:buChar char="•"/>
            </a:pPr>
            <a:r>
              <a:rPr lang="en-US" sz="255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Đăng nhập và phân quyền</a:t>
            </a:r>
          </a:p>
          <a:p>
            <a:pPr marL="461486" lvl="1" indent="-230743" algn="l">
              <a:lnSpc>
                <a:spcPts val="3060"/>
              </a:lnSpc>
              <a:buFont typeface="Arial"/>
              <a:buChar char="•"/>
            </a:pPr>
            <a:r>
              <a:rPr lang="en-US" sz="255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Quản lý nhân viên: thêm, sửa, xóa, kích hoạt</a:t>
            </a:r>
          </a:p>
          <a:p>
            <a:pPr marL="461486" lvl="1" indent="-230743" algn="l">
              <a:lnSpc>
                <a:spcPts val="3060"/>
              </a:lnSpc>
              <a:buFont typeface="Arial"/>
              <a:buChar char="•"/>
            </a:pPr>
            <a:r>
              <a:rPr lang="en-US" sz="255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Quản lý ca làm việc và gán ca</a:t>
            </a:r>
          </a:p>
          <a:p>
            <a:pPr marL="461486" lvl="1" indent="-230743" algn="l">
              <a:lnSpc>
                <a:spcPts val="3060"/>
              </a:lnSpc>
              <a:buFont typeface="Arial"/>
              <a:buChar char="•"/>
            </a:pPr>
            <a:r>
              <a:rPr lang="en-US" sz="255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Đăng ký vân tay, theo dõi realtime</a:t>
            </a:r>
          </a:p>
          <a:p>
            <a:pPr marL="461486" lvl="1" indent="-230743" algn="l">
              <a:lnSpc>
                <a:spcPts val="3060"/>
              </a:lnSpc>
              <a:buFont typeface="Arial"/>
              <a:buChar char="•"/>
            </a:pPr>
            <a:r>
              <a:rPr lang="en-US" sz="255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Lịch sử chấm công và dashboard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292304" y="2050256"/>
            <a:ext cx="8175307" cy="5157788"/>
            <a:chOff x="0" y="0"/>
            <a:chExt cx="10900410" cy="687705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900410" cy="6877050"/>
            </a:xfrm>
            <a:custGeom>
              <a:avLst/>
              <a:gdLst/>
              <a:ahLst/>
              <a:cxnLst/>
              <a:rect l="l" t="t" r="r" b="b"/>
              <a:pathLst>
                <a:path w="10900410" h="6877050">
                  <a:moveTo>
                    <a:pt x="0" y="220091"/>
                  </a:moveTo>
                  <a:cubicBezTo>
                    <a:pt x="0" y="98552"/>
                    <a:pt x="98552" y="0"/>
                    <a:pt x="220091" y="0"/>
                  </a:cubicBezTo>
                  <a:lnTo>
                    <a:pt x="10680319" y="0"/>
                  </a:lnTo>
                  <a:cubicBezTo>
                    <a:pt x="10801858" y="0"/>
                    <a:pt x="10900410" y="98552"/>
                    <a:pt x="10900410" y="220091"/>
                  </a:cubicBezTo>
                  <a:lnTo>
                    <a:pt x="10900410" y="6656959"/>
                  </a:lnTo>
                  <a:cubicBezTo>
                    <a:pt x="10900410" y="6778498"/>
                    <a:pt x="10801858" y="6877050"/>
                    <a:pt x="10680319" y="6877050"/>
                  </a:cubicBezTo>
                  <a:lnTo>
                    <a:pt x="220091" y="6877050"/>
                  </a:lnTo>
                  <a:cubicBezTo>
                    <a:pt x="98552" y="6877050"/>
                    <a:pt x="0" y="6778498"/>
                    <a:pt x="0" y="6656959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CE4EE"/>
              </a:solidFill>
              <a:prstDash val="solid"/>
              <a:miter/>
            </a:ln>
          </p:spPr>
        </p:sp>
      </p:grpSp>
      <p:sp>
        <p:nvSpPr>
          <p:cNvPr id="18" name="TextBox 18"/>
          <p:cNvSpPr txBox="1"/>
          <p:nvPr/>
        </p:nvSpPr>
        <p:spPr>
          <a:xfrm>
            <a:off x="9710928" y="2265045"/>
            <a:ext cx="7338060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1">
                <a:solidFill>
                  <a:srgbClr val="0E9F9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Nhân viên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710928" y="3175635"/>
            <a:ext cx="7338060" cy="3888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1486" lvl="1" indent="-230743" algn="l">
              <a:lnSpc>
                <a:spcPts val="3060"/>
              </a:lnSpc>
              <a:buFont typeface="Arial"/>
              <a:buChar char="•"/>
            </a:pPr>
            <a:r>
              <a:rPr lang="en-US" sz="255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Xem thông tin cá nhân</a:t>
            </a:r>
          </a:p>
          <a:p>
            <a:pPr marL="461486" lvl="1" indent="-230743" algn="l">
              <a:lnSpc>
                <a:spcPts val="3060"/>
              </a:lnSpc>
              <a:buFont typeface="Arial"/>
              <a:buChar char="•"/>
            </a:pPr>
            <a:r>
              <a:rPr lang="en-US" sz="255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Đổi ảnh đại diện (Firebase Storage) và mật khẩu</a:t>
            </a:r>
          </a:p>
          <a:p>
            <a:pPr marL="461486" lvl="1" indent="-230743" algn="l">
              <a:lnSpc>
                <a:spcPts val="3060"/>
              </a:lnSpc>
              <a:buFont typeface="Arial"/>
              <a:buChar char="•"/>
            </a:pPr>
            <a:r>
              <a:rPr lang="en-US" sz="255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Xem trạng thái chấm công realtime</a:t>
            </a:r>
          </a:p>
          <a:p>
            <a:pPr marL="461486" lvl="1" indent="-230743" algn="l">
              <a:lnSpc>
                <a:spcPts val="3060"/>
              </a:lnSpc>
              <a:buFont typeface="Arial"/>
              <a:buChar char="•"/>
            </a:pPr>
            <a:r>
              <a:rPr lang="en-US" sz="255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Lịch sử chấm công, lọc theo thời gian</a:t>
            </a:r>
          </a:p>
          <a:p>
            <a:pPr marL="461486" lvl="1" indent="-230743" algn="l">
              <a:lnSpc>
                <a:spcPts val="3060"/>
              </a:lnSpc>
              <a:buFont typeface="Arial"/>
              <a:buChar char="•"/>
            </a:pPr>
            <a:r>
              <a:rPr lang="en-US" sz="255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Nhận thông báo đẩy (FCM)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813435" y="7671435"/>
            <a:ext cx="16656558" cy="1802130"/>
            <a:chOff x="0" y="0"/>
            <a:chExt cx="22208744" cy="240284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2208744" cy="2402840"/>
            </a:xfrm>
            <a:custGeom>
              <a:avLst/>
              <a:gdLst/>
              <a:ahLst/>
              <a:cxnLst/>
              <a:rect l="l" t="t" r="r" b="b"/>
              <a:pathLst>
                <a:path w="22208744" h="2402840">
                  <a:moveTo>
                    <a:pt x="0" y="221869"/>
                  </a:moveTo>
                  <a:cubicBezTo>
                    <a:pt x="0" y="99314"/>
                    <a:pt x="99314" y="0"/>
                    <a:pt x="221869" y="0"/>
                  </a:cubicBezTo>
                  <a:lnTo>
                    <a:pt x="21986875" y="0"/>
                  </a:lnTo>
                  <a:cubicBezTo>
                    <a:pt x="22109430" y="0"/>
                    <a:pt x="22208744" y="99314"/>
                    <a:pt x="22208744" y="221869"/>
                  </a:cubicBezTo>
                  <a:lnTo>
                    <a:pt x="22208744" y="2180971"/>
                  </a:lnTo>
                  <a:cubicBezTo>
                    <a:pt x="22208744" y="2303526"/>
                    <a:pt x="22109430" y="2402840"/>
                    <a:pt x="21986875" y="2402840"/>
                  </a:cubicBezTo>
                  <a:lnTo>
                    <a:pt x="221869" y="2402840"/>
                  </a:lnTo>
                  <a:cubicBezTo>
                    <a:pt x="99314" y="2402840"/>
                    <a:pt x="0" y="2303526"/>
                    <a:pt x="0" y="2180971"/>
                  </a:cubicBezTo>
                  <a:close/>
                </a:path>
              </a:pathLst>
            </a:custGeom>
            <a:solidFill>
              <a:srgbClr val="0F2A4A"/>
            </a:solidFill>
            <a:ln w="19050" cap="sq">
              <a:solidFill>
                <a:srgbClr val="0F2A4A"/>
              </a:solidFill>
              <a:prstDash val="solid"/>
              <a:miter/>
            </a:ln>
          </p:spPr>
        </p:sp>
      </p:grpSp>
      <p:sp>
        <p:nvSpPr>
          <p:cNvPr id="22" name="TextBox 22"/>
          <p:cNvSpPr txBox="1"/>
          <p:nvPr/>
        </p:nvSpPr>
        <p:spPr>
          <a:xfrm>
            <a:off x="1234440" y="7839075"/>
            <a:ext cx="15773400" cy="596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1">
                <a:solidFill>
                  <a:srgbClr val="F59E0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Firebase Realtime Database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34440" y="8534400"/>
            <a:ext cx="15773400" cy="655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users · employees · shifts · attendance · attendance_logs · enrollment_requests · devices · settings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71600" y="1028700"/>
            <a:ext cx="16916400" cy="176841"/>
            <a:chOff x="0" y="0"/>
            <a:chExt cx="22555200" cy="2357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555200" cy="235839"/>
            </a:xfrm>
            <a:custGeom>
              <a:avLst/>
              <a:gdLst/>
              <a:ahLst/>
              <a:cxnLst/>
              <a:rect l="l" t="t" r="r" b="b"/>
              <a:pathLst>
                <a:path w="22555200" h="235839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1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grpSp>
        <p:nvGrpSpPr>
          <p:cNvPr id="5" name="Group 5"/>
          <p:cNvGrpSpPr/>
          <p:nvPr/>
        </p:nvGrpSpPr>
        <p:grpSpPr>
          <a:xfrm>
            <a:off x="1371600" y="1242384"/>
            <a:ext cx="16916400" cy="176841"/>
            <a:chOff x="0" y="0"/>
            <a:chExt cx="22555200" cy="23578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555200" cy="235839"/>
            </a:xfrm>
            <a:custGeom>
              <a:avLst/>
              <a:gdLst/>
              <a:ahLst/>
              <a:cxnLst/>
              <a:rect l="l" t="t" r="r" b="b"/>
              <a:pathLst>
                <a:path w="22555200" h="235839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1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sp>
        <p:nvSpPr>
          <p:cNvPr id="7" name="Freeform 7"/>
          <p:cNvSpPr/>
          <p:nvPr/>
        </p:nvSpPr>
        <p:spPr>
          <a:xfrm>
            <a:off x="720728" y="685800"/>
            <a:ext cx="1066800" cy="914400"/>
          </a:xfrm>
          <a:custGeom>
            <a:avLst/>
            <a:gdLst/>
            <a:ahLst/>
            <a:cxnLst/>
            <a:rect l="l" t="t" r="r" b="b"/>
            <a:pathLst>
              <a:path w="1066800" h="914400">
                <a:moveTo>
                  <a:pt x="0" y="0"/>
                </a:moveTo>
                <a:lnTo>
                  <a:pt x="1066800" y="0"/>
                </a:lnTo>
                <a:lnTo>
                  <a:pt x="10668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625840" y="9734245"/>
            <a:ext cx="8122920" cy="37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HCMC University of Technology and Education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2114550" y="720328"/>
            <a:ext cx="15430500" cy="868673"/>
            <a:chOff x="0" y="0"/>
            <a:chExt cx="20574000" cy="115823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574000" cy="1158231"/>
            </a:xfrm>
            <a:custGeom>
              <a:avLst/>
              <a:gdLst/>
              <a:ahLst/>
              <a:cxnLst/>
              <a:rect l="l" t="t" r="r" b="b"/>
              <a:pathLst>
                <a:path w="20574000" h="1158231">
                  <a:moveTo>
                    <a:pt x="0" y="0"/>
                  </a:moveTo>
                  <a:lnTo>
                    <a:pt x="20574000" y="0"/>
                  </a:lnTo>
                  <a:lnTo>
                    <a:pt x="20574000" y="1158231"/>
                  </a:lnTo>
                  <a:lnTo>
                    <a:pt x="0" y="115823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97461" b="-294775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20574000" cy="11772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b="1">
                  <a:solidFill>
                    <a:srgbClr val="4B546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4. Kết quả và hướng hoàn thiện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81526" y="2118836"/>
            <a:ext cx="8175307" cy="5637847"/>
            <a:chOff x="0" y="0"/>
            <a:chExt cx="10900410" cy="751713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900410" cy="7517130"/>
            </a:xfrm>
            <a:custGeom>
              <a:avLst/>
              <a:gdLst/>
              <a:ahLst/>
              <a:cxnLst/>
              <a:rect l="l" t="t" r="r" b="b"/>
              <a:pathLst>
                <a:path w="10900410" h="7517130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10680446" y="0"/>
                  </a:lnTo>
                  <a:cubicBezTo>
                    <a:pt x="10801985" y="0"/>
                    <a:pt x="10900410" y="98552"/>
                    <a:pt x="10900410" y="219964"/>
                  </a:cubicBezTo>
                  <a:lnTo>
                    <a:pt x="10900410" y="7297166"/>
                  </a:lnTo>
                  <a:cubicBezTo>
                    <a:pt x="10900410" y="7418705"/>
                    <a:pt x="10801858" y="7517130"/>
                    <a:pt x="10680446" y="7517130"/>
                  </a:cubicBezTo>
                  <a:lnTo>
                    <a:pt x="219964" y="7517130"/>
                  </a:lnTo>
                  <a:cubicBezTo>
                    <a:pt x="98552" y="7517130"/>
                    <a:pt x="0" y="7418578"/>
                    <a:pt x="0" y="7297166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1A3C66"/>
              </a:solidFill>
              <a:prstDash val="solid"/>
              <a:miter/>
            </a:ln>
          </p:spPr>
        </p:sp>
      </p:grpSp>
      <p:sp>
        <p:nvSpPr>
          <p:cNvPr id="14" name="TextBox 14"/>
          <p:cNvSpPr txBox="1"/>
          <p:nvPr/>
        </p:nvSpPr>
        <p:spPr>
          <a:xfrm>
            <a:off x="1234440" y="2333625"/>
            <a:ext cx="7269480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1">
                <a:solidFill>
                  <a:srgbClr val="F59E0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Đã làm được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34440" y="3303270"/>
            <a:ext cx="7338060" cy="2514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8632" lvl="1" indent="-244316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ESP32 đăng ký vân tay và chấm công chạy trên phần cứng thật</a:t>
            </a:r>
          </a:p>
          <a:p>
            <a:pPr marL="488632" lvl="1" indent="-244316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ESP32 tự tính vào ca, ra ca, trễ, sớm và tăng ca</a:t>
            </a:r>
          </a:p>
          <a:p>
            <a:pPr marL="488632" lvl="1" indent="-244316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Dữ liệu đồng bộ realtime qua Firebase</a:t>
            </a:r>
          </a:p>
          <a:p>
            <a:pPr marL="488632" lvl="1" indent="-244316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Ứng dụng có đăng nhập, quản lý nhân viên, ca và lịch sử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292304" y="2118836"/>
            <a:ext cx="8175307" cy="5637847"/>
            <a:chOff x="0" y="0"/>
            <a:chExt cx="10900410" cy="751713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900410" cy="7517130"/>
            </a:xfrm>
            <a:custGeom>
              <a:avLst/>
              <a:gdLst/>
              <a:ahLst/>
              <a:cxnLst/>
              <a:rect l="l" t="t" r="r" b="b"/>
              <a:pathLst>
                <a:path w="10900410" h="7517130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10680446" y="0"/>
                  </a:lnTo>
                  <a:cubicBezTo>
                    <a:pt x="10801985" y="0"/>
                    <a:pt x="10900410" y="98552"/>
                    <a:pt x="10900410" y="219964"/>
                  </a:cubicBezTo>
                  <a:lnTo>
                    <a:pt x="10900410" y="7297166"/>
                  </a:lnTo>
                  <a:cubicBezTo>
                    <a:pt x="10900410" y="7418705"/>
                    <a:pt x="10801858" y="7517130"/>
                    <a:pt x="10680446" y="7517130"/>
                  </a:cubicBezTo>
                  <a:lnTo>
                    <a:pt x="219964" y="7517130"/>
                  </a:lnTo>
                  <a:cubicBezTo>
                    <a:pt x="98552" y="7517130"/>
                    <a:pt x="0" y="7418578"/>
                    <a:pt x="0" y="7297166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1A3C66"/>
              </a:solidFill>
              <a:prstDash val="solid"/>
              <a:miter/>
            </a:ln>
          </p:spPr>
        </p:sp>
      </p:grpSp>
      <p:sp>
        <p:nvSpPr>
          <p:cNvPr id="18" name="TextBox 18"/>
          <p:cNvSpPr txBox="1"/>
          <p:nvPr/>
        </p:nvSpPr>
        <p:spPr>
          <a:xfrm>
            <a:off x="9710928" y="2333625"/>
            <a:ext cx="7269480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1">
                <a:solidFill>
                  <a:srgbClr val="F59E0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Hướng hoàn thiện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642348" y="3360106"/>
            <a:ext cx="7338060" cy="169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8632" lvl="1" indent="-244316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Siết Firebase Security Rules (hiện đang mở)</a:t>
            </a:r>
          </a:p>
          <a:p>
            <a:pPr marL="488632" lvl="1" indent="-244316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Kiểm thử trên thiết bị Android thật, build APK</a:t>
            </a:r>
          </a:p>
          <a:p>
            <a:pPr marL="488632" lvl="1" indent="-244316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Lưu tạm dữ liệu khi mất mạng rồi gửi bù</a:t>
            </a:r>
          </a:p>
          <a:p>
            <a:pPr marL="488632" lvl="1" indent="-244316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Mở rộng nhiều trạm điểm danh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71600" y="1028700"/>
            <a:ext cx="16916400" cy="176841"/>
            <a:chOff x="0" y="0"/>
            <a:chExt cx="22555200" cy="2357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555200" cy="235839"/>
            </a:xfrm>
            <a:custGeom>
              <a:avLst/>
              <a:gdLst/>
              <a:ahLst/>
              <a:cxnLst/>
              <a:rect l="l" t="t" r="r" b="b"/>
              <a:pathLst>
                <a:path w="22555200" h="235839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1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grpSp>
        <p:nvGrpSpPr>
          <p:cNvPr id="5" name="Group 5"/>
          <p:cNvGrpSpPr/>
          <p:nvPr/>
        </p:nvGrpSpPr>
        <p:grpSpPr>
          <a:xfrm>
            <a:off x="1371600" y="1242384"/>
            <a:ext cx="16916400" cy="176841"/>
            <a:chOff x="0" y="0"/>
            <a:chExt cx="22555200" cy="23578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555200" cy="235839"/>
            </a:xfrm>
            <a:custGeom>
              <a:avLst/>
              <a:gdLst/>
              <a:ahLst/>
              <a:cxnLst/>
              <a:rect l="l" t="t" r="r" b="b"/>
              <a:pathLst>
                <a:path w="22555200" h="235839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1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sp>
        <p:nvSpPr>
          <p:cNvPr id="7" name="Freeform 7"/>
          <p:cNvSpPr/>
          <p:nvPr/>
        </p:nvSpPr>
        <p:spPr>
          <a:xfrm>
            <a:off x="720728" y="685800"/>
            <a:ext cx="1066800" cy="914400"/>
          </a:xfrm>
          <a:custGeom>
            <a:avLst/>
            <a:gdLst/>
            <a:ahLst/>
            <a:cxnLst/>
            <a:rect l="l" t="t" r="r" b="b"/>
            <a:pathLst>
              <a:path w="1066800" h="914400">
                <a:moveTo>
                  <a:pt x="0" y="0"/>
                </a:moveTo>
                <a:lnTo>
                  <a:pt x="1066800" y="0"/>
                </a:lnTo>
                <a:lnTo>
                  <a:pt x="10668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625840" y="9734245"/>
            <a:ext cx="8122920" cy="37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HCMC University of Technology and Education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355430" y="4274820"/>
            <a:ext cx="10104120" cy="1051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20"/>
              </a:lnSpc>
            </a:pPr>
            <a:r>
              <a:rPr lang="en-US" sz="8100" b="1">
                <a:gradFill>
                  <a:gsLst>
                    <a:gs pos="0">
                      <a:srgbClr val="4987E3">
                        <a:alpha val="100000"/>
                      </a:srgbClr>
                    </a:gs>
                    <a:gs pos="100000">
                      <a:srgbClr val="9CC769">
                        <a:alpha val="100000"/>
                      </a:srgbClr>
                    </a:gs>
                  </a:gsLst>
                  <a:lin ang="5400000"/>
                </a:gradFill>
                <a:latin typeface="Verdana Bold"/>
                <a:ea typeface="Verdana Bold"/>
                <a:cs typeface="Verdana Bold"/>
                <a:sym typeface="Verdana Bold"/>
              </a:rPr>
              <a:t>Thank You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863840" y="8865870"/>
            <a:ext cx="5189220" cy="461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68"/>
              </a:lnSpc>
            </a:pPr>
            <a:r>
              <a:rPr lang="en-US" sz="21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www.themegallery.com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582</Words>
  <Application>Microsoft Office PowerPoint</Application>
  <PresentationFormat>Custom</PresentationFormat>
  <Paragraphs>94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Calibri (MS)</vt:lpstr>
      <vt:lpstr>Arial Bold</vt:lpstr>
      <vt:lpstr>Calibri (MS) Italics</vt:lpstr>
      <vt:lpstr>Calibri (MS) Bold</vt:lpstr>
      <vt:lpstr>Tahoma Bold</vt:lpstr>
      <vt:lpstr>Verdana Bold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BaoCao_Tuan4_CK.pptx</dc:title>
  <cp:lastModifiedBy>thinh thinh</cp:lastModifiedBy>
  <cp:revision>2</cp:revision>
  <dcterms:created xsi:type="dcterms:W3CDTF">2006-08-16T00:00:00Z</dcterms:created>
  <dcterms:modified xsi:type="dcterms:W3CDTF">2026-09-21T01:53:31Z</dcterms:modified>
  <dc:identifier>DAHVDzUlzMA</dc:identifier>
</cp:coreProperties>
</file>