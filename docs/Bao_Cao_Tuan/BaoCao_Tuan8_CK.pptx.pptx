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Arial Bold" panose="020B0704020202020204" pitchFamily="34" charset="0"/>
      <p:regular r:id="rId13"/>
      <p:bold r:id="rId14"/>
    </p:embeddedFont>
    <p:embeddedFont>
      <p:font typeface="Calibri (MS)" panose="020B0604020202020204" charset="0"/>
      <p:regular r:id="rId15"/>
    </p:embeddedFont>
    <p:embeddedFont>
      <p:font typeface="Calibri (MS) Bold" panose="020B0604020202020204" charset="0"/>
      <p:regular r:id="rId16"/>
    </p:embeddedFont>
    <p:embeddedFont>
      <p:font typeface="Tahoma Bold" panose="020B0804030504040204" pitchFamily="34" charset="0"/>
      <p:regular r:id="rId17"/>
      <p:bold r:id="rId18"/>
    </p:embeddedFont>
    <p:embeddedFont>
      <p:font typeface="Verdana Bold" panose="020B0804030504040204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257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560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00600" y="3214668"/>
            <a:ext cx="12915900" cy="2628899"/>
            <a:chOff x="0" y="0"/>
            <a:chExt cx="17221200" cy="350519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221200" cy="3505196"/>
            </a:xfrm>
            <a:custGeom>
              <a:avLst/>
              <a:gdLst/>
              <a:ahLst/>
              <a:cxnLst/>
              <a:rect l="l" t="t" r="r" b="b"/>
              <a:pathLst>
                <a:path w="17221200" h="3505196">
                  <a:moveTo>
                    <a:pt x="0" y="0"/>
                  </a:moveTo>
                  <a:lnTo>
                    <a:pt x="17221200" y="0"/>
                  </a:lnTo>
                  <a:lnTo>
                    <a:pt x="17221200" y="3505196"/>
                  </a:lnTo>
                  <a:lnTo>
                    <a:pt x="0" y="3505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5730" b="-4573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7221200" cy="3533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7200"/>
                </a:lnSpc>
              </a:pPr>
              <a:r>
                <a:rPr lang="en-US" sz="6000" b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Môn: Phát triển ứng dụng di động</a:t>
              </a:r>
            </a:p>
            <a:p>
              <a:pPr algn="r">
                <a:lnSpc>
                  <a:spcPts val="7200"/>
                </a:lnSpc>
              </a:pPr>
              <a:r>
                <a:rPr lang="en-US" sz="6000" b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(Tuần 8-Project nâng cao)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70906" y="5670747"/>
            <a:ext cx="4715580" cy="81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000" b="1">
                <a:solidFill>
                  <a:srgbClr val="D9520F"/>
                </a:solidFill>
                <a:latin typeface="Tahoma Bold"/>
                <a:ea typeface="Tahoma Bold"/>
                <a:cs typeface="Tahoma Bold"/>
                <a:sym typeface="Tahoma Bold"/>
              </a:rPr>
              <a:t>Guide: Huỳnh Hoàng Hà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0"/>
            <a:ext cx="18288000" cy="2628900"/>
            <a:chOff x="0" y="0"/>
            <a:chExt cx="24384000" cy="3505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3505200"/>
            </a:xfrm>
            <a:custGeom>
              <a:avLst/>
              <a:gdLst/>
              <a:ahLst/>
              <a:cxnLst/>
              <a:rect l="l" t="t" r="r" b="b"/>
              <a:pathLst>
                <a:path w="24384000" h="3505200">
                  <a:moveTo>
                    <a:pt x="0" y="0"/>
                  </a:moveTo>
                  <a:lnTo>
                    <a:pt x="24384000" y="0"/>
                  </a:lnTo>
                  <a:lnTo>
                    <a:pt x="24384000" y="3505200"/>
                  </a:lnTo>
                  <a:lnTo>
                    <a:pt x="0" y="350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193" b="-519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691182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ATTENDANCE – Ứng dụng di động chấm công bằng vân tay</a:t>
            </a:r>
            <a:endParaRPr lang="en-US" sz="4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03020"/>
            <a:ext cx="1691182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Phát triển ứng dụng di động  |  React Native + TypeScript  |  Firebase  |  ESP32 + AS608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4978908" cy="2537460"/>
          </a:xfrm>
          <a:prstGeom prst="roundRect">
            <a:avLst>
              <a:gd name="adj" fmla="val 6486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41448"/>
            <a:ext cx="576072" cy="57607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41448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714500" y="2441448"/>
            <a:ext cx="37444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Trạm chấm công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54680"/>
            <a:ext cx="4430268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NodeMCU LuaNode32 + cảm biến vân tay AS608 (UART). LED xanh/đỏ và buzzer báo trạng thái. Gửi dữ liệu lên Firebase qua HTTP/REST.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829300" y="3188970"/>
            <a:ext cx="658368" cy="548640"/>
          </a:xfrm>
          <a:prstGeom prst="rightArrow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52260" y="2194560"/>
            <a:ext cx="4978908" cy="2537460"/>
          </a:xfrm>
          <a:prstGeom prst="roundRect">
            <a:avLst>
              <a:gd name="adj" fmla="val 6486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26580" y="2441448"/>
            <a:ext cx="576072" cy="57607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26580" y="2441448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2441448"/>
            <a:ext cx="37444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2550" dirty="0"/>
          </a:p>
        </p:txBody>
      </p:sp>
      <p:sp>
        <p:nvSpPr>
          <p:cNvPr id="14" name="Text 12"/>
          <p:cNvSpPr txBox="1"/>
          <p:nvPr/>
        </p:nvSpPr>
        <p:spPr>
          <a:xfrm>
            <a:off x="6926580" y="3154680"/>
            <a:ext cx="4430268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(Email/Password), Realtime Database và Storage. Lưu trữ và đồng bộ dữ liệu giữa trạm chấm công và ứng dụng.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1795760" y="3188970"/>
            <a:ext cx="658368" cy="548640"/>
          </a:xfrm>
          <a:prstGeom prst="rightArrow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618720" y="2194560"/>
            <a:ext cx="4978908" cy="2537460"/>
          </a:xfrm>
          <a:prstGeom prst="roundRect">
            <a:avLst>
              <a:gd name="adj" fmla="val 6486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93040" y="2441448"/>
            <a:ext cx="576072" cy="576072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893040" y="2441448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3647420" y="2441448"/>
            <a:ext cx="37444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Smart Attendance</a:t>
            </a:r>
            <a:endParaRPr lang="en-US" sz="2550" dirty="0"/>
          </a:p>
        </p:txBody>
      </p:sp>
      <p:sp>
        <p:nvSpPr>
          <p:cNvPr id="20" name="Text 18"/>
          <p:cNvSpPr txBox="1"/>
          <p:nvPr/>
        </p:nvSpPr>
        <p:spPr>
          <a:xfrm>
            <a:off x="12893040" y="3154680"/>
            <a:ext cx="4430268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TypeScript trên Android. Realtime Listener cập nhật giao diện ngay khi có lượt quét mới, không cần tải lại.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85800" y="5074920"/>
            <a:ext cx="5417820" cy="2880360"/>
          </a:xfrm>
          <a:prstGeom prst="roundRect">
            <a:avLst>
              <a:gd name="adj" fmla="val 476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552" y="5239512"/>
            <a:ext cx="48143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5829300"/>
            <a:ext cx="4814316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và thống kê</a:t>
            </a:r>
            <a:endParaRPr lang="en-US" dirty="0"/>
          </a:p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nhân viên: thêm, sửa, xóa</a:t>
            </a:r>
            <a:endParaRPr lang="en-US" dirty="0"/>
          </a:p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ký, liên kết vân tay</a:t>
            </a:r>
            <a:endParaRPr lang="en-US" dirty="0"/>
          </a:p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ca làm việc</a:t>
            </a:r>
            <a:endParaRPr lang="en-US" dirty="0"/>
          </a:p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sử, tìm kiếm, lọc, báo cáo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432804" y="5074920"/>
            <a:ext cx="5417820" cy="2880360"/>
          </a:xfrm>
          <a:prstGeom prst="roundRect">
            <a:avLst>
              <a:gd name="adj" fmla="val 476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34556" y="5239512"/>
            <a:ext cx="48143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734556" y="5829300"/>
            <a:ext cx="4814316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cá nhân</a:t>
            </a:r>
            <a:endParaRPr lang="en-US" dirty="0"/>
          </a:p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ca làm việc được phân công</a:t>
            </a:r>
            <a:endParaRPr lang="en-US" dirty="0"/>
          </a:p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chấm công trong ngày</a:t>
            </a:r>
            <a:endParaRPr lang="en-US" dirty="0"/>
          </a:p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check-in / check-out</a:t>
            </a:r>
            <a:endParaRPr lang="en-US" dirty="0"/>
          </a:p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 đi trễ, giờ làm, giờ tăng ca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12179808" y="5074920"/>
            <a:ext cx="5417820" cy="2880360"/>
          </a:xfrm>
          <a:prstGeom prst="roundRect">
            <a:avLst>
              <a:gd name="adj" fmla="val 4762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481560" y="5239512"/>
            <a:ext cx="48143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ứng dụng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12481560" y="5829300"/>
            <a:ext cx="4814316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Firebase, phân quyền theo vai trò</a:t>
            </a:r>
            <a:endParaRPr lang="en-US" dirty="0"/>
          </a:p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hướng giao diện theo vai trò</a:t>
            </a:r>
            <a:endParaRPr lang="en-US" dirty="0"/>
          </a:p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Listener đồng bộ dữ liệu</a:t>
            </a:r>
            <a:endParaRPr lang="en-US" dirty="0"/>
          </a:p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trúc: components, screens, services, types, utils</a:t>
            </a:r>
            <a:endParaRPr lang="en-US" dirty="0"/>
          </a:p>
          <a:p>
            <a:pPr marL="514350" indent="-514350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services tách riêng phần giao tiếp Firebase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85800" y="8229600"/>
            <a:ext cx="836676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B7F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" y="836676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chấm công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8805672"/>
            <a:ext cx="7818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quét đầu trong ngày được ghi nhận là Check-in; lần quét sau (cách tối thiểu 5 phút) là Check-out. Hệ thống tự tính đi trễ, giờ làm và tăng ca theo ca làm việc.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9368028" y="8229600"/>
            <a:ext cx="822960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B7F8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42348" y="8366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và hướng phát triển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9642348" y="8805672"/>
            <a:ext cx="7680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 ứng dụng hai vai trò, tích hợp trạm ESP32 + AS608, kiểm thử trên Android. Hướng phát triển: Push Notification (FCM), hỗ trợ iOS.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856405" y="337869"/>
            <a:ext cx="14892355" cy="1558502"/>
            <a:chOff x="0" y="0"/>
            <a:chExt cx="20970240" cy="21945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970239" cy="2194560"/>
            </a:xfrm>
            <a:custGeom>
              <a:avLst/>
              <a:gdLst/>
              <a:ahLst/>
              <a:cxnLst/>
              <a:rect l="l" t="t" r="r" b="b"/>
              <a:pathLst>
                <a:path w="20970239" h="2194560">
                  <a:moveTo>
                    <a:pt x="0" y="0"/>
                  </a:moveTo>
                  <a:lnTo>
                    <a:pt x="20970239" y="0"/>
                  </a:lnTo>
                  <a:lnTo>
                    <a:pt x="209702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6190" b="-13619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20970240" cy="2308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0F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Nhận diện biển báo giao thông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96497" y="1672571"/>
            <a:ext cx="15727680" cy="1097280"/>
            <a:chOff x="0" y="0"/>
            <a:chExt cx="20970240" cy="14630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970239" cy="1463040"/>
            </a:xfrm>
            <a:custGeom>
              <a:avLst/>
              <a:gdLst/>
              <a:ahLst/>
              <a:cxnLst/>
              <a:rect l="l" t="t" r="r" b="b"/>
              <a:pathLst>
                <a:path w="20970239" h="1463040">
                  <a:moveTo>
                    <a:pt x="0" y="0"/>
                  </a:moveTo>
                  <a:lnTo>
                    <a:pt x="20970239" y="0"/>
                  </a:lnTo>
                  <a:lnTo>
                    <a:pt x="20970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9285" b="-22928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20970240" cy="1539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0F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Enhanced LeNet-5 trên bộ dữ liệu GTSDB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84583" y="3096263"/>
            <a:ext cx="3683003" cy="3500123"/>
            <a:chOff x="0" y="0"/>
            <a:chExt cx="4910671" cy="466683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10709" cy="4666869"/>
            </a:xfrm>
            <a:custGeom>
              <a:avLst/>
              <a:gdLst/>
              <a:ahLst/>
              <a:cxnLst/>
              <a:rect l="l" t="t" r="r" b="b"/>
              <a:pathLst>
                <a:path w="4910709" h="466686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665091" y="0"/>
                  </a:lnTo>
                  <a:cubicBezTo>
                    <a:pt x="4800727" y="0"/>
                    <a:pt x="4910709" y="109982"/>
                    <a:pt x="4910709" y="245618"/>
                  </a:cubicBezTo>
                  <a:lnTo>
                    <a:pt x="4910709" y="4421251"/>
                  </a:lnTo>
                  <a:cubicBezTo>
                    <a:pt x="4910709" y="4556887"/>
                    <a:pt x="4800727" y="4666869"/>
                    <a:pt x="46650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F3F7FB"/>
            </a:solidFill>
            <a:ln w="25400" cap="sq">
              <a:solidFill>
                <a:srgbClr val="D5DEE8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280160" y="3383280"/>
            <a:ext cx="3291840" cy="914400"/>
            <a:chOff x="0" y="0"/>
            <a:chExt cx="4389120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389120" cy="1219200"/>
            </a:xfrm>
            <a:custGeom>
              <a:avLst/>
              <a:gdLst/>
              <a:ahLst/>
              <a:cxnLst/>
              <a:rect l="l" t="t" r="r" b="b"/>
              <a:pathLst>
                <a:path w="4389120" h="121920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146" b="-2014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438912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đầu vào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71600" y="4368165"/>
            <a:ext cx="3108960" cy="42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dirty="0" err="1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Ảnh</a:t>
            </a:r>
            <a:r>
              <a:rPr lang="en-US" sz="2799" dirty="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dirty="0" err="1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biển</a:t>
            </a:r>
            <a:r>
              <a:rPr lang="en-US" sz="2799" dirty="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dirty="0" err="1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báo</a:t>
            </a:r>
            <a:r>
              <a:rPr lang="en-US" sz="2799" dirty="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 GTSRB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754880" y="4206240"/>
            <a:ext cx="548640" cy="914400"/>
            <a:chOff x="0" y="0"/>
            <a:chExt cx="73152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1520" cy="1219200"/>
            </a:xfrm>
            <a:custGeom>
              <a:avLst/>
              <a:gdLst/>
              <a:ahLst/>
              <a:cxnLst/>
              <a:rect l="l" t="t" r="r" b="b"/>
              <a:pathLst>
                <a:path w="731520" h="121920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3839" r="-16383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731520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5B6B7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90823" y="3096263"/>
            <a:ext cx="3683003" cy="3500123"/>
            <a:chOff x="0" y="0"/>
            <a:chExt cx="4910671" cy="466683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910709" cy="4666869"/>
            </a:xfrm>
            <a:custGeom>
              <a:avLst/>
              <a:gdLst/>
              <a:ahLst/>
              <a:cxnLst/>
              <a:rect l="l" t="t" r="r" b="b"/>
              <a:pathLst>
                <a:path w="4910709" h="466686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665091" y="0"/>
                  </a:lnTo>
                  <a:cubicBezTo>
                    <a:pt x="4800727" y="0"/>
                    <a:pt x="4910709" y="109982"/>
                    <a:pt x="4910709" y="245618"/>
                  </a:cubicBezTo>
                  <a:lnTo>
                    <a:pt x="4910709" y="4421251"/>
                  </a:lnTo>
                  <a:cubicBezTo>
                    <a:pt x="4910709" y="4556887"/>
                    <a:pt x="4800727" y="4666869"/>
                    <a:pt x="46650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F3F7FB"/>
            </a:solidFill>
            <a:ln w="25400" cap="sq">
              <a:solidFill>
                <a:srgbClr val="D5DEE8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486400" y="3383280"/>
            <a:ext cx="3291840" cy="914400"/>
            <a:chOff x="0" y="0"/>
            <a:chExt cx="438912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389120" cy="1219200"/>
            </a:xfrm>
            <a:custGeom>
              <a:avLst/>
              <a:gdLst/>
              <a:ahLst/>
              <a:cxnLst/>
              <a:rect l="l" t="t" r="r" b="b"/>
              <a:pathLst>
                <a:path w="4389120" h="121920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146" b="-2014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438912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F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Tiền xử lí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961120" y="4206240"/>
            <a:ext cx="548640" cy="914400"/>
            <a:chOff x="0" y="0"/>
            <a:chExt cx="731520" cy="1219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31520" cy="1219200"/>
            </a:xfrm>
            <a:custGeom>
              <a:avLst/>
              <a:gdLst/>
              <a:ahLst/>
              <a:cxnLst/>
              <a:rect l="l" t="t" r="r" b="b"/>
              <a:pathLst>
                <a:path w="731520" h="121920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3839" r="-163839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76200"/>
              <a:ext cx="731520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5B6B7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497063" y="3096263"/>
            <a:ext cx="3683003" cy="3500123"/>
            <a:chOff x="0" y="0"/>
            <a:chExt cx="4910671" cy="466683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910709" cy="4666869"/>
            </a:xfrm>
            <a:custGeom>
              <a:avLst/>
              <a:gdLst/>
              <a:ahLst/>
              <a:cxnLst/>
              <a:rect l="l" t="t" r="r" b="b"/>
              <a:pathLst>
                <a:path w="4910709" h="466686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665091" y="0"/>
                  </a:lnTo>
                  <a:cubicBezTo>
                    <a:pt x="4800727" y="0"/>
                    <a:pt x="4910709" y="109982"/>
                    <a:pt x="4910709" y="245618"/>
                  </a:cubicBezTo>
                  <a:lnTo>
                    <a:pt x="4910709" y="4421251"/>
                  </a:lnTo>
                  <a:cubicBezTo>
                    <a:pt x="4910709" y="4556887"/>
                    <a:pt x="4800727" y="4666869"/>
                    <a:pt x="46650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1E88E5"/>
            </a:solidFill>
            <a:ln w="2540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9692640" y="3383280"/>
            <a:ext cx="3291840" cy="914400"/>
            <a:chOff x="0" y="0"/>
            <a:chExt cx="438912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389120" cy="1219200"/>
            </a:xfrm>
            <a:custGeom>
              <a:avLst/>
              <a:gdLst/>
              <a:ahLst/>
              <a:cxnLst/>
              <a:rect l="l" t="t" r="r" b="b"/>
              <a:pathLst>
                <a:path w="4389120" h="121920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146" b="-20146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438912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LeNet-5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784080" y="4368165"/>
            <a:ext cx="3108960" cy="180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Phân loại loại biển báo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3167360" y="4206240"/>
            <a:ext cx="548640" cy="914400"/>
            <a:chOff x="0" y="0"/>
            <a:chExt cx="731520" cy="1219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1520" cy="1219200"/>
            </a:xfrm>
            <a:custGeom>
              <a:avLst/>
              <a:gdLst/>
              <a:ahLst/>
              <a:cxnLst/>
              <a:rect l="l" t="t" r="r" b="b"/>
              <a:pathLst>
                <a:path w="731520" h="121920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3839" r="-16383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76200"/>
              <a:ext cx="731520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5B6B7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703303" y="3096263"/>
            <a:ext cx="3683003" cy="3500123"/>
            <a:chOff x="0" y="0"/>
            <a:chExt cx="4910671" cy="466683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910709" cy="4666869"/>
            </a:xfrm>
            <a:custGeom>
              <a:avLst/>
              <a:gdLst/>
              <a:ahLst/>
              <a:cxnLst/>
              <a:rect l="l" t="t" r="r" b="b"/>
              <a:pathLst>
                <a:path w="4910709" h="466686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665091" y="0"/>
                  </a:lnTo>
                  <a:cubicBezTo>
                    <a:pt x="4800727" y="0"/>
                    <a:pt x="4910709" y="109982"/>
                    <a:pt x="4910709" y="245618"/>
                  </a:cubicBezTo>
                  <a:lnTo>
                    <a:pt x="4910709" y="4421251"/>
                  </a:lnTo>
                  <a:cubicBezTo>
                    <a:pt x="4910709" y="4556887"/>
                    <a:pt x="4800727" y="4666869"/>
                    <a:pt x="46650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F3F7FB"/>
            </a:solidFill>
            <a:ln w="25400" cap="sq">
              <a:solidFill>
                <a:srgbClr val="D5DEE8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13898880" y="3383280"/>
            <a:ext cx="3291840" cy="914400"/>
            <a:chOff x="0" y="0"/>
            <a:chExt cx="4389120" cy="1219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389120" cy="1219200"/>
            </a:xfrm>
            <a:custGeom>
              <a:avLst/>
              <a:gdLst/>
              <a:ahLst/>
              <a:cxnLst/>
              <a:rect l="l" t="t" r="r" b="b"/>
              <a:pathLst>
                <a:path w="4389120" h="121920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146" b="-20146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66675"/>
              <a:ext cx="438912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3990320" y="4368165"/>
            <a:ext cx="3108960" cy="40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vi-VN" sz="2600" dirty="0"/>
              <a:t>Nhãn lớp (43 lớp)</a:t>
            </a:r>
            <a:endParaRPr lang="en-US" sz="2600" dirty="0">
              <a:solidFill>
                <a:srgbClr val="1F2937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5577840" y="4398645"/>
            <a:ext cx="3108960" cy="85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Resize -&gt; </a:t>
            </a:r>
            <a:r>
              <a:rPr lang="en-US" sz="27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ảnh</a:t>
            </a: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xám</a:t>
            </a: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-&gt; </a:t>
            </a:r>
            <a:r>
              <a:rPr lang="en-US" sz="27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cân</a:t>
            </a: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bằng</a:t>
            </a: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histogram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024982" y="565461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Bài báo gốc: mô hình nhẹ, độ chính xác cao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491227"/>
            <a:ext cx="9875520" cy="701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Mục tiêu: CNN gọn nhẹ để chạy trên hệ thống nhúng (webcam), vẫn đạt độ chính xác cao</a:t>
            </a: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Cải tiến từ LeNet-5: 2 lớp tích chập liên tiếp trước mỗi lần pooling, thêm BatchNorm và Dropout</a:t>
            </a: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Chỉ dùng 1 lớp fully connected (500 nút) thay cho 2 lớp (120, 84)</a:t>
            </a: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Dùng LeakyReLU và bộ tối ưu Adadelta (lr = 1.0), loss cross-entropy</a:t>
            </a: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Tiền xử lý: resize 32×32, ảnh xám, cân bằng histogram, chuẩn hóa; có data augmentation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988803" y="2728085"/>
            <a:ext cx="4963163" cy="1945643"/>
            <a:chOff x="0" y="0"/>
            <a:chExt cx="6617551" cy="259419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17462" cy="2594102"/>
            </a:xfrm>
            <a:custGeom>
              <a:avLst/>
              <a:gdLst/>
              <a:ahLst/>
              <a:cxnLst/>
              <a:rect l="l" t="t" r="r" b="b"/>
              <a:pathLst>
                <a:path w="6617462" h="2594102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6419850" y="0"/>
                  </a:lnTo>
                  <a:cubicBezTo>
                    <a:pt x="6529070" y="0"/>
                    <a:pt x="6617462" y="88519"/>
                    <a:pt x="6617462" y="197612"/>
                  </a:cubicBezTo>
                  <a:lnTo>
                    <a:pt x="6617462" y="2396490"/>
                  </a:lnTo>
                  <a:cubicBezTo>
                    <a:pt x="6617462" y="2505710"/>
                    <a:pt x="6528943" y="2594102"/>
                    <a:pt x="6419850" y="2594102"/>
                  </a:cubicBezTo>
                  <a:lnTo>
                    <a:pt x="197612" y="2594102"/>
                  </a:lnTo>
                  <a:cubicBezTo>
                    <a:pt x="88519" y="2594229"/>
                    <a:pt x="0" y="2505710"/>
                    <a:pt x="0" y="239649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DEE6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367260" y="2887086"/>
            <a:ext cx="4206240" cy="1005840"/>
            <a:chOff x="0" y="0"/>
            <a:chExt cx="5608320" cy="13411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08320" cy="1341120"/>
            </a:xfrm>
            <a:custGeom>
              <a:avLst/>
              <a:gdLst/>
              <a:ahLst/>
              <a:cxnLst/>
              <a:rect l="l" t="t" r="r" b="b"/>
              <a:pathLst>
                <a:path w="5608320" h="1341120">
                  <a:moveTo>
                    <a:pt x="0" y="0"/>
                  </a:moveTo>
                  <a:lnTo>
                    <a:pt x="5608320" y="0"/>
                  </a:lnTo>
                  <a:lnTo>
                    <a:pt x="56083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1482" b="-31482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5608320" cy="1455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99.84%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67260" y="3892926"/>
            <a:ext cx="4206240" cy="640080"/>
            <a:chOff x="0" y="0"/>
            <a:chExt cx="5608320" cy="8534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608320" cy="853440"/>
            </a:xfrm>
            <a:custGeom>
              <a:avLst/>
              <a:gdLst/>
              <a:ahLst/>
              <a:cxnLst/>
              <a:rect l="l" t="t" r="r" b="b"/>
              <a:pathLst>
                <a:path w="5608320" h="853440">
                  <a:moveTo>
                    <a:pt x="0" y="0"/>
                  </a:moveTo>
                  <a:lnTo>
                    <a:pt x="5608320" y="0"/>
                  </a:lnTo>
                  <a:lnTo>
                    <a:pt x="5608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8044" b="-78044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60832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accuracy trên GTSRB (43 lớp)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988803" y="5350003"/>
            <a:ext cx="4963163" cy="1945643"/>
            <a:chOff x="0" y="0"/>
            <a:chExt cx="6617551" cy="259419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617462" cy="2594102"/>
            </a:xfrm>
            <a:custGeom>
              <a:avLst/>
              <a:gdLst/>
              <a:ahLst/>
              <a:cxnLst/>
              <a:rect l="l" t="t" r="r" b="b"/>
              <a:pathLst>
                <a:path w="6617462" h="2594102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6419850" y="0"/>
                  </a:lnTo>
                  <a:cubicBezTo>
                    <a:pt x="6529070" y="0"/>
                    <a:pt x="6617462" y="88519"/>
                    <a:pt x="6617462" y="197612"/>
                  </a:cubicBezTo>
                  <a:lnTo>
                    <a:pt x="6617462" y="2396490"/>
                  </a:lnTo>
                  <a:cubicBezTo>
                    <a:pt x="6617462" y="2505710"/>
                    <a:pt x="6528943" y="2594102"/>
                    <a:pt x="6419850" y="2594102"/>
                  </a:cubicBezTo>
                  <a:lnTo>
                    <a:pt x="197612" y="2594102"/>
                  </a:lnTo>
                  <a:cubicBezTo>
                    <a:pt x="88519" y="2594229"/>
                    <a:pt x="0" y="2505710"/>
                    <a:pt x="0" y="239649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DEE6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2367260" y="5509004"/>
            <a:ext cx="4206240" cy="1005840"/>
            <a:chOff x="0" y="0"/>
            <a:chExt cx="5608320" cy="13411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08320" cy="1341120"/>
            </a:xfrm>
            <a:custGeom>
              <a:avLst/>
              <a:gdLst/>
              <a:ahLst/>
              <a:cxnLst/>
              <a:rect l="l" t="t" r="r" b="b"/>
              <a:pathLst>
                <a:path w="5608320" h="1341120">
                  <a:moveTo>
                    <a:pt x="0" y="0"/>
                  </a:moveTo>
                  <a:lnTo>
                    <a:pt x="5608320" y="0"/>
                  </a:lnTo>
                  <a:lnTo>
                    <a:pt x="56083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1482" b="-3148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14300"/>
              <a:ext cx="5608320" cy="1455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0.38 triệu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367260" y="6514844"/>
            <a:ext cx="4206240" cy="640080"/>
            <a:chOff x="0" y="0"/>
            <a:chExt cx="5608320" cy="8534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608320" cy="853440"/>
            </a:xfrm>
            <a:custGeom>
              <a:avLst/>
              <a:gdLst/>
              <a:ahLst/>
              <a:cxnLst/>
              <a:rect l="l" t="t" r="r" b="b"/>
              <a:pathLst>
                <a:path w="5608320" h="853440">
                  <a:moveTo>
                    <a:pt x="0" y="0"/>
                  </a:moveTo>
                  <a:lnTo>
                    <a:pt x="5608320" y="0"/>
                  </a:lnTo>
                  <a:lnTo>
                    <a:pt x="5608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8044" b="-7804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60832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Số tham số cần huấn luyện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375229" y="2451793"/>
            <a:ext cx="16459200" cy="1373029"/>
            <a:chOff x="0" y="-123825"/>
            <a:chExt cx="21945600" cy="18307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r>
                <a:rPr lang="vi-VN" sz="3400" dirty="0"/>
                <a:t>Ảnh minh họa; đầu vào mô hình là ảnh xám 32×32, chuẩn hóa về [0,1]</a:t>
              </a:r>
              <a:endParaRPr lang="en-US" sz="3400" b="1" dirty="0">
                <a:solidFill>
                  <a:srgbClr val="14213D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254128" y="4076676"/>
            <a:ext cx="15812828" cy="4119461"/>
          </a:xfrm>
          <a:custGeom>
            <a:avLst/>
            <a:gdLst/>
            <a:ahLst/>
            <a:cxnLst/>
            <a:rect l="l" t="t" r="r" b="b"/>
            <a:pathLst>
              <a:path w="15812828" h="4119461">
                <a:moveTo>
                  <a:pt x="0" y="0"/>
                </a:moveTo>
                <a:lnTo>
                  <a:pt x="15812828" y="0"/>
                </a:lnTo>
                <a:lnTo>
                  <a:pt x="15812828" y="4119461"/>
                </a:lnTo>
                <a:lnTo>
                  <a:pt x="0" y="41194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17" r="-1417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507006B4-6551-DF63-C830-83AE0A851BC7}"/>
              </a:ext>
            </a:extLst>
          </p:cNvPr>
          <p:cNvSpPr txBox="1"/>
          <p:nvPr/>
        </p:nvSpPr>
        <p:spPr>
          <a:xfrm>
            <a:off x="2177382" y="624992"/>
            <a:ext cx="16459200" cy="137302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6239"/>
              </a:lnSpc>
            </a:pPr>
            <a:r>
              <a:rPr lang="en-US" sz="5199" b="1" dirty="0" err="1">
                <a:solidFill>
                  <a:srgbClr val="1421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Tiền</a:t>
            </a:r>
            <a:r>
              <a:rPr lang="en-US" sz="5199" b="1" dirty="0">
                <a:solidFill>
                  <a:srgbClr val="1421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5199" b="1" dirty="0" err="1">
                <a:solidFill>
                  <a:srgbClr val="1421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xử</a:t>
            </a:r>
            <a:r>
              <a:rPr lang="en-US" sz="5199" b="1" dirty="0">
                <a:solidFill>
                  <a:srgbClr val="1421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5199" b="1" dirty="0" err="1">
                <a:solidFill>
                  <a:srgbClr val="1421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lí</a:t>
            </a:r>
            <a:r>
              <a:rPr lang="en-US" sz="5199" b="1" dirty="0">
                <a:solidFill>
                  <a:srgbClr val="1421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5199" b="1" dirty="0" err="1">
                <a:solidFill>
                  <a:srgbClr val="14213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ảnh</a:t>
            </a:r>
            <a:endParaRPr lang="en-US" sz="5199" b="1" dirty="0">
              <a:solidFill>
                <a:srgbClr val="14213D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005180" y="565461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Kiến trúc mô hình triển khai </a:t>
              </a:r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028700" y="2334425"/>
          <a:ext cx="10210800" cy="6096000"/>
        </p:xfrm>
        <a:graphic>
          <a:graphicData uri="http://schemas.openxmlformats.org/drawingml/2006/table">
            <a:tbl>
              <a:tblPr/>
              <a:tblGrid>
                <a:gridCol w="6734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Lớp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Kích thước đầu ra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 5×5, 60 bộ lọc (+BN, LeakyReLU)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28×28×60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 5×5, 60 bộ lọc (+BN, LeakyReLU)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24×24×60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MaxPooling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12×12×60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 3×3, 30 bộ lọc (+BN, LeakyReLU)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10×10×30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 3×3, 30 bộ lọc (+BN, LeakyReLU)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8×8×30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MaxPooling + Dropout 0.5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4×4×30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Flatten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480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Dense 500 (+BN, LeakyReLU) + Dropout 0.5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500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Output Softmax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43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12183171" y="2334425"/>
            <a:ext cx="5486400" cy="859686"/>
            <a:chOff x="0" y="0"/>
            <a:chExt cx="7315200" cy="11462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15200" cy="1146248"/>
            </a:xfrm>
            <a:custGeom>
              <a:avLst/>
              <a:gdLst/>
              <a:ahLst/>
              <a:cxnLst/>
              <a:rect l="l" t="t" r="r" b="b"/>
              <a:pathLst>
                <a:path w="7315200" h="1146248">
                  <a:moveTo>
                    <a:pt x="0" y="0"/>
                  </a:moveTo>
                  <a:lnTo>
                    <a:pt x="7315200" y="0"/>
                  </a:lnTo>
                  <a:lnTo>
                    <a:pt x="7315200" y="1146248"/>
                  </a:lnTo>
                  <a:lnTo>
                    <a:pt x="0" y="1146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7123" b="-6157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7315200" cy="12319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59"/>
                </a:lnSpc>
              </a:pPr>
              <a:r>
                <a:rPr lang="en-US" sz="4299" b="1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Cấu hình huấn luyện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750493" y="3582200"/>
            <a:ext cx="5669280" cy="353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286" lvl="1" indent="-398143" algn="l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Đầu vào 32×32×1 (ảnh xám)</a:t>
            </a:r>
          </a:p>
          <a:p>
            <a:pPr marL="796286" lvl="1" indent="-398143" algn="l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Chia dữ liệu 80/20; lấy 20% của phần train làm validation</a:t>
            </a:r>
          </a:p>
          <a:p>
            <a:pPr marL="796286" lvl="1" indent="-398143" algn="l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Adadelta, lr = 1.0, 20 epoch</a:t>
            </a:r>
          </a:p>
          <a:p>
            <a:pPr marL="796286" lvl="1" indent="-398143" algn="l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Số tham số ước tính ≈ 0.38 triệu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049842" y="602004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huấn luyện: 20 epoch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63040" y="2065044"/>
            <a:ext cx="15361920" cy="5468112"/>
            <a:chOff x="0" y="0"/>
            <a:chExt cx="20482560" cy="7290816"/>
          </a:xfrm>
        </p:grpSpPr>
        <p:sp>
          <p:nvSpPr>
            <p:cNvPr id="13" name="Freeform 13" descr="/mnt/user-data/uploads/Screenshot_2026-10-02_191230.png"/>
            <p:cNvSpPr/>
            <p:nvPr/>
          </p:nvSpPr>
          <p:spPr>
            <a:xfrm>
              <a:off x="0" y="0"/>
              <a:ext cx="20482561" cy="7290816"/>
            </a:xfrm>
            <a:custGeom>
              <a:avLst/>
              <a:gdLst/>
              <a:ahLst/>
              <a:cxnLst/>
              <a:rect l="l" t="t" r="r" b="b"/>
              <a:pathLst>
                <a:path w="20482561" h="7290816">
                  <a:moveTo>
                    <a:pt x="0" y="0"/>
                  </a:moveTo>
                  <a:lnTo>
                    <a:pt x="20482561" y="0"/>
                  </a:lnTo>
                  <a:lnTo>
                    <a:pt x="20482561" y="7290816"/>
                  </a:lnTo>
                  <a:lnTo>
                    <a:pt x="0" y="7290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1" r="-4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463040" y="7677174"/>
            <a:ext cx="15361920" cy="225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381" lvl="1" indent="-31369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 tăng nhanh trong 3 epoch đầu, hội tụ ổn định ở khoảng 99%; loss giảm đều</a:t>
            </a:r>
          </a:p>
          <a:p>
            <a:pPr marL="627381" lvl="1" indent="-31369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Validation accuracy (~99.5%) cao hơn train accuracy (~99.0%), không có dấu hiệu overfitting</a:t>
            </a:r>
          </a:p>
          <a:p>
            <a:pPr marL="627381" lvl="1" indent="-31369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Nguyên nhân: Dropout và augmentation chỉ tác động lúc train; train metric được tính trung bình trong epoch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17969" y="565461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kiểm tra: ma trận nhầm lẫn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398108" y="2488376"/>
            <a:ext cx="5725012" cy="2244301"/>
            <a:chOff x="0" y="0"/>
            <a:chExt cx="6617551" cy="25941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17462" cy="2594102"/>
            </a:xfrm>
            <a:custGeom>
              <a:avLst/>
              <a:gdLst/>
              <a:ahLst/>
              <a:cxnLst/>
              <a:rect l="l" t="t" r="r" b="b"/>
              <a:pathLst>
                <a:path w="6617462" h="2594102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6419850" y="0"/>
                  </a:lnTo>
                  <a:cubicBezTo>
                    <a:pt x="6529070" y="0"/>
                    <a:pt x="6617462" y="88519"/>
                    <a:pt x="6617462" y="197612"/>
                  </a:cubicBezTo>
                  <a:lnTo>
                    <a:pt x="6617462" y="2396490"/>
                  </a:lnTo>
                  <a:cubicBezTo>
                    <a:pt x="6617462" y="2505710"/>
                    <a:pt x="6528943" y="2594102"/>
                    <a:pt x="6419850" y="2594102"/>
                  </a:cubicBezTo>
                  <a:lnTo>
                    <a:pt x="197612" y="2594102"/>
                  </a:lnTo>
                  <a:cubicBezTo>
                    <a:pt x="88519" y="2594229"/>
                    <a:pt x="0" y="2505710"/>
                    <a:pt x="0" y="239649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DEE6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834658" y="2671783"/>
            <a:ext cx="4851901" cy="1160237"/>
            <a:chOff x="0" y="0"/>
            <a:chExt cx="5608320" cy="13411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08320" cy="1341120"/>
            </a:xfrm>
            <a:custGeom>
              <a:avLst/>
              <a:gdLst/>
              <a:ahLst/>
              <a:cxnLst/>
              <a:rect l="l" t="t" r="r" b="b"/>
              <a:pathLst>
                <a:path w="5608320" h="1341120">
                  <a:moveTo>
                    <a:pt x="0" y="0"/>
                  </a:moveTo>
                  <a:lnTo>
                    <a:pt x="5608320" y="0"/>
                  </a:lnTo>
                  <a:lnTo>
                    <a:pt x="56083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1482" b="-3148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14300"/>
              <a:ext cx="5608320" cy="1455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20"/>
                </a:lnSpc>
              </a:pPr>
              <a:r>
                <a:rPr lang="en-US" sz="5600" b="1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99.41%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834658" y="3832021"/>
            <a:ext cx="4851901" cy="738333"/>
            <a:chOff x="0" y="0"/>
            <a:chExt cx="5608320" cy="8534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08320" cy="853440"/>
            </a:xfrm>
            <a:custGeom>
              <a:avLst/>
              <a:gdLst/>
              <a:ahLst/>
              <a:cxnLst/>
              <a:rect l="l" t="t" r="r" b="b"/>
              <a:pathLst>
                <a:path w="5608320" h="853440">
                  <a:moveTo>
                    <a:pt x="0" y="0"/>
                  </a:moveTo>
                  <a:lnTo>
                    <a:pt x="5608320" y="0"/>
                  </a:lnTo>
                  <a:lnTo>
                    <a:pt x="5608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8044" b="-78044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60832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accuracy của mô hình tái hiện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420134" y="5308756"/>
            <a:ext cx="7680960" cy="216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Đường chéo rất đậm, gần như không có ô nhầm lẫn ngoài đường chéo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Các lớp ít mẫu (0, 19, 24, 27, 29, 32, 37, 41, 42) vẫn được nhận diện đúng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Mô hình đã lưu: enhanced_lenet5_gtsrb.h5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CCFC0B1-D95A-24AE-CC96-60C7938547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44" y="1861784"/>
            <a:ext cx="8669890" cy="722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049842" y="565461"/>
            <a:ext cx="16459200" cy="1280160"/>
            <a:chOff x="0" y="0"/>
            <a:chExt cx="2194560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 sánh với bài báo gốc</a:t>
              </a:r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914400" y="2194560"/>
          <a:ext cx="15834359" cy="6127344"/>
        </p:xfrm>
        <a:graphic>
          <a:graphicData uri="http://schemas.openxmlformats.org/drawingml/2006/table">
            <a:tbl>
              <a:tblPr/>
              <a:tblGrid>
                <a:gridCol w="7888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3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3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1224">
                <a:tc>
                  <a:txBody>
                    <a:bodyPr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Chỉ số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Bài báo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Tái hiện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1224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 accuracy (GTSRB)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99.84%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99.41%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1224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 accuracy (epoch 20)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0.9879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≈ 0.990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1224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Validation accuracy (epoch 20)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0.9989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≈ 0.995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1224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 loss (epoch 20)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0.039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≈ 0.033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1224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Validation loss (epoch 20)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0.0042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≈ 0.017</a:t>
                      </a:r>
                      <a:endParaRPr lang="en-US" sz="1100"/>
                    </a:p>
                  </a:txBody>
                  <a:tcPr marT="91440" marB="91440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55430" y="4274820"/>
            <a:ext cx="10104120" cy="105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>
                <a:gradFill>
                  <a:gsLst>
                    <a:gs pos="0">
                      <a:srgbClr val="4987E3">
                        <a:alpha val="100000"/>
                      </a:srgbClr>
                    </a:gs>
                    <a:gs pos="100000">
                      <a:srgbClr val="9CC769">
                        <a:alpha val="100000"/>
                      </a:srgbClr>
                    </a:gs>
                  </a:gsLst>
                  <a:lin ang="5400000"/>
                </a:gradFill>
                <a:latin typeface="Verdana Bold"/>
                <a:ea typeface="Verdana Bold"/>
                <a:cs typeface="Verdana Bold"/>
                <a:sym typeface="Verdana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63840" y="8865870"/>
            <a:ext cx="5189220" cy="46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68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www.themegallery.com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918</Words>
  <Application>Microsoft Office PowerPoint</Application>
  <PresentationFormat>Custom</PresentationFormat>
  <Paragraphs>132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 (MS)</vt:lpstr>
      <vt:lpstr>Arial</vt:lpstr>
      <vt:lpstr>Arial Bold</vt:lpstr>
      <vt:lpstr>Calibri (MS) Bold</vt:lpstr>
      <vt:lpstr>Calibri</vt:lpstr>
      <vt:lpstr>Tahoma Bold</vt:lpstr>
      <vt:lpstr>Verdana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BaoCao_Tuan4_CK.pptx</dc:title>
  <cp:lastModifiedBy>thinh thinh</cp:lastModifiedBy>
  <cp:revision>4</cp:revision>
  <dcterms:created xsi:type="dcterms:W3CDTF">2006-08-16T00:00:00Z</dcterms:created>
  <dcterms:modified xsi:type="dcterms:W3CDTF">2026-10-04T13:48:04Z</dcterms:modified>
  <dc:identifier>DAHVDzUlzMA</dc:identifier>
</cp:coreProperties>
</file>