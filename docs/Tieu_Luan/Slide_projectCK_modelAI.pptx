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rial Bold" charset="1" panose="020B0704020202020204"/>
      <p:regular r:id="rId28"/>
    </p:embeddedFont>
    <p:embeddedFont>
      <p:font typeface="Tahoma Bold" charset="1" panose="020B0804030504040204"/>
      <p:regular r:id="rId29"/>
    </p:embeddedFont>
    <p:embeddedFont>
      <p:font typeface="Calibri (MS) Bold" charset="1" panose="020F0702030404030204"/>
      <p:regular r:id="rId30"/>
    </p:embeddedFont>
    <p:embeddedFont>
      <p:font typeface="Calibri (MS)" charset="1" panose="020F0502020204030204"/>
      <p:regular r:id="rId31"/>
    </p:embeddedFont>
    <p:embeddedFont>
      <p:font typeface="Verdana Bold" charset="1" panose="020B080403050404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notesMasters/notesMaster1.xml" Type="http://schemas.openxmlformats.org/officeDocument/2006/relationships/notesMaster"/><Relationship Id="rId26" Target="theme/theme2.xml" Type="http://schemas.openxmlformats.org/officeDocument/2006/relationships/theme"/><Relationship Id="rId27" Target="notesSlides/notesSlide1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jpeg" Type="http://schemas.openxmlformats.org/officeDocument/2006/relationships/image"/><Relationship Id="rId7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.jpe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4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5.png" Type="http://schemas.openxmlformats.org/officeDocument/2006/relationships/image"/><Relationship Id="rId12" Target="../media/image16.png" Type="http://schemas.openxmlformats.org/officeDocument/2006/relationships/image"/><Relationship Id="rId13" Target="../media/image17.png" Type="http://schemas.openxmlformats.org/officeDocument/2006/relationships/image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1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19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png" Type="http://schemas.openxmlformats.org/officeDocument/2006/relationships/image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29.png" Type="http://schemas.openxmlformats.org/officeDocument/2006/relationships/image"/><Relationship Id="rId7" Target="../media/image24.png" Type="http://schemas.openxmlformats.org/officeDocument/2006/relationships/image"/><Relationship Id="rId8" Target="../media/image30.pn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8.png" Type="http://schemas.openxmlformats.org/officeDocument/2006/relationships/image"/><Relationship Id="rId4" Target="../media/image34.png" Type="http://schemas.openxmlformats.org/officeDocument/2006/relationships/image"/><Relationship Id="rId5" Target="../media/image35.svg" Type="http://schemas.openxmlformats.org/officeDocument/2006/relationships/image"/><Relationship Id="rId6" Target="../media/image36.png" Type="http://schemas.openxmlformats.org/officeDocument/2006/relationships/image"/><Relationship Id="rId7" Target="../media/image3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3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3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Relationship Id="rId6" Target="../media/image4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1600" y="1028700"/>
            <a:ext cx="16916400" cy="176841"/>
            <a:chOff x="0" y="0"/>
            <a:chExt cx="22555200" cy="2357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242384"/>
            <a:ext cx="16916400" cy="176841"/>
            <a:chOff x="0" y="0"/>
            <a:chExt cx="22555200" cy="2357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20728" y="685800"/>
            <a:ext cx="1066800" cy="914400"/>
          </a:xfrm>
          <a:custGeom>
            <a:avLst/>
            <a:gdLst/>
            <a:ahLst/>
            <a:cxnLst/>
            <a:rect r="r" b="b" t="t" l="l"/>
            <a:pathLst>
              <a:path h="914400" w="10668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25840" y="9734245"/>
            <a:ext cx="8122920" cy="37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800600" y="3214668"/>
            <a:ext cx="12915900" cy="2628899"/>
            <a:chOff x="0" y="0"/>
            <a:chExt cx="17221200" cy="35051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221200" cy="3505196"/>
            </a:xfrm>
            <a:custGeom>
              <a:avLst/>
              <a:gdLst/>
              <a:ahLst/>
              <a:cxnLst/>
              <a:rect r="r" b="b" t="t" l="l"/>
              <a:pathLst>
                <a:path h="3505196" w="17221200">
                  <a:moveTo>
                    <a:pt x="0" y="0"/>
                  </a:moveTo>
                  <a:lnTo>
                    <a:pt x="17221200" y="0"/>
                  </a:lnTo>
                  <a:lnTo>
                    <a:pt x="17221200" y="3505196"/>
                  </a:lnTo>
                  <a:lnTo>
                    <a:pt x="0" y="35051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5730" r="0" b="-4573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7221200" cy="35337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7200"/>
                </a:lnSpc>
              </a:pPr>
              <a:r>
                <a:rPr lang="en-US" sz="6000" b="true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Môn: Phát triển ứng dụng di động</a:t>
              </a:r>
            </a:p>
            <a:p>
              <a:pPr algn="r">
                <a:lnSpc>
                  <a:spcPts val="7200"/>
                </a:lnSpc>
              </a:pPr>
              <a:r>
                <a:rPr lang="en-US" sz="6000" b="true">
                  <a:solidFill>
                    <a:srgbClr val="FF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(Project cuối kì + Project nâng cao)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370906" y="5670747"/>
            <a:ext cx="4715580" cy="81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400"/>
              </a:lnSpc>
            </a:pPr>
            <a:r>
              <a:rPr lang="en-US" sz="3000" b="true">
                <a:solidFill>
                  <a:srgbClr val="D9520F"/>
                </a:solidFill>
                <a:latin typeface="Tahoma Bold"/>
                <a:ea typeface="Tahoma Bold"/>
                <a:cs typeface="Tahoma Bold"/>
                <a:sym typeface="Tahoma Bold"/>
              </a:rPr>
              <a:t>Guide: Huỳnh Hoàng Hà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0" y="0"/>
            <a:ext cx="18288000" cy="2628900"/>
            <a:chOff x="0" y="0"/>
            <a:chExt cx="24384000" cy="3505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00" cy="3505200"/>
            </a:xfrm>
            <a:custGeom>
              <a:avLst/>
              <a:gdLst/>
              <a:ahLst/>
              <a:cxnLst/>
              <a:rect r="r" b="b" t="t" l="l"/>
              <a:pathLst>
                <a:path h="35052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505200"/>
                  </a:lnTo>
                  <a:lnTo>
                    <a:pt x="0" y="350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193" r="0" b="-5194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1600" y="1028700"/>
            <a:ext cx="16916400" cy="176841"/>
            <a:chOff x="0" y="0"/>
            <a:chExt cx="22555200" cy="2357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242384"/>
            <a:ext cx="16916400" cy="176841"/>
            <a:chOff x="0" y="0"/>
            <a:chExt cx="22555200" cy="2357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name="TextBox 7" id="7"/>
          <p:cNvSpPr txBox="true"/>
          <p:nvPr/>
        </p:nvSpPr>
        <p:spPr>
          <a:xfrm rot="0">
            <a:off x="8625840" y="9734245"/>
            <a:ext cx="8122920" cy="37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372374" y="1565434"/>
            <a:ext cx="7156132" cy="7156132"/>
            <a:chOff x="0" y="0"/>
            <a:chExt cx="9541510" cy="95415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41510" cy="9541510"/>
            </a:xfrm>
            <a:custGeom>
              <a:avLst/>
              <a:gdLst/>
              <a:ahLst/>
              <a:cxnLst/>
              <a:rect r="r" b="b" t="t" l="l"/>
              <a:pathLst>
                <a:path h="9541510" w="9541510">
                  <a:moveTo>
                    <a:pt x="0" y="4770755"/>
                  </a:moveTo>
                  <a:cubicBezTo>
                    <a:pt x="0" y="2135886"/>
                    <a:pt x="2135886" y="0"/>
                    <a:pt x="4770755" y="0"/>
                  </a:cubicBezTo>
                  <a:cubicBezTo>
                    <a:pt x="7405624" y="0"/>
                    <a:pt x="9541510" y="2135886"/>
                    <a:pt x="9541510" y="4770755"/>
                  </a:cubicBezTo>
                  <a:cubicBezTo>
                    <a:pt x="9541510" y="7405624"/>
                    <a:pt x="7405624" y="9541510"/>
                    <a:pt x="4770755" y="9541510"/>
                  </a:cubicBezTo>
                  <a:cubicBezTo>
                    <a:pt x="2135886" y="9541510"/>
                    <a:pt x="0" y="7405624"/>
                    <a:pt x="0" y="4770755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23812" cap="sq">
              <a:solidFill>
                <a:srgbClr val="4F46E5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2188190" y="2381250"/>
            <a:ext cx="5524500" cy="5524500"/>
            <a:chOff x="0" y="0"/>
            <a:chExt cx="7366000" cy="736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66000" cy="7366000"/>
            </a:xfrm>
            <a:custGeom>
              <a:avLst/>
              <a:gdLst/>
              <a:ahLst/>
              <a:cxnLst/>
              <a:rect r="r" b="b" t="t" l="l"/>
              <a:pathLst>
                <a:path h="7366000" w="7366000">
                  <a:moveTo>
                    <a:pt x="0" y="3683000"/>
                  </a:moveTo>
                  <a:cubicBezTo>
                    <a:pt x="0" y="1648968"/>
                    <a:pt x="1648968" y="0"/>
                    <a:pt x="3683000" y="0"/>
                  </a:cubicBezTo>
                  <a:cubicBezTo>
                    <a:pt x="5717032" y="0"/>
                    <a:pt x="7366000" y="1648968"/>
                    <a:pt x="7366000" y="3683000"/>
                  </a:cubicBezTo>
                  <a:cubicBezTo>
                    <a:pt x="7366000" y="5717032"/>
                    <a:pt x="5717032" y="7366000"/>
                    <a:pt x="3683000" y="7366000"/>
                  </a:cubicBezTo>
                  <a:cubicBezTo>
                    <a:pt x="1648968" y="7366000"/>
                    <a:pt x="0" y="5717032"/>
                    <a:pt x="0" y="368300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38100" cap="sq">
              <a:solidFill>
                <a:srgbClr val="4F46E5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015912" y="3208972"/>
            <a:ext cx="3869055" cy="3869055"/>
            <a:chOff x="0" y="0"/>
            <a:chExt cx="5158740" cy="51587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58740" cy="5158740"/>
            </a:xfrm>
            <a:custGeom>
              <a:avLst/>
              <a:gdLst/>
              <a:ahLst/>
              <a:cxnLst/>
              <a:rect r="r" b="b" t="t" l="l"/>
              <a:pathLst>
                <a:path h="5158740" w="5158740">
                  <a:moveTo>
                    <a:pt x="0" y="2579370"/>
                  </a:moveTo>
                  <a:cubicBezTo>
                    <a:pt x="0" y="1154811"/>
                    <a:pt x="1154811" y="0"/>
                    <a:pt x="2579370" y="0"/>
                  </a:cubicBezTo>
                  <a:cubicBezTo>
                    <a:pt x="4003929" y="0"/>
                    <a:pt x="5158740" y="1154811"/>
                    <a:pt x="5158740" y="2579370"/>
                  </a:cubicBezTo>
                  <a:cubicBezTo>
                    <a:pt x="5158740" y="4003929"/>
                    <a:pt x="4003929" y="5158740"/>
                    <a:pt x="2579370" y="5158740"/>
                  </a:cubicBezTo>
                  <a:cubicBezTo>
                    <a:pt x="1154811" y="5158740"/>
                    <a:pt x="0" y="4003929"/>
                    <a:pt x="0" y="257937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28575" cap="sq">
              <a:solidFill>
                <a:srgbClr val="4F46E5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3647420" y="3840480"/>
            <a:ext cx="2606040" cy="2606040"/>
            <a:chOff x="0" y="0"/>
            <a:chExt cx="3474720" cy="34747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474720" cy="3474720"/>
            </a:xfrm>
            <a:custGeom>
              <a:avLst/>
              <a:gdLst/>
              <a:ahLst/>
              <a:cxnLst/>
              <a:rect r="r" b="b" t="t" l="l"/>
              <a:pathLst>
                <a:path h="3474720" w="3474720">
                  <a:moveTo>
                    <a:pt x="0" y="1737360"/>
                  </a:moveTo>
                  <a:cubicBezTo>
                    <a:pt x="0" y="777875"/>
                    <a:pt x="777875" y="0"/>
                    <a:pt x="1737360" y="0"/>
                  </a:cubicBezTo>
                  <a:cubicBezTo>
                    <a:pt x="2696845" y="0"/>
                    <a:pt x="3474720" y="777875"/>
                    <a:pt x="3474720" y="1737360"/>
                  </a:cubicBezTo>
                  <a:cubicBezTo>
                    <a:pt x="3474720" y="2696845"/>
                    <a:pt x="2696845" y="3474720"/>
                    <a:pt x="1737360" y="3474720"/>
                  </a:cubicBezTo>
                  <a:cubicBezTo>
                    <a:pt x="777875" y="3474720"/>
                    <a:pt x="0" y="2696845"/>
                    <a:pt x="0" y="1737360"/>
                  </a:cubicBez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196060" y="4389120"/>
            <a:ext cx="1508760" cy="1508760"/>
            <a:chOff x="0" y="0"/>
            <a:chExt cx="2011680" cy="2011680"/>
          </a:xfrm>
        </p:grpSpPr>
        <p:sp>
          <p:nvSpPr>
            <p:cNvPr name="Freeform 17" id="17" descr="Vân tay"/>
            <p:cNvSpPr/>
            <p:nvPr/>
          </p:nvSpPr>
          <p:spPr>
            <a:xfrm flipH="false" flipV="false" rot="0">
              <a:off x="0" y="0"/>
              <a:ext cx="2011680" cy="2011680"/>
            </a:xfrm>
            <a:custGeom>
              <a:avLst/>
              <a:gdLst/>
              <a:ahLst/>
              <a:cxnLst/>
              <a:rect r="r" b="b" t="t" l="l"/>
              <a:pathLst>
                <a:path h="2011680" w="2011680">
                  <a:moveTo>
                    <a:pt x="0" y="0"/>
                  </a:moveTo>
                  <a:lnTo>
                    <a:pt x="2011680" y="0"/>
                  </a:lnTo>
                  <a:lnTo>
                    <a:pt x="2011680" y="2011680"/>
                  </a:lnTo>
                  <a:lnTo>
                    <a:pt x="0" y="2011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2026122" y="3223260"/>
            <a:ext cx="1097280" cy="1097280"/>
            <a:chOff x="0" y="0"/>
            <a:chExt cx="1463040" cy="14630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300442" y="3497580"/>
            <a:ext cx="548640" cy="548640"/>
            <a:chOff x="0" y="0"/>
            <a:chExt cx="731520" cy="731520"/>
          </a:xfrm>
        </p:grpSpPr>
        <p:sp>
          <p:nvSpPr>
            <p:cNvPr name="Freeform 21" id="21" descr="chip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777478" y="3223260"/>
            <a:ext cx="1097280" cy="1097280"/>
            <a:chOff x="0" y="0"/>
            <a:chExt cx="1463040" cy="1463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7051798" y="3497580"/>
            <a:ext cx="548640" cy="548640"/>
            <a:chOff x="0" y="0"/>
            <a:chExt cx="731520" cy="731520"/>
          </a:xfrm>
        </p:grpSpPr>
        <p:sp>
          <p:nvSpPr>
            <p:cNvPr name="Freeform 25" id="25" descr="firebase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4401800" y="7338060"/>
            <a:ext cx="1097280" cy="1097280"/>
            <a:chOff x="0" y="0"/>
            <a:chExt cx="1463040" cy="1463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4676120" y="7612380"/>
            <a:ext cx="548640" cy="548640"/>
            <a:chOff x="0" y="0"/>
            <a:chExt cx="731520" cy="731520"/>
          </a:xfrm>
        </p:grpSpPr>
        <p:sp>
          <p:nvSpPr>
            <p:cNvPr name="Freeform 29" id="29" descr="mobile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60120" y="1463040"/>
            <a:ext cx="10561320" cy="3131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b="true" sz="5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XÂY DỰNG ỨNG DỤNG DI ĐỘNG</a:t>
            </a:r>
          </a:p>
          <a:p>
            <a:pPr algn="l">
              <a:lnSpc>
                <a:spcPts val="6120"/>
              </a:lnSpc>
            </a:pPr>
            <a:r>
              <a:rPr lang="en-US" b="true" sz="5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CHẤM CÔNG BẰNG VÂN TAY</a:t>
            </a:r>
          </a:p>
          <a:p>
            <a:pPr algn="l">
              <a:lnSpc>
                <a:spcPts val="6120"/>
              </a:lnSpc>
            </a:pPr>
            <a:r>
              <a:rPr lang="en-US" b="true" sz="5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KẾT HỢP ESP32 VÀ FIREBASE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0120" y="4812030"/>
            <a:ext cx="1056132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Ứng dụng Smart Attendance  ·  React Native  ·  ESP32  ·  Firebase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0120" y="5968365"/>
            <a:ext cx="548640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46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NHÓM THỰC HIỆN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0120" y="6457950"/>
            <a:ext cx="534924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Trần Dương Công Vinh · 24119216</a:t>
            </a: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Yín Hữu Duy · 24119121</a:t>
            </a: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Trần Hồng Anh Thi · 24119198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446520" y="6457950"/>
            <a:ext cx="507492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Lê Tiến Thịnh · 24119200</a:t>
            </a: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Võ Ngọc Trai · 24119206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60120" y="8241030"/>
            <a:ext cx="1056132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b="true" sz="2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GVHD: </a:t>
            </a:r>
            <a:r>
              <a:rPr lang="en-US" sz="2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Th.S Huỳnh Hoàng Hà   ·   Lớp MBAD436364_01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1600" y="1028700"/>
            <a:ext cx="16916400" cy="176841"/>
            <a:chOff x="0" y="0"/>
            <a:chExt cx="22555200" cy="2357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242384"/>
            <a:ext cx="16916400" cy="176841"/>
            <a:chOff x="0" y="0"/>
            <a:chExt cx="22555200" cy="2357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name="TextBox 7" id="7"/>
          <p:cNvSpPr txBox="true"/>
          <p:nvPr/>
        </p:nvSpPr>
        <p:spPr>
          <a:xfrm rot="0">
            <a:off x="8625840" y="9734245"/>
            <a:ext cx="8122920" cy="37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091690" y="594360"/>
            <a:ext cx="16637508" cy="1097280"/>
            <a:chOff x="0" y="0"/>
            <a:chExt cx="22183344" cy="1463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1833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441" r="0" b="-24544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22183344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Kiến trúc hệ thống ba tầng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960" y="2125980"/>
            <a:ext cx="4347972" cy="5966460"/>
            <a:chOff x="0" y="0"/>
            <a:chExt cx="5797296" cy="7955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797296" cy="7955280"/>
            </a:xfrm>
            <a:custGeom>
              <a:avLst/>
              <a:gdLst/>
              <a:ahLst/>
              <a:cxnLst/>
              <a:rect r="r" b="b" t="t" l="l"/>
              <a:pathLst>
                <a:path h="7955280" w="5797296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5541264" y="0"/>
                  </a:lnTo>
                  <a:cubicBezTo>
                    <a:pt x="5682615" y="0"/>
                    <a:pt x="5797296" y="114681"/>
                    <a:pt x="5797296" y="256032"/>
                  </a:cubicBezTo>
                  <a:lnTo>
                    <a:pt x="5797296" y="7699248"/>
                  </a:lnTo>
                  <a:cubicBezTo>
                    <a:pt x="5797296" y="7840599"/>
                    <a:pt x="5682615" y="7955280"/>
                    <a:pt x="5541264" y="7955280"/>
                  </a:cubicBezTo>
                  <a:lnTo>
                    <a:pt x="256032" y="7955280"/>
                  </a:lnTo>
                  <a:cubicBezTo>
                    <a:pt x="114681" y="7955280"/>
                    <a:pt x="0" y="7840599"/>
                    <a:pt x="0" y="7699248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62990" y="2503170"/>
            <a:ext cx="1028700" cy="1028700"/>
            <a:chOff x="0" y="0"/>
            <a:chExt cx="1371600" cy="1371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20165" y="2760345"/>
            <a:ext cx="514350" cy="514350"/>
            <a:chOff x="0" y="0"/>
            <a:chExt cx="685800" cy="685800"/>
          </a:xfrm>
        </p:grpSpPr>
        <p:sp>
          <p:nvSpPr>
            <p:cNvPr name="Freeform 16" id="16" descr="chip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263140" y="2537460"/>
            <a:ext cx="2702052" cy="960120"/>
            <a:chOff x="0" y="0"/>
            <a:chExt cx="3602736" cy="1280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02736" cy="1280160"/>
            </a:xfrm>
            <a:custGeom>
              <a:avLst/>
              <a:gdLst/>
              <a:ahLst/>
              <a:cxnLst/>
              <a:rect r="r" b="b" t="t" l="l"/>
              <a:pathLst>
                <a:path h="1280160" w="3602736">
                  <a:moveTo>
                    <a:pt x="0" y="0"/>
                  </a:moveTo>
                  <a:lnTo>
                    <a:pt x="3602736" y="0"/>
                  </a:lnTo>
                  <a:lnTo>
                    <a:pt x="3602736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6" r="0" b="-483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602736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Tầng thiết bị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234440" y="3930015"/>
            <a:ext cx="3593592" cy="3956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ESP32 NodeMCU LuaNode32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Xử lý trung tâm, kết nối Wi-Fi</a:t>
            </a:r>
          </a:p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Cảm biến vân tay AS608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Nhận dạng, giao tiếp UART</a:t>
            </a:r>
          </a:p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LED xanh, LED đỏ, Buzzer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Phản hồi trực tiếp tại trạm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954012" y="2125980"/>
            <a:ext cx="4347972" cy="5966460"/>
            <a:chOff x="0" y="0"/>
            <a:chExt cx="5797296" cy="79552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797296" cy="7955280"/>
            </a:xfrm>
            <a:custGeom>
              <a:avLst/>
              <a:gdLst/>
              <a:ahLst/>
              <a:cxnLst/>
              <a:rect r="r" b="b" t="t" l="l"/>
              <a:pathLst>
                <a:path h="7955280" w="5797296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5541264" y="0"/>
                  </a:lnTo>
                  <a:cubicBezTo>
                    <a:pt x="5682615" y="0"/>
                    <a:pt x="5797296" y="114681"/>
                    <a:pt x="5797296" y="256032"/>
                  </a:cubicBezTo>
                  <a:lnTo>
                    <a:pt x="5797296" y="7699248"/>
                  </a:lnTo>
                  <a:cubicBezTo>
                    <a:pt x="5797296" y="7840599"/>
                    <a:pt x="5682615" y="7955280"/>
                    <a:pt x="5541264" y="7955280"/>
                  </a:cubicBezTo>
                  <a:lnTo>
                    <a:pt x="256032" y="7955280"/>
                  </a:lnTo>
                  <a:cubicBezTo>
                    <a:pt x="114681" y="7955280"/>
                    <a:pt x="0" y="7840599"/>
                    <a:pt x="0" y="7699248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194042" y="2503170"/>
            <a:ext cx="1028700" cy="1028700"/>
            <a:chOff x="0" y="0"/>
            <a:chExt cx="1371600" cy="1371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451217" y="2760345"/>
            <a:ext cx="514350" cy="514350"/>
            <a:chOff x="0" y="0"/>
            <a:chExt cx="685800" cy="685800"/>
          </a:xfrm>
        </p:grpSpPr>
        <p:sp>
          <p:nvSpPr>
            <p:cNvPr name="Freeform 26" id="26" descr="firebase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394192" y="2537460"/>
            <a:ext cx="2702052" cy="960120"/>
            <a:chOff x="0" y="0"/>
            <a:chExt cx="3602736" cy="12801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02736" cy="1280160"/>
            </a:xfrm>
            <a:custGeom>
              <a:avLst/>
              <a:gdLst/>
              <a:ahLst/>
              <a:cxnLst/>
              <a:rect r="r" b="b" t="t" l="l"/>
              <a:pathLst>
                <a:path h="1280160" w="3602736">
                  <a:moveTo>
                    <a:pt x="0" y="0"/>
                  </a:moveTo>
                  <a:lnTo>
                    <a:pt x="3602736" y="0"/>
                  </a:lnTo>
                  <a:lnTo>
                    <a:pt x="3602736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6" r="0" b="-4836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3602736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Tầng dịch vụ Firebase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7365492" y="3930015"/>
            <a:ext cx="3593592" cy="3956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Authentication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Đăng nhập Email và mật khẩu</a:t>
            </a:r>
          </a:p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Realtime Database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Nhân viên, ca làm, chấm công</a:t>
            </a:r>
          </a:p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Storage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Ảnh đại diện nhân viên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3085064" y="2125980"/>
            <a:ext cx="4347972" cy="5966460"/>
            <a:chOff x="0" y="0"/>
            <a:chExt cx="5797296" cy="7955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797296" cy="7955280"/>
            </a:xfrm>
            <a:custGeom>
              <a:avLst/>
              <a:gdLst/>
              <a:ahLst/>
              <a:cxnLst/>
              <a:rect r="r" b="b" t="t" l="l"/>
              <a:pathLst>
                <a:path h="7955280" w="5797296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5541264" y="0"/>
                  </a:lnTo>
                  <a:cubicBezTo>
                    <a:pt x="5682615" y="0"/>
                    <a:pt x="5797296" y="114681"/>
                    <a:pt x="5797296" y="256032"/>
                  </a:cubicBezTo>
                  <a:lnTo>
                    <a:pt x="5797296" y="7699248"/>
                  </a:lnTo>
                  <a:cubicBezTo>
                    <a:pt x="5797296" y="7840599"/>
                    <a:pt x="5682615" y="7955280"/>
                    <a:pt x="5541264" y="7955280"/>
                  </a:cubicBezTo>
                  <a:lnTo>
                    <a:pt x="256032" y="7955280"/>
                  </a:lnTo>
                  <a:cubicBezTo>
                    <a:pt x="114681" y="7955280"/>
                    <a:pt x="0" y="7840599"/>
                    <a:pt x="0" y="7699248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325094" y="2503170"/>
            <a:ext cx="1028700" cy="1028700"/>
            <a:chOff x="0" y="0"/>
            <a:chExt cx="1371600" cy="1371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71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582269" y="2760345"/>
            <a:ext cx="514350" cy="514350"/>
            <a:chOff x="0" y="0"/>
            <a:chExt cx="685800" cy="685800"/>
          </a:xfrm>
        </p:grpSpPr>
        <p:sp>
          <p:nvSpPr>
            <p:cNvPr name="Freeform 36" id="36" descr="mobile"/>
            <p:cNvSpPr/>
            <p:nvPr/>
          </p:nvSpPr>
          <p:spPr>
            <a:xfrm flipH="false" flipV="false" rot="0">
              <a:off x="0" y="0"/>
              <a:ext cx="685800" cy="685800"/>
            </a:xfrm>
            <a:custGeom>
              <a:avLst/>
              <a:gdLst/>
              <a:ahLst/>
              <a:cxnLst/>
              <a:rect r="r" b="b" t="t" l="l"/>
              <a:pathLst>
                <a:path h="685800" w="685800">
                  <a:moveTo>
                    <a:pt x="0" y="0"/>
                  </a:moveTo>
                  <a:lnTo>
                    <a:pt x="685800" y="0"/>
                  </a:lnTo>
                  <a:lnTo>
                    <a:pt x="685800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4525244" y="2537460"/>
            <a:ext cx="2702052" cy="960120"/>
            <a:chOff x="0" y="0"/>
            <a:chExt cx="3602736" cy="128016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02736" cy="1280160"/>
            </a:xfrm>
            <a:custGeom>
              <a:avLst/>
              <a:gdLst/>
              <a:ahLst/>
              <a:cxnLst/>
              <a:rect r="r" b="b" t="t" l="l"/>
              <a:pathLst>
                <a:path h="1280160" w="3602736">
                  <a:moveTo>
                    <a:pt x="0" y="0"/>
                  </a:moveTo>
                  <a:lnTo>
                    <a:pt x="3602736" y="0"/>
                  </a:lnTo>
                  <a:lnTo>
                    <a:pt x="3602736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36" r="0" b="-483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3602736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Tầng ứng dụng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3496544" y="3930015"/>
            <a:ext cx="3593592" cy="3956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React Native + TypeScript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Ứng dụng Android (RN 0.87.1)</a:t>
            </a:r>
          </a:p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Hai vai trò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Admin và Employee, một bộ cài</a:t>
            </a:r>
          </a:p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Realtime Listener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Tự cập nhật giao diện khi dữ liệu đổi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5170932" y="3806190"/>
            <a:ext cx="1783080" cy="1097280"/>
            <a:chOff x="0" y="0"/>
            <a:chExt cx="2377440" cy="1463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377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956" t="0" r="-28956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377440" cy="150114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Wi-Fi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HTTPS REST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JSON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>
            <a:off x="5259154" y="5159388"/>
            <a:ext cx="1606636" cy="36805"/>
          </a:xfrm>
          <a:prstGeom prst="line">
            <a:avLst/>
          </a:prstGeom>
          <a:ln cap="rnd" w="19050">
            <a:solidFill>
              <a:srgbClr val="64748B"/>
            </a:solidFill>
            <a:prstDash val="solid"/>
            <a:headEnd type="triangle" len="med" w="lg"/>
            <a:tailEnd type="triangle" len="med" w="lg"/>
          </a:ln>
        </p:spPr>
      </p:sp>
      <p:grpSp>
        <p:nvGrpSpPr>
          <p:cNvPr name="Group 45" id="45"/>
          <p:cNvGrpSpPr/>
          <p:nvPr/>
        </p:nvGrpSpPr>
        <p:grpSpPr>
          <a:xfrm rot="0">
            <a:off x="11301984" y="3806190"/>
            <a:ext cx="1783080" cy="1097280"/>
            <a:chOff x="0" y="0"/>
            <a:chExt cx="2377440" cy="14630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377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956" t="0" r="-28956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377440" cy="150114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Realtime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64748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Listener</a:t>
              </a:r>
            </a:p>
          </p:txBody>
        </p:sp>
      </p:grpSp>
      <p:sp>
        <p:nvSpPr>
          <p:cNvPr name="AutoShape 48" id="48"/>
          <p:cNvSpPr/>
          <p:nvPr/>
        </p:nvSpPr>
        <p:spPr>
          <a:xfrm rot="91680">
            <a:off x="11389995" y="5168265"/>
            <a:ext cx="1607058" cy="0"/>
          </a:xfrm>
          <a:prstGeom prst="line">
            <a:avLst/>
          </a:prstGeom>
          <a:ln cap="rnd" w="19050">
            <a:solidFill>
              <a:srgbClr val="64748B"/>
            </a:solidFill>
            <a:prstDash val="solid"/>
            <a:headEnd type="triangle" len="med" w="lg"/>
            <a:tailEnd type="triangle" len="med" w="lg"/>
          </a:ln>
        </p:spPr>
      </p:sp>
      <p:grpSp>
        <p:nvGrpSpPr>
          <p:cNvPr name="Group 49" id="49"/>
          <p:cNvGrpSpPr/>
          <p:nvPr/>
        </p:nvGrpSpPr>
        <p:grpSpPr>
          <a:xfrm rot="0">
            <a:off x="822960" y="8435340"/>
            <a:ext cx="16637508" cy="960120"/>
            <a:chOff x="0" y="0"/>
            <a:chExt cx="22183344" cy="12801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183344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8334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21927313" y="0"/>
                  </a:lnTo>
                  <a:cubicBezTo>
                    <a:pt x="22068664" y="0"/>
                    <a:pt x="22183344" y="114681"/>
                    <a:pt x="22183344" y="256032"/>
                  </a:cubicBezTo>
                  <a:lnTo>
                    <a:pt x="22183344" y="1024128"/>
                  </a:lnTo>
                  <a:cubicBezTo>
                    <a:pt x="22183344" y="1165479"/>
                    <a:pt x="22068664" y="1280160"/>
                    <a:pt x="21927313" y="1280160"/>
                  </a:cubicBezTo>
                  <a:lnTo>
                    <a:pt x="256032" y="1280160"/>
                  </a:lnTo>
                  <a:cubicBezTo>
                    <a:pt x="114681" y="1280160"/>
                    <a:pt x="0" y="1165479"/>
                    <a:pt x="0" y="1024128"/>
                  </a:cubicBezTo>
                  <a:close/>
                </a:path>
              </a:pathLst>
            </a:custGeom>
            <a:solidFill>
              <a:srgbClr val="4F46E5">
                <a:alpha val="1176"/>
              </a:srgbClr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93292" y="8599932"/>
            <a:ext cx="630936" cy="630936"/>
            <a:chOff x="0" y="0"/>
            <a:chExt cx="841248" cy="84124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41248" cy="841248"/>
            </a:xfrm>
            <a:custGeom>
              <a:avLst/>
              <a:gdLst/>
              <a:ahLst/>
              <a:cxnLst/>
              <a:rect r="r" b="b" t="t" l="l"/>
              <a:pathLst>
                <a:path h="841248" w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351026" y="8757666"/>
            <a:ext cx="315468" cy="315468"/>
            <a:chOff x="0" y="0"/>
            <a:chExt cx="420624" cy="420624"/>
          </a:xfrm>
        </p:grpSpPr>
        <p:sp>
          <p:nvSpPr>
            <p:cNvPr name="Freeform 54" id="54" descr="sync"/>
            <p:cNvSpPr/>
            <p:nvPr/>
          </p:nvSpPr>
          <p:spPr>
            <a:xfrm flipH="false" flipV="false" rot="0">
              <a:off x="0" y="0"/>
              <a:ext cx="420624" cy="420624"/>
            </a:xfrm>
            <a:custGeom>
              <a:avLst/>
              <a:gdLst/>
              <a:ahLst/>
              <a:cxnLst/>
              <a:rect r="r" b="b" t="t" l="l"/>
              <a:pathLst>
                <a:path h="420624" w="420624">
                  <a:moveTo>
                    <a:pt x="0" y="0"/>
                  </a:moveTo>
                  <a:lnTo>
                    <a:pt x="420624" y="0"/>
                  </a:lnTo>
                  <a:lnTo>
                    <a:pt x="420624" y="420624"/>
                  </a:lnTo>
                  <a:lnTo>
                    <a:pt x="0" y="420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2125980" y="8435340"/>
            <a:ext cx="14991588" cy="960120"/>
            <a:chOff x="0" y="0"/>
            <a:chExt cx="19988784" cy="12801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9988785" cy="1280160"/>
            </a:xfrm>
            <a:custGeom>
              <a:avLst/>
              <a:gdLst/>
              <a:ahLst/>
              <a:cxnLst/>
              <a:rect r="r" b="b" t="t" l="l"/>
              <a:pathLst>
                <a:path h="1280160" w="19988785">
                  <a:moveTo>
                    <a:pt x="0" y="0"/>
                  </a:moveTo>
                  <a:lnTo>
                    <a:pt x="19988785" y="0"/>
                  </a:lnTo>
                  <a:lnTo>
                    <a:pt x="19988785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4244" r="0" b="-254244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19988784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Firebase là lớp dữ liệu trung tâm: ESP32 ghi dữ liệu chấm công, ứng dụng nhận thay đổi ngay khi đang mở.</a:t>
              </a:r>
            </a:p>
          </p:txBody>
        </p:sp>
      </p:grpSp>
      <p:sp>
        <p:nvSpPr>
          <p:cNvPr name="Freeform 58" id="58"/>
          <p:cNvSpPr/>
          <p:nvPr/>
        </p:nvSpPr>
        <p:spPr>
          <a:xfrm flipH="false" flipV="false" rot="0">
            <a:off x="720728" y="685800"/>
            <a:ext cx="1066800" cy="914400"/>
          </a:xfrm>
          <a:custGeom>
            <a:avLst/>
            <a:gdLst/>
            <a:ahLst/>
            <a:cxnLst/>
            <a:rect r="r" b="b" t="t" l="l"/>
            <a:pathLst>
              <a:path h="914400" w="10668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1600" y="1028700"/>
            <a:ext cx="16916400" cy="176841"/>
            <a:chOff x="0" y="0"/>
            <a:chExt cx="22555200" cy="2357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242384"/>
            <a:ext cx="16916400" cy="176841"/>
            <a:chOff x="0" y="0"/>
            <a:chExt cx="22555200" cy="2357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20728" y="685800"/>
            <a:ext cx="1066800" cy="914400"/>
          </a:xfrm>
          <a:custGeom>
            <a:avLst/>
            <a:gdLst/>
            <a:ahLst/>
            <a:cxnLst/>
            <a:rect r="r" b="b" t="t" l="l"/>
            <a:pathLst>
              <a:path h="914400" w="10668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25840" y="9734245"/>
            <a:ext cx="8122920" cy="37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885950" y="594360"/>
            <a:ext cx="16637508" cy="1097280"/>
            <a:chOff x="0" y="0"/>
            <a:chExt cx="22183344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833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5441" r="0" b="-24544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14300"/>
              <a:ext cx="22183344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Trạm chấm công: ESP32 + AS608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2125980"/>
            <a:ext cx="9381744" cy="6377940"/>
            <a:chOff x="0" y="0"/>
            <a:chExt cx="12508992" cy="8503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08992" cy="8503920"/>
            </a:xfrm>
            <a:custGeom>
              <a:avLst/>
              <a:gdLst/>
              <a:ahLst/>
              <a:cxnLst/>
              <a:rect r="r" b="b" t="t" l="l"/>
              <a:pathLst>
                <a:path h="8503920" w="12508992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12252960" y="0"/>
                  </a:lnTo>
                  <a:cubicBezTo>
                    <a:pt x="12394311" y="0"/>
                    <a:pt x="12508992" y="114681"/>
                    <a:pt x="12508992" y="256032"/>
                  </a:cubicBezTo>
                  <a:lnTo>
                    <a:pt x="12508992" y="8247888"/>
                  </a:lnTo>
                  <a:cubicBezTo>
                    <a:pt x="12508992" y="8389239"/>
                    <a:pt x="12394311" y="8503920"/>
                    <a:pt x="12252960" y="8503920"/>
                  </a:cubicBezTo>
                  <a:lnTo>
                    <a:pt x="256032" y="8503920"/>
                  </a:lnTo>
                  <a:cubicBezTo>
                    <a:pt x="114681" y="8503920"/>
                    <a:pt x="0" y="8389239"/>
                    <a:pt x="0" y="8247888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87552" y="2290572"/>
            <a:ext cx="9052560" cy="6048756"/>
            <a:chOff x="0" y="0"/>
            <a:chExt cx="12070080" cy="8065008"/>
          </a:xfrm>
        </p:grpSpPr>
        <p:sp>
          <p:nvSpPr>
            <p:cNvPr name="Freeform 15" id="15" descr="Sơ đồ kết nối phần cứng ESP32, AS608, LED và buzzer"/>
            <p:cNvSpPr/>
            <p:nvPr/>
          </p:nvSpPr>
          <p:spPr>
            <a:xfrm flipH="false" flipV="false" rot="0">
              <a:off x="0" y="0"/>
              <a:ext cx="12070080" cy="8065008"/>
            </a:xfrm>
            <a:custGeom>
              <a:avLst/>
              <a:gdLst/>
              <a:ahLst/>
              <a:cxnLst/>
              <a:rect r="r" b="b" t="t" l="l"/>
              <a:pathLst>
                <a:path h="8065008" w="12070080">
                  <a:moveTo>
                    <a:pt x="0" y="0"/>
                  </a:moveTo>
                  <a:lnTo>
                    <a:pt x="12070080" y="0"/>
                  </a:lnTo>
                  <a:lnTo>
                    <a:pt x="12070080" y="8065008"/>
                  </a:lnTo>
                  <a:lnTo>
                    <a:pt x="0" y="80650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3" t="0" r="-13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522476" y="8710041"/>
            <a:ext cx="9381744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Sơ đồ kết nối: ESP32 NodeMCU, AS608 (500 DPI), 2 LED, buzzer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29900" y="2068830"/>
            <a:ext cx="6830568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Sơ đồ chân · UART 57.600 bps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629900" y="2811780"/>
            <a:ext cx="6830568" cy="548640"/>
            <a:chOff x="0" y="0"/>
            <a:chExt cx="9107424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107424" cy="731520"/>
            </a:xfrm>
            <a:custGeom>
              <a:avLst/>
              <a:gdLst/>
              <a:ahLst/>
              <a:cxnLst/>
              <a:rect r="r" b="b" t="t" l="l"/>
              <a:pathLst>
                <a:path h="731520" w="910742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961120" y="0"/>
                  </a:lnTo>
                  <a:cubicBezTo>
                    <a:pt x="9041892" y="0"/>
                    <a:pt x="9107424" y="65532"/>
                    <a:pt x="9107424" y="146304"/>
                  </a:cubicBezTo>
                  <a:lnTo>
                    <a:pt x="9107424" y="585216"/>
                  </a:lnTo>
                  <a:cubicBezTo>
                    <a:pt x="9107424" y="665988"/>
                    <a:pt x="9041892" y="731520"/>
                    <a:pt x="8961120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904220" y="2811780"/>
            <a:ext cx="4663440" cy="548640"/>
            <a:chOff x="0" y="0"/>
            <a:chExt cx="621792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2179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AS608 TX → RX2 của ESP32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5567660" y="2811780"/>
            <a:ext cx="1618488" cy="548640"/>
            <a:chOff x="0" y="0"/>
            <a:chExt cx="2157984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57984" cy="731520"/>
            </a:xfrm>
            <a:custGeom>
              <a:avLst/>
              <a:gdLst/>
              <a:ahLst/>
              <a:cxnLst/>
              <a:rect r="r" b="b" t="t" l="l"/>
              <a:pathLst>
                <a:path h="731520" w="2157984">
                  <a:moveTo>
                    <a:pt x="0" y="0"/>
                  </a:moveTo>
                  <a:lnTo>
                    <a:pt x="2157984" y="0"/>
                  </a:lnTo>
                  <a:lnTo>
                    <a:pt x="21579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480" r="0" b="-748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215798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b="true">
                  <a:solidFill>
                    <a:srgbClr val="4F46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GPIO16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629900" y="3497580"/>
            <a:ext cx="6830568" cy="548640"/>
            <a:chOff x="0" y="0"/>
            <a:chExt cx="9107424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107424" cy="731520"/>
            </a:xfrm>
            <a:custGeom>
              <a:avLst/>
              <a:gdLst/>
              <a:ahLst/>
              <a:cxnLst/>
              <a:rect r="r" b="b" t="t" l="l"/>
              <a:pathLst>
                <a:path h="731520" w="910742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961120" y="0"/>
                  </a:lnTo>
                  <a:cubicBezTo>
                    <a:pt x="9041892" y="0"/>
                    <a:pt x="9107424" y="65532"/>
                    <a:pt x="9107424" y="146304"/>
                  </a:cubicBezTo>
                  <a:lnTo>
                    <a:pt x="9107424" y="585216"/>
                  </a:lnTo>
                  <a:cubicBezTo>
                    <a:pt x="9107424" y="665988"/>
                    <a:pt x="9041892" y="731520"/>
                    <a:pt x="8961120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904220" y="3497580"/>
            <a:ext cx="4663440" cy="548640"/>
            <a:chOff x="0" y="0"/>
            <a:chExt cx="621792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62179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AS608 RX → TX2 của ESP32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567660" y="3497580"/>
            <a:ext cx="1618488" cy="548640"/>
            <a:chOff x="0" y="0"/>
            <a:chExt cx="2157984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57984" cy="731520"/>
            </a:xfrm>
            <a:custGeom>
              <a:avLst/>
              <a:gdLst/>
              <a:ahLst/>
              <a:cxnLst/>
              <a:rect r="r" b="b" t="t" l="l"/>
              <a:pathLst>
                <a:path h="731520" w="2157984">
                  <a:moveTo>
                    <a:pt x="0" y="0"/>
                  </a:moveTo>
                  <a:lnTo>
                    <a:pt x="2157984" y="0"/>
                  </a:lnTo>
                  <a:lnTo>
                    <a:pt x="21579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480" r="0" b="-748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215798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b="true">
                  <a:solidFill>
                    <a:srgbClr val="4F46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GPIO17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629900" y="4183380"/>
            <a:ext cx="6830568" cy="548640"/>
            <a:chOff x="0" y="0"/>
            <a:chExt cx="9107424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107424" cy="731520"/>
            </a:xfrm>
            <a:custGeom>
              <a:avLst/>
              <a:gdLst/>
              <a:ahLst/>
              <a:cxnLst/>
              <a:rect r="r" b="b" t="t" l="l"/>
              <a:pathLst>
                <a:path h="731520" w="910742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961120" y="0"/>
                  </a:lnTo>
                  <a:cubicBezTo>
                    <a:pt x="9041892" y="0"/>
                    <a:pt x="9107424" y="65532"/>
                    <a:pt x="9107424" y="146304"/>
                  </a:cubicBezTo>
                  <a:lnTo>
                    <a:pt x="9107424" y="585216"/>
                  </a:lnTo>
                  <a:cubicBezTo>
                    <a:pt x="9107424" y="665988"/>
                    <a:pt x="9041892" y="731520"/>
                    <a:pt x="8961120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0904220" y="4183380"/>
            <a:ext cx="4663440" cy="548640"/>
            <a:chOff x="0" y="0"/>
            <a:chExt cx="621792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62179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LED xanh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5567660" y="4183380"/>
            <a:ext cx="1618488" cy="548640"/>
            <a:chOff x="0" y="0"/>
            <a:chExt cx="2157984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157984" cy="731520"/>
            </a:xfrm>
            <a:custGeom>
              <a:avLst/>
              <a:gdLst/>
              <a:ahLst/>
              <a:cxnLst/>
              <a:rect r="r" b="b" t="t" l="l"/>
              <a:pathLst>
                <a:path h="731520" w="2157984">
                  <a:moveTo>
                    <a:pt x="0" y="0"/>
                  </a:moveTo>
                  <a:lnTo>
                    <a:pt x="2157984" y="0"/>
                  </a:lnTo>
                  <a:lnTo>
                    <a:pt x="21579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480" r="0" b="-748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215798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b="true">
                  <a:solidFill>
                    <a:srgbClr val="4F46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GPIO18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629900" y="4869180"/>
            <a:ext cx="6830568" cy="548640"/>
            <a:chOff x="0" y="0"/>
            <a:chExt cx="9107424" cy="7315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07424" cy="731520"/>
            </a:xfrm>
            <a:custGeom>
              <a:avLst/>
              <a:gdLst/>
              <a:ahLst/>
              <a:cxnLst/>
              <a:rect r="r" b="b" t="t" l="l"/>
              <a:pathLst>
                <a:path h="731520" w="910742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961120" y="0"/>
                  </a:lnTo>
                  <a:cubicBezTo>
                    <a:pt x="9041892" y="0"/>
                    <a:pt x="9107424" y="65532"/>
                    <a:pt x="9107424" y="146304"/>
                  </a:cubicBezTo>
                  <a:lnTo>
                    <a:pt x="9107424" y="585216"/>
                  </a:lnTo>
                  <a:cubicBezTo>
                    <a:pt x="9107424" y="665988"/>
                    <a:pt x="9041892" y="731520"/>
                    <a:pt x="8961120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904220" y="4869180"/>
            <a:ext cx="4663440" cy="548640"/>
            <a:chOff x="0" y="0"/>
            <a:chExt cx="621792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2179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LED đỏ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5567660" y="4869180"/>
            <a:ext cx="1618488" cy="548640"/>
            <a:chOff x="0" y="0"/>
            <a:chExt cx="2157984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157984" cy="731520"/>
            </a:xfrm>
            <a:custGeom>
              <a:avLst/>
              <a:gdLst/>
              <a:ahLst/>
              <a:cxnLst/>
              <a:rect r="r" b="b" t="t" l="l"/>
              <a:pathLst>
                <a:path h="731520" w="2157984">
                  <a:moveTo>
                    <a:pt x="0" y="0"/>
                  </a:moveTo>
                  <a:lnTo>
                    <a:pt x="2157984" y="0"/>
                  </a:lnTo>
                  <a:lnTo>
                    <a:pt x="21579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480" r="0" b="-748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215798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b="true">
                  <a:solidFill>
                    <a:srgbClr val="4F46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GPIO19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629900" y="5554980"/>
            <a:ext cx="6830568" cy="548640"/>
            <a:chOff x="0" y="0"/>
            <a:chExt cx="9107424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107424" cy="731520"/>
            </a:xfrm>
            <a:custGeom>
              <a:avLst/>
              <a:gdLst/>
              <a:ahLst/>
              <a:cxnLst/>
              <a:rect r="r" b="b" t="t" l="l"/>
              <a:pathLst>
                <a:path h="731520" w="9107424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961120" y="0"/>
                  </a:lnTo>
                  <a:cubicBezTo>
                    <a:pt x="9041892" y="0"/>
                    <a:pt x="9107424" y="65532"/>
                    <a:pt x="9107424" y="146304"/>
                  </a:cubicBezTo>
                  <a:lnTo>
                    <a:pt x="9107424" y="585216"/>
                  </a:lnTo>
                  <a:cubicBezTo>
                    <a:pt x="9107424" y="665988"/>
                    <a:pt x="9041892" y="731520"/>
                    <a:pt x="8961120" y="731520"/>
                  </a:cubicBezTo>
                  <a:lnTo>
                    <a:pt x="146304" y="731520"/>
                  </a:lnTo>
                  <a:cubicBezTo>
                    <a:pt x="65532" y="731520"/>
                    <a:pt x="0" y="665988"/>
                    <a:pt x="0" y="585216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0904220" y="5554980"/>
            <a:ext cx="4663440" cy="548640"/>
            <a:chOff x="0" y="0"/>
            <a:chExt cx="6217920" cy="7315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217920" cy="731520"/>
            </a:xfrm>
            <a:custGeom>
              <a:avLst/>
              <a:gdLst/>
              <a:ahLst/>
              <a:cxnLst/>
              <a:rect r="r" b="b" t="t" l="l"/>
              <a:pathLst>
                <a:path h="73152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62179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Buzzer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5567660" y="5554980"/>
            <a:ext cx="1618488" cy="548640"/>
            <a:chOff x="0" y="0"/>
            <a:chExt cx="2157984" cy="7315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157984" cy="731520"/>
            </a:xfrm>
            <a:custGeom>
              <a:avLst/>
              <a:gdLst/>
              <a:ahLst/>
              <a:cxnLst/>
              <a:rect r="r" b="b" t="t" l="l"/>
              <a:pathLst>
                <a:path h="731520" w="2157984">
                  <a:moveTo>
                    <a:pt x="0" y="0"/>
                  </a:moveTo>
                  <a:lnTo>
                    <a:pt x="2157984" y="0"/>
                  </a:lnTo>
                  <a:lnTo>
                    <a:pt x="215798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480" r="0" b="-748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2157984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520"/>
                </a:lnSpc>
              </a:pPr>
              <a:r>
                <a:rPr lang="en-US" sz="2100" b="true">
                  <a:solidFill>
                    <a:srgbClr val="4F46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GPIO4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0629900" y="6389370"/>
            <a:ext cx="6830568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Phản hồi tại trạm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0629900" y="7228332"/>
            <a:ext cx="329184" cy="329184"/>
            <a:chOff x="0" y="0"/>
            <a:chExt cx="438912" cy="43891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1247120" y="7132320"/>
            <a:ext cx="6213348" cy="521208"/>
            <a:chOff x="0" y="0"/>
            <a:chExt cx="8284464" cy="69494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284464" cy="694944"/>
            </a:xfrm>
            <a:custGeom>
              <a:avLst/>
              <a:gdLst/>
              <a:ahLst/>
              <a:cxnLst/>
              <a:rect r="r" b="b" t="t" l="l"/>
              <a:pathLst>
                <a:path h="694944" w="8284464">
                  <a:moveTo>
                    <a:pt x="0" y="0"/>
                  </a:moveTo>
                  <a:lnTo>
                    <a:pt x="8284464" y="0"/>
                  </a:lnTo>
                  <a:lnTo>
                    <a:pt x="828446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2282" r="0" b="-18228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57150"/>
              <a:ext cx="8284464" cy="752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Thành công: LED xanh + 2 bíp ngắn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629900" y="7914132"/>
            <a:ext cx="329184" cy="329184"/>
            <a:chOff x="0" y="0"/>
            <a:chExt cx="438912" cy="43891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1247120" y="7818120"/>
            <a:ext cx="6213348" cy="521208"/>
            <a:chOff x="0" y="0"/>
            <a:chExt cx="8284464" cy="69494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8284464" cy="694944"/>
            </a:xfrm>
            <a:custGeom>
              <a:avLst/>
              <a:gdLst/>
              <a:ahLst/>
              <a:cxnLst/>
              <a:rect r="r" b="b" t="t" l="l"/>
              <a:pathLst>
                <a:path h="694944" w="8284464">
                  <a:moveTo>
                    <a:pt x="0" y="0"/>
                  </a:moveTo>
                  <a:lnTo>
                    <a:pt x="8284464" y="0"/>
                  </a:lnTo>
                  <a:lnTo>
                    <a:pt x="828446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2282" r="0" b="-182282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8284464" cy="752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Không khớp: LED đỏ + 1 bíp dài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629900" y="8599932"/>
            <a:ext cx="329184" cy="329184"/>
            <a:chOff x="0" y="0"/>
            <a:chExt cx="438912" cy="43891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cubicBezTo>
                    <a:pt x="340614" y="0"/>
                    <a:pt x="438912" y="98298"/>
                    <a:pt x="438912" y="219456"/>
                  </a:cubicBezTo>
                  <a:cubicBezTo>
                    <a:pt x="438912" y="340614"/>
                    <a:pt x="340614" y="438912"/>
                    <a:pt x="219456" y="438912"/>
                  </a:cubicBezTo>
                  <a:cubicBezTo>
                    <a:pt x="98298" y="438912"/>
                    <a:pt x="0" y="340614"/>
                    <a:pt x="0" y="219456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1247120" y="8503920"/>
            <a:ext cx="6213348" cy="521208"/>
            <a:chOff x="0" y="0"/>
            <a:chExt cx="8284464" cy="69494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284464" cy="694944"/>
            </a:xfrm>
            <a:custGeom>
              <a:avLst/>
              <a:gdLst/>
              <a:ahLst/>
              <a:cxnLst/>
              <a:rect r="r" b="b" t="t" l="l"/>
              <a:pathLst>
                <a:path h="694944" w="8284464">
                  <a:moveTo>
                    <a:pt x="0" y="0"/>
                  </a:moveTo>
                  <a:lnTo>
                    <a:pt x="8284464" y="0"/>
                  </a:lnTo>
                  <a:lnTo>
                    <a:pt x="8284464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82282" r="0" b="-182282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8284464" cy="752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Lỗi cảm biến: LED đỏ sáng liên tục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1600" y="1028700"/>
            <a:ext cx="16916400" cy="176841"/>
            <a:chOff x="0" y="0"/>
            <a:chExt cx="22555200" cy="2357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242384"/>
            <a:ext cx="16916400" cy="176841"/>
            <a:chOff x="0" y="0"/>
            <a:chExt cx="22555200" cy="2357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20728" y="685800"/>
            <a:ext cx="1066800" cy="914400"/>
          </a:xfrm>
          <a:custGeom>
            <a:avLst/>
            <a:gdLst/>
            <a:ahLst/>
            <a:cxnLst/>
            <a:rect r="r" b="b" t="t" l="l"/>
            <a:pathLst>
              <a:path h="914400" w="10668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25840" y="9734245"/>
            <a:ext cx="8122920" cy="37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988820" y="594360"/>
            <a:ext cx="16637508" cy="1097280"/>
            <a:chOff x="0" y="0"/>
            <a:chExt cx="22183344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833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5441" r="0" b="-24544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14300"/>
              <a:ext cx="22183344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Quy trình chấm công bằng vân tay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2125980"/>
            <a:ext cx="1234440" cy="1234440"/>
            <a:chOff x="0" y="0"/>
            <a:chExt cx="1645920" cy="1645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31570" y="2434590"/>
            <a:ext cx="617220" cy="617220"/>
            <a:chOff x="0" y="0"/>
            <a:chExt cx="822960" cy="822960"/>
          </a:xfrm>
        </p:grpSpPr>
        <p:sp>
          <p:nvSpPr>
            <p:cNvPr name="Freeform 15" id="15" descr="fingerprint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AutoShape 16" id="16"/>
          <p:cNvSpPr/>
          <p:nvPr/>
        </p:nvSpPr>
        <p:spPr>
          <a:xfrm rot="76679">
            <a:off x="2172891" y="2733675"/>
            <a:ext cx="1922431" cy="0"/>
          </a:xfrm>
          <a:prstGeom prst="line">
            <a:avLst/>
          </a:prstGeom>
          <a:ln cap="rnd" w="19050">
            <a:solidFill>
              <a:srgbClr val="64748B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7" id="17"/>
          <p:cNvSpPr txBox="true"/>
          <p:nvPr/>
        </p:nvSpPr>
        <p:spPr>
          <a:xfrm rot="0">
            <a:off x="822960" y="3596640"/>
            <a:ext cx="30861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Quét vân tay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2960" y="4135755"/>
            <a:ext cx="3086100" cy="121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Đặt ngón tay lên cảm biến AS608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210812" y="2125980"/>
            <a:ext cx="1234440" cy="1234440"/>
            <a:chOff x="0" y="0"/>
            <a:chExt cx="164592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519422" y="2434590"/>
            <a:ext cx="617220" cy="617220"/>
            <a:chOff x="0" y="0"/>
            <a:chExt cx="822960" cy="822960"/>
          </a:xfrm>
        </p:grpSpPr>
        <p:sp>
          <p:nvSpPr>
            <p:cNvPr name="Freeform 22" id="22" descr="chip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AutoShape 23" id="23"/>
          <p:cNvSpPr/>
          <p:nvPr/>
        </p:nvSpPr>
        <p:spPr>
          <a:xfrm rot="76680">
            <a:off x="5560743" y="2733675"/>
            <a:ext cx="1922431" cy="0"/>
          </a:xfrm>
          <a:prstGeom prst="line">
            <a:avLst/>
          </a:prstGeom>
          <a:ln cap="rnd" w="19050">
            <a:solidFill>
              <a:srgbClr val="64748B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4" id="24"/>
          <p:cNvSpPr txBox="true"/>
          <p:nvPr/>
        </p:nvSpPr>
        <p:spPr>
          <a:xfrm rot="0">
            <a:off x="4210812" y="3596640"/>
            <a:ext cx="30861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Nhận dạng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10812" y="4135755"/>
            <a:ext cx="3086100" cy="121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AS608 trả fingerprintId cho ESP32 qua UART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7598664" y="2125980"/>
            <a:ext cx="1234440" cy="1234440"/>
            <a:chOff x="0" y="0"/>
            <a:chExt cx="1645920" cy="16459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907274" y="2434590"/>
            <a:ext cx="617220" cy="617220"/>
            <a:chOff x="0" y="0"/>
            <a:chExt cx="822960" cy="822960"/>
          </a:xfrm>
        </p:grpSpPr>
        <p:sp>
          <p:nvSpPr>
            <p:cNvPr name="Freeform 29" id="29" descr="userCheck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AutoShape 30" id="30"/>
          <p:cNvSpPr/>
          <p:nvPr/>
        </p:nvSpPr>
        <p:spPr>
          <a:xfrm rot="76679">
            <a:off x="8948595" y="2733675"/>
            <a:ext cx="1922431" cy="0"/>
          </a:xfrm>
          <a:prstGeom prst="line">
            <a:avLst/>
          </a:prstGeom>
          <a:ln cap="rnd" w="19050">
            <a:solidFill>
              <a:srgbClr val="64748B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1" id="31"/>
          <p:cNvSpPr txBox="true"/>
          <p:nvPr/>
        </p:nvSpPr>
        <p:spPr>
          <a:xfrm rot="0">
            <a:off x="7598664" y="3596640"/>
            <a:ext cx="30861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Xác định nhân viên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598664" y="4135755"/>
            <a:ext cx="3086100" cy="121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ESP32 đối chiếu fingerprintId trên Firebase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986516" y="2125980"/>
            <a:ext cx="1234440" cy="1234440"/>
            <a:chOff x="0" y="0"/>
            <a:chExt cx="1645920" cy="16459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1295126" y="2434590"/>
            <a:ext cx="617220" cy="617220"/>
            <a:chOff x="0" y="0"/>
            <a:chExt cx="822960" cy="822960"/>
          </a:xfrm>
        </p:grpSpPr>
        <p:sp>
          <p:nvSpPr>
            <p:cNvPr name="Freeform 36" id="36" descr="exchange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AutoShape 37" id="37"/>
          <p:cNvSpPr/>
          <p:nvPr/>
        </p:nvSpPr>
        <p:spPr>
          <a:xfrm rot="76680">
            <a:off x="12336447" y="2733675"/>
            <a:ext cx="1922431" cy="0"/>
          </a:xfrm>
          <a:prstGeom prst="line">
            <a:avLst/>
          </a:prstGeom>
          <a:ln cap="rnd" w="19050">
            <a:solidFill>
              <a:srgbClr val="64748B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38" id="38"/>
          <p:cNvSpPr txBox="true"/>
          <p:nvPr/>
        </p:nvSpPr>
        <p:spPr>
          <a:xfrm rot="0">
            <a:off x="10986516" y="3596640"/>
            <a:ext cx="30861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 Check-in / Check-out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986516" y="4135755"/>
            <a:ext cx="3086100" cy="121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Xác định theo bản ghi chấm công trong ngày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4374368" y="2125980"/>
            <a:ext cx="1234440" cy="1234440"/>
            <a:chOff x="0" y="0"/>
            <a:chExt cx="1645920" cy="16459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6459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45920">
                  <a:moveTo>
                    <a:pt x="0" y="822960"/>
                  </a:moveTo>
                  <a:cubicBezTo>
                    <a:pt x="0" y="368427"/>
                    <a:pt x="368427" y="0"/>
                    <a:pt x="822960" y="0"/>
                  </a:cubicBezTo>
                  <a:cubicBezTo>
                    <a:pt x="1277493" y="0"/>
                    <a:pt x="1645920" y="368427"/>
                    <a:pt x="1645920" y="822960"/>
                  </a:cubicBezTo>
                  <a:cubicBezTo>
                    <a:pt x="1645920" y="1277493"/>
                    <a:pt x="1277493" y="1645920"/>
                    <a:pt x="822960" y="1645920"/>
                  </a:cubicBezTo>
                  <a:cubicBezTo>
                    <a:pt x="368427" y="1645920"/>
                    <a:pt x="0" y="1277493"/>
                    <a:pt x="0" y="822960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682978" y="2434590"/>
            <a:ext cx="617220" cy="617220"/>
            <a:chOff x="0" y="0"/>
            <a:chExt cx="822960" cy="822960"/>
          </a:xfrm>
        </p:grpSpPr>
        <p:sp>
          <p:nvSpPr>
            <p:cNvPr name="Freeform 43" id="43" descr="sync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4374368" y="3596640"/>
            <a:ext cx="308610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5. Ghi và hiển thị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374368" y="4135755"/>
            <a:ext cx="3086100" cy="121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Ghi lên Firebase, ứng dụng cập nhật realtime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22960" y="5634990"/>
            <a:ext cx="8229600" cy="60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Quy tắc nghiệp vụ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822960" y="6377940"/>
            <a:ext cx="3977640" cy="2880360"/>
            <a:chOff x="0" y="0"/>
            <a:chExt cx="5303520" cy="38404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0352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30352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5047488" y="0"/>
                  </a:lnTo>
                  <a:cubicBezTo>
                    <a:pt x="5188839" y="0"/>
                    <a:pt x="5303520" y="114681"/>
                    <a:pt x="5303520" y="256032"/>
                  </a:cubicBezTo>
                  <a:lnTo>
                    <a:pt x="5303520" y="3584448"/>
                  </a:lnTo>
                  <a:cubicBezTo>
                    <a:pt x="5303520" y="3725799"/>
                    <a:pt x="5188839" y="3840480"/>
                    <a:pt x="5047488" y="3840480"/>
                  </a:cubicBezTo>
                  <a:lnTo>
                    <a:pt x="256032" y="3840480"/>
                  </a:lnTo>
                  <a:cubicBezTo>
                    <a:pt x="114681" y="3840480"/>
                    <a:pt x="0" y="3725799"/>
                    <a:pt x="0" y="3584448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65860" y="6652260"/>
            <a:ext cx="822960" cy="822960"/>
            <a:chOff x="0" y="0"/>
            <a:chExt cx="1097280" cy="10972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71600" y="6858000"/>
            <a:ext cx="411480" cy="411480"/>
            <a:chOff x="0" y="0"/>
            <a:chExt cx="548640" cy="548640"/>
          </a:xfrm>
        </p:grpSpPr>
        <p:sp>
          <p:nvSpPr>
            <p:cNvPr name="Freeform 52" id="52" descr="checkDouble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1165860" y="7574280"/>
            <a:ext cx="3429000" cy="47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Check-in / Check-out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65860" y="8072247"/>
            <a:ext cx="33604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Lượt đầu trong ngày là Check-in; Check-out sau Check-in tối thiểu 5 phút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5042916" y="6377940"/>
            <a:ext cx="3977640" cy="2880360"/>
            <a:chOff x="0" y="0"/>
            <a:chExt cx="5303520" cy="38404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30352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30352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5047488" y="0"/>
                  </a:lnTo>
                  <a:cubicBezTo>
                    <a:pt x="5188839" y="0"/>
                    <a:pt x="5303520" y="114681"/>
                    <a:pt x="5303520" y="256032"/>
                  </a:cubicBezTo>
                  <a:lnTo>
                    <a:pt x="5303520" y="3584448"/>
                  </a:lnTo>
                  <a:cubicBezTo>
                    <a:pt x="5303520" y="3725799"/>
                    <a:pt x="5188839" y="3840480"/>
                    <a:pt x="5047488" y="3840480"/>
                  </a:cubicBezTo>
                  <a:lnTo>
                    <a:pt x="256032" y="3840480"/>
                  </a:lnTo>
                  <a:cubicBezTo>
                    <a:pt x="114681" y="3840480"/>
                    <a:pt x="0" y="3725799"/>
                    <a:pt x="0" y="3584448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5385816" y="6652260"/>
            <a:ext cx="822960" cy="822960"/>
            <a:chOff x="0" y="0"/>
            <a:chExt cx="1097280" cy="10972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EF4444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5591556" y="6858000"/>
            <a:ext cx="411480" cy="411480"/>
            <a:chOff x="0" y="0"/>
            <a:chExt cx="548640" cy="548640"/>
          </a:xfrm>
        </p:grpSpPr>
        <p:sp>
          <p:nvSpPr>
            <p:cNvPr name="Freeform 60" id="60" descr="ban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5385816" y="7574280"/>
            <a:ext cx="3429000" cy="47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Chống quét lặp 300 giây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385816" y="8072247"/>
            <a:ext cx="33604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Bỏ qua lượt quét lặp, không ghi đè giờ vào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9262872" y="6377940"/>
            <a:ext cx="3977640" cy="2880360"/>
            <a:chOff x="0" y="0"/>
            <a:chExt cx="5303520" cy="38404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30352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30352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5047488" y="0"/>
                  </a:lnTo>
                  <a:cubicBezTo>
                    <a:pt x="5188839" y="0"/>
                    <a:pt x="5303520" y="114681"/>
                    <a:pt x="5303520" y="256032"/>
                  </a:cubicBezTo>
                  <a:lnTo>
                    <a:pt x="5303520" y="3584448"/>
                  </a:lnTo>
                  <a:cubicBezTo>
                    <a:pt x="5303520" y="3725799"/>
                    <a:pt x="5188839" y="3840480"/>
                    <a:pt x="5047488" y="3840480"/>
                  </a:cubicBezTo>
                  <a:lnTo>
                    <a:pt x="256032" y="3840480"/>
                  </a:lnTo>
                  <a:cubicBezTo>
                    <a:pt x="114681" y="3840480"/>
                    <a:pt x="0" y="3725799"/>
                    <a:pt x="0" y="3584448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605772" y="6652260"/>
            <a:ext cx="822960" cy="822960"/>
            <a:chOff x="0" y="0"/>
            <a:chExt cx="1097280" cy="10972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811512" y="6858000"/>
            <a:ext cx="411480" cy="411480"/>
            <a:chOff x="0" y="0"/>
            <a:chExt cx="548640" cy="548640"/>
          </a:xfrm>
        </p:grpSpPr>
        <p:sp>
          <p:nvSpPr>
            <p:cNvPr name="Freeform 68" id="68" descr="fingerprint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69" id="69"/>
          <p:cNvSpPr txBox="true"/>
          <p:nvPr/>
        </p:nvSpPr>
        <p:spPr>
          <a:xfrm rot="0">
            <a:off x="9605772" y="7574280"/>
            <a:ext cx="3429000" cy="47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Đọc kiểm chứng 3 lần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9605772" y="8072247"/>
            <a:ext cx="33604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3 lần đọc liên tiếp, cách nhau 80 ms, để kết quả ổn định</a:t>
            </a:r>
          </a:p>
        </p:txBody>
      </p:sp>
      <p:grpSp>
        <p:nvGrpSpPr>
          <p:cNvPr name="Group 71" id="71"/>
          <p:cNvGrpSpPr/>
          <p:nvPr/>
        </p:nvGrpSpPr>
        <p:grpSpPr>
          <a:xfrm rot="0">
            <a:off x="13482828" y="6377940"/>
            <a:ext cx="3977640" cy="2880360"/>
            <a:chOff x="0" y="0"/>
            <a:chExt cx="5303520" cy="38404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30352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30352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5047488" y="0"/>
                  </a:lnTo>
                  <a:cubicBezTo>
                    <a:pt x="5188839" y="0"/>
                    <a:pt x="5303520" y="114681"/>
                    <a:pt x="5303520" y="256032"/>
                  </a:cubicBezTo>
                  <a:lnTo>
                    <a:pt x="5303520" y="3584448"/>
                  </a:lnTo>
                  <a:cubicBezTo>
                    <a:pt x="5303520" y="3725799"/>
                    <a:pt x="5188839" y="3840480"/>
                    <a:pt x="5047488" y="3840480"/>
                  </a:cubicBezTo>
                  <a:lnTo>
                    <a:pt x="256032" y="3840480"/>
                  </a:lnTo>
                  <a:cubicBezTo>
                    <a:pt x="114681" y="3840480"/>
                    <a:pt x="0" y="3725799"/>
                    <a:pt x="0" y="3584448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3825728" y="6652260"/>
            <a:ext cx="822960" cy="822960"/>
            <a:chOff x="0" y="0"/>
            <a:chExt cx="1097280" cy="10972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4031468" y="6858000"/>
            <a:ext cx="411480" cy="411480"/>
            <a:chOff x="0" y="0"/>
            <a:chExt cx="548640" cy="548640"/>
          </a:xfrm>
        </p:grpSpPr>
        <p:sp>
          <p:nvSpPr>
            <p:cNvPr name="Freeform 76" id="76" descr="calc"/>
            <p:cNvSpPr/>
            <p:nvPr/>
          </p:nvSpPr>
          <p:spPr>
            <a:xfrm flipH="false" flipV="false" rot="0">
              <a:off x="0" y="0"/>
              <a:ext cx="54864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77" id="77"/>
          <p:cNvSpPr txBox="true"/>
          <p:nvPr/>
        </p:nvSpPr>
        <p:spPr>
          <a:xfrm rot="0">
            <a:off x="13825728" y="7574280"/>
            <a:ext cx="3429000" cy="477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Tự tính đi trễ, tăng ca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3825728" y="8072247"/>
            <a:ext cx="336042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Dựa trên ca làm việc, thời gian ân hạn và giờ kết thúc ca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1600" y="1028700"/>
            <a:ext cx="16916400" cy="176841"/>
            <a:chOff x="0" y="0"/>
            <a:chExt cx="22555200" cy="2357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242384"/>
            <a:ext cx="16916400" cy="176841"/>
            <a:chOff x="0" y="0"/>
            <a:chExt cx="22555200" cy="2357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20728" y="685800"/>
            <a:ext cx="1066800" cy="914400"/>
          </a:xfrm>
          <a:custGeom>
            <a:avLst/>
            <a:gdLst/>
            <a:ahLst/>
            <a:cxnLst/>
            <a:rect r="r" b="b" t="t" l="l"/>
            <a:pathLst>
              <a:path h="914400" w="10668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25840" y="9734245"/>
            <a:ext cx="8122920" cy="37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057400" y="614553"/>
            <a:ext cx="16637508" cy="1097280"/>
            <a:chOff x="0" y="0"/>
            <a:chExt cx="22183344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833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5441" r="0" b="-24544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14300"/>
              <a:ext cx="22183344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Đăng ký vân tay từ xa qua ứng dụng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 rot="5381940">
            <a:off x="-1488796" y="5374005"/>
            <a:ext cx="5446471" cy="0"/>
          </a:xfrm>
          <a:prstGeom prst="line">
            <a:avLst/>
          </a:prstGeom>
          <a:ln cap="rnd" w="19050">
            <a:solidFill>
              <a:srgbClr val="64748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822960" y="2263140"/>
            <a:ext cx="822960" cy="822960"/>
            <a:chOff x="0" y="0"/>
            <a:chExt cx="1097280" cy="10972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2263140"/>
            <a:ext cx="822960" cy="822960"/>
            <a:chOff x="0" y="0"/>
            <a:chExt cx="109728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057400" y="2188083"/>
            <a:ext cx="7818120" cy="48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Admin tạo yêu cầu đăng ký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57400" y="2668143"/>
            <a:ext cx="781812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Chọn nhân viên cần liên kết vân tay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822960" y="3621024"/>
            <a:ext cx="822960" cy="822960"/>
            <a:chOff x="0" y="0"/>
            <a:chExt cx="109728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3621024"/>
            <a:ext cx="822960" cy="822960"/>
            <a:chOff x="0" y="0"/>
            <a:chExt cx="109728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2057400" y="3545967"/>
            <a:ext cx="7818120" cy="48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Lưu yêu cầu lên Firebase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057400" y="4026027"/>
            <a:ext cx="781812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Ghi vào /enrollment_requests cùng trạng thái xử lý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22960" y="4978908"/>
            <a:ext cx="822960" cy="822960"/>
            <a:chOff x="0" y="0"/>
            <a:chExt cx="1097280" cy="1097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4978908"/>
            <a:ext cx="822960" cy="822960"/>
            <a:chOff x="0" y="0"/>
            <a:chExt cx="109728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057400" y="4903851"/>
            <a:ext cx="7818120" cy="48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ESP32 nhận yêu cầu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057400" y="5383911"/>
            <a:ext cx="781812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Thiết bị định kỳ kiểm tra yêu cầu trên Firebase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822960" y="6336792"/>
            <a:ext cx="822960" cy="822960"/>
            <a:chOff x="0" y="0"/>
            <a:chExt cx="109728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22960" y="6336792"/>
            <a:ext cx="822960" cy="822960"/>
            <a:chOff x="0" y="0"/>
            <a:chExt cx="1097280" cy="1097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057400" y="6261735"/>
            <a:ext cx="7818120" cy="48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Quét cùng một ngón tay hai lần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057400" y="6741795"/>
            <a:ext cx="781812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AS608 ghép mẫu và lưu vào vị trí trống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822960" y="7694676"/>
            <a:ext cx="822960" cy="822960"/>
            <a:chOff x="0" y="0"/>
            <a:chExt cx="1097280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22960" y="7694676"/>
            <a:ext cx="822960" cy="822960"/>
            <a:chOff x="0" y="0"/>
            <a:chExt cx="1097280" cy="1097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109728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2057400" y="7619619"/>
            <a:ext cx="7818120" cy="48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Liên kết fingerprintId với nhân viên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057400" y="8099679"/>
            <a:ext cx="781812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Ứng dụng nhận trạng thái mới và báo kết quả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822960" y="9025128"/>
            <a:ext cx="274320" cy="274320"/>
            <a:chOff x="0" y="0"/>
            <a:chExt cx="365760" cy="3657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234440" y="8942832"/>
            <a:ext cx="1783080" cy="438912"/>
            <a:chOff x="0" y="0"/>
            <a:chExt cx="2377440" cy="5852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377440" cy="585216"/>
            </a:xfrm>
            <a:custGeom>
              <a:avLst/>
              <a:gdLst/>
              <a:ahLst/>
              <a:cxnLst/>
              <a:rect r="r" b="b" t="t" l="l"/>
              <a:pathLst>
                <a:path h="585216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237744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Ứng dụng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3017520" y="9025128"/>
            <a:ext cx="274320" cy="274320"/>
            <a:chOff x="0" y="0"/>
            <a:chExt cx="365760" cy="3657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3429000" y="8942832"/>
            <a:ext cx="1783080" cy="438912"/>
            <a:chOff x="0" y="0"/>
            <a:chExt cx="2377440" cy="58521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377440" cy="585216"/>
            </a:xfrm>
            <a:custGeom>
              <a:avLst/>
              <a:gdLst/>
              <a:ahLst/>
              <a:cxnLst/>
              <a:rect r="r" b="b" t="t" l="l"/>
              <a:pathLst>
                <a:path h="585216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9157" r="0" b="-2915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47625"/>
              <a:ext cx="237744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Firebase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212080" y="9025128"/>
            <a:ext cx="274320" cy="274320"/>
            <a:chOff x="0" y="0"/>
            <a:chExt cx="365760" cy="3657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cubicBezTo>
                    <a:pt x="283845" y="0"/>
                    <a:pt x="365760" y="81915"/>
                    <a:pt x="365760" y="182880"/>
                  </a:cubicBezTo>
                  <a:cubicBezTo>
                    <a:pt x="365760" y="283845"/>
                    <a:pt x="283845" y="365760"/>
                    <a:pt x="182880" y="365760"/>
                  </a:cubicBezTo>
                  <a:cubicBezTo>
                    <a:pt x="81915" y="365760"/>
                    <a:pt x="0" y="283845"/>
                    <a:pt x="0" y="182880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5623560" y="8942832"/>
            <a:ext cx="3566160" cy="438912"/>
            <a:chOff x="0" y="0"/>
            <a:chExt cx="4754880" cy="58521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754880" cy="585216"/>
            </a:xfrm>
            <a:custGeom>
              <a:avLst/>
              <a:gdLst/>
              <a:ahLst/>
              <a:cxnLst/>
              <a:rect r="r" b="b" t="t" l="l"/>
              <a:pathLst>
                <a:path h="585216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08315" r="0" b="-10831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47625"/>
              <a:ext cx="4754880" cy="6328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Thiết bị (ESP32, AS608)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0081260" y="2263140"/>
            <a:ext cx="7379208" cy="4320540"/>
            <a:chOff x="0" y="0"/>
            <a:chExt cx="9838944" cy="576072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838944" cy="5760720"/>
            </a:xfrm>
            <a:custGeom>
              <a:avLst/>
              <a:gdLst/>
              <a:ahLst/>
              <a:cxnLst/>
              <a:rect r="r" b="b" t="t" l="l"/>
              <a:pathLst>
                <a:path h="5760720" w="983894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9582912" y="0"/>
                  </a:lnTo>
                  <a:cubicBezTo>
                    <a:pt x="9724263" y="0"/>
                    <a:pt x="9838944" y="114681"/>
                    <a:pt x="9838944" y="256032"/>
                  </a:cubicBezTo>
                  <a:lnTo>
                    <a:pt x="9838944" y="5504688"/>
                  </a:lnTo>
                  <a:cubicBezTo>
                    <a:pt x="9838944" y="5646039"/>
                    <a:pt x="9724263" y="5760720"/>
                    <a:pt x="9582912" y="5760720"/>
                  </a:cubicBezTo>
                  <a:lnTo>
                    <a:pt x="256032" y="5760720"/>
                  </a:lnTo>
                  <a:cubicBezTo>
                    <a:pt x="114681" y="5760720"/>
                    <a:pt x="0" y="5646039"/>
                    <a:pt x="0" y="5504688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0245852" y="2427732"/>
            <a:ext cx="7050024" cy="3744468"/>
            <a:chOff x="0" y="0"/>
            <a:chExt cx="9400032" cy="4992624"/>
          </a:xfrm>
        </p:grpSpPr>
        <p:sp>
          <p:nvSpPr>
            <p:cNvPr name="Freeform 66" id="66" descr="Sơ đồ tuần tự đăng ký vân tay"/>
            <p:cNvSpPr/>
            <p:nvPr/>
          </p:nvSpPr>
          <p:spPr>
            <a:xfrm flipH="false" flipV="false" rot="0">
              <a:off x="0" y="0"/>
              <a:ext cx="9400032" cy="4992624"/>
            </a:xfrm>
            <a:custGeom>
              <a:avLst/>
              <a:gdLst/>
              <a:ahLst/>
              <a:cxnLst/>
              <a:rect r="r" b="b" t="t" l="l"/>
              <a:pathLst>
                <a:path h="4992624" w="9400032">
                  <a:moveTo>
                    <a:pt x="0" y="0"/>
                  </a:moveTo>
                  <a:lnTo>
                    <a:pt x="9400032" y="0"/>
                  </a:lnTo>
                  <a:lnTo>
                    <a:pt x="9400032" y="4992624"/>
                  </a:lnTo>
                  <a:lnTo>
                    <a:pt x="0" y="4992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8" r="0" b="-18"/>
              </a:stretch>
            </a:blip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10081260" y="6106668"/>
            <a:ext cx="7379208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4748B"/>
                </a:solidFill>
                <a:latin typeface="Calibri (MS)"/>
                <a:ea typeface="Calibri (MS)"/>
                <a:cs typeface="Calibri (MS)"/>
                <a:sym typeface="Calibri (MS)"/>
              </a:rPr>
              <a:t>Sơ đồ tuần tự đăng ký vân tay (trích báo cáo)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10081260" y="6926580"/>
            <a:ext cx="7379208" cy="2331720"/>
            <a:chOff x="0" y="0"/>
            <a:chExt cx="9838944" cy="31089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838944" cy="3108960"/>
            </a:xfrm>
            <a:custGeom>
              <a:avLst/>
              <a:gdLst/>
              <a:ahLst/>
              <a:cxnLst/>
              <a:rect r="r" b="b" t="t" l="l"/>
              <a:pathLst>
                <a:path h="3108960" w="983894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9582912" y="0"/>
                  </a:lnTo>
                  <a:cubicBezTo>
                    <a:pt x="9724263" y="0"/>
                    <a:pt x="9838944" y="114681"/>
                    <a:pt x="9838944" y="256032"/>
                  </a:cubicBezTo>
                  <a:lnTo>
                    <a:pt x="9838944" y="2852928"/>
                  </a:lnTo>
                  <a:cubicBezTo>
                    <a:pt x="9838944" y="2994279"/>
                    <a:pt x="9724263" y="3108960"/>
                    <a:pt x="9582912" y="3108960"/>
                  </a:cubicBezTo>
                  <a:lnTo>
                    <a:pt x="256032" y="3108960"/>
                  </a:lnTo>
                  <a:cubicBezTo>
                    <a:pt x="114681" y="3108960"/>
                    <a:pt x="0" y="2994279"/>
                    <a:pt x="0" y="2852928"/>
                  </a:cubicBezTo>
                  <a:close/>
                </a:path>
              </a:pathLst>
            </a:custGeom>
            <a:solidFill>
              <a:srgbClr val="4F46E5"/>
            </a:solid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10561320" y="7231380"/>
            <a:ext cx="6446520" cy="422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3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ĐIỂM NỔI BẬT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561320" y="7711440"/>
            <a:ext cx="6446520" cy="1341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Admin điều khiển từ xa trên ứng dụng; nhân viên chỉ cần quét ngón tay tại trạm.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1600" y="1028700"/>
            <a:ext cx="16916400" cy="176841"/>
            <a:chOff x="0" y="0"/>
            <a:chExt cx="22555200" cy="2357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242384"/>
            <a:ext cx="16916400" cy="176841"/>
            <a:chOff x="0" y="0"/>
            <a:chExt cx="22555200" cy="2357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20728" y="685800"/>
            <a:ext cx="1066800" cy="914400"/>
          </a:xfrm>
          <a:custGeom>
            <a:avLst/>
            <a:gdLst/>
            <a:ahLst/>
            <a:cxnLst/>
            <a:rect r="r" b="b" t="t" l="l"/>
            <a:pathLst>
              <a:path h="914400" w="10668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25840" y="9734245"/>
            <a:ext cx="8122920" cy="37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988820" y="594360"/>
            <a:ext cx="16637508" cy="1097280"/>
            <a:chOff x="0" y="0"/>
            <a:chExt cx="22183344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833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5441" r="0" b="-24544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14300"/>
              <a:ext cx="22183344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Cơ sở dữ liệu Firebase Realtime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2125980"/>
            <a:ext cx="3984498" cy="2948940"/>
            <a:chOff x="0" y="0"/>
            <a:chExt cx="5312664" cy="393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312664" cy="3931920"/>
            </a:xfrm>
            <a:custGeom>
              <a:avLst/>
              <a:gdLst/>
              <a:ahLst/>
              <a:cxnLst/>
              <a:rect r="r" b="b" t="t" l="l"/>
              <a:pathLst>
                <a:path h="3931920" w="53126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5056632" y="0"/>
                  </a:lnTo>
                  <a:cubicBezTo>
                    <a:pt x="5197983" y="0"/>
                    <a:pt x="5312664" y="114681"/>
                    <a:pt x="5312664" y="256032"/>
                  </a:cubicBezTo>
                  <a:lnTo>
                    <a:pt x="5312664" y="3675888"/>
                  </a:lnTo>
                  <a:cubicBezTo>
                    <a:pt x="5312664" y="3817239"/>
                    <a:pt x="5197983" y="3931920"/>
                    <a:pt x="5056632" y="3931920"/>
                  </a:cubicBezTo>
                  <a:lnTo>
                    <a:pt x="256032" y="3931920"/>
                  </a:lnTo>
                  <a:cubicBezTo>
                    <a:pt x="114681" y="3931920"/>
                    <a:pt x="0" y="3817239"/>
                    <a:pt x="0" y="3675888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97280" y="2380107"/>
            <a:ext cx="350443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4F46E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/users/{uid}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7280" y="2928747"/>
            <a:ext cx="3504438" cy="48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Tài khoản và vai trò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7280" y="3518535"/>
            <a:ext cx="3504438" cy="135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email, role, active, employeeId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040630" y="2125980"/>
            <a:ext cx="3984498" cy="2948940"/>
            <a:chOff x="0" y="0"/>
            <a:chExt cx="5312664" cy="3931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312664" cy="3931920"/>
            </a:xfrm>
            <a:custGeom>
              <a:avLst/>
              <a:gdLst/>
              <a:ahLst/>
              <a:cxnLst/>
              <a:rect r="r" b="b" t="t" l="l"/>
              <a:pathLst>
                <a:path h="3931920" w="53126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5056632" y="0"/>
                  </a:lnTo>
                  <a:cubicBezTo>
                    <a:pt x="5197983" y="0"/>
                    <a:pt x="5312664" y="114681"/>
                    <a:pt x="5312664" y="256032"/>
                  </a:cubicBezTo>
                  <a:lnTo>
                    <a:pt x="5312664" y="3675888"/>
                  </a:lnTo>
                  <a:cubicBezTo>
                    <a:pt x="5312664" y="3817239"/>
                    <a:pt x="5197983" y="3931920"/>
                    <a:pt x="5056632" y="3931920"/>
                  </a:cubicBezTo>
                  <a:lnTo>
                    <a:pt x="256032" y="3931920"/>
                  </a:lnTo>
                  <a:cubicBezTo>
                    <a:pt x="114681" y="3931920"/>
                    <a:pt x="0" y="3817239"/>
                    <a:pt x="0" y="3675888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314950" y="2380107"/>
            <a:ext cx="350443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4F46E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/employees/{id}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314950" y="2928747"/>
            <a:ext cx="3504438" cy="48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Hồ sơ nhân viên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14950" y="3518535"/>
            <a:ext cx="3504438" cy="135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name, department, fingerprintId, assignedShiftId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58300" y="2125980"/>
            <a:ext cx="3984498" cy="2948940"/>
            <a:chOff x="0" y="0"/>
            <a:chExt cx="5312664" cy="39319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12664" cy="3931920"/>
            </a:xfrm>
            <a:custGeom>
              <a:avLst/>
              <a:gdLst/>
              <a:ahLst/>
              <a:cxnLst/>
              <a:rect r="r" b="b" t="t" l="l"/>
              <a:pathLst>
                <a:path h="3931920" w="53126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5056632" y="0"/>
                  </a:lnTo>
                  <a:cubicBezTo>
                    <a:pt x="5197983" y="0"/>
                    <a:pt x="5312664" y="114681"/>
                    <a:pt x="5312664" y="256032"/>
                  </a:cubicBezTo>
                  <a:lnTo>
                    <a:pt x="5312664" y="3675888"/>
                  </a:lnTo>
                  <a:cubicBezTo>
                    <a:pt x="5312664" y="3817239"/>
                    <a:pt x="5197983" y="3931920"/>
                    <a:pt x="5056632" y="3931920"/>
                  </a:cubicBezTo>
                  <a:lnTo>
                    <a:pt x="256032" y="3931920"/>
                  </a:lnTo>
                  <a:cubicBezTo>
                    <a:pt x="114681" y="3931920"/>
                    <a:pt x="0" y="3817239"/>
                    <a:pt x="0" y="3675888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532620" y="2380107"/>
            <a:ext cx="350443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4F46E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/shifts/{id}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532620" y="2928747"/>
            <a:ext cx="3504438" cy="48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 làm việc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32620" y="3518535"/>
            <a:ext cx="3504438" cy="135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startTime, endTime, gracePeriodMinutes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475970" y="2125980"/>
            <a:ext cx="3984498" cy="2948940"/>
            <a:chOff x="0" y="0"/>
            <a:chExt cx="5312664" cy="39319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312664" cy="3931920"/>
            </a:xfrm>
            <a:custGeom>
              <a:avLst/>
              <a:gdLst/>
              <a:ahLst/>
              <a:cxnLst/>
              <a:rect r="r" b="b" t="t" l="l"/>
              <a:pathLst>
                <a:path h="3931920" w="53126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5056632" y="0"/>
                  </a:lnTo>
                  <a:cubicBezTo>
                    <a:pt x="5197983" y="0"/>
                    <a:pt x="5312664" y="114681"/>
                    <a:pt x="5312664" y="256032"/>
                  </a:cubicBezTo>
                  <a:lnTo>
                    <a:pt x="5312664" y="3675888"/>
                  </a:lnTo>
                  <a:cubicBezTo>
                    <a:pt x="5312664" y="3817239"/>
                    <a:pt x="5197983" y="3931920"/>
                    <a:pt x="5056632" y="3931920"/>
                  </a:cubicBezTo>
                  <a:lnTo>
                    <a:pt x="256032" y="3931920"/>
                  </a:lnTo>
                  <a:cubicBezTo>
                    <a:pt x="114681" y="3931920"/>
                    <a:pt x="0" y="3817239"/>
                    <a:pt x="0" y="3675888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3750290" y="2380107"/>
            <a:ext cx="350443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4F46E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/attendance/{date}/{id}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750290" y="2928747"/>
            <a:ext cx="3504438" cy="48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Bản ghi chấm công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750290" y="3518535"/>
            <a:ext cx="3504438" cy="135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checkIn, checkOut, status, lateMinutes, workingHours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22960" y="5349240"/>
            <a:ext cx="3984498" cy="2948940"/>
            <a:chOff x="0" y="0"/>
            <a:chExt cx="5312664" cy="39319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312664" cy="3931920"/>
            </a:xfrm>
            <a:custGeom>
              <a:avLst/>
              <a:gdLst/>
              <a:ahLst/>
              <a:cxnLst/>
              <a:rect r="r" b="b" t="t" l="l"/>
              <a:pathLst>
                <a:path h="3931920" w="53126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5056632" y="0"/>
                  </a:lnTo>
                  <a:cubicBezTo>
                    <a:pt x="5197983" y="0"/>
                    <a:pt x="5312664" y="114681"/>
                    <a:pt x="5312664" y="256032"/>
                  </a:cubicBezTo>
                  <a:lnTo>
                    <a:pt x="5312664" y="3675888"/>
                  </a:lnTo>
                  <a:cubicBezTo>
                    <a:pt x="5312664" y="3817239"/>
                    <a:pt x="5197983" y="3931920"/>
                    <a:pt x="5056632" y="3931920"/>
                  </a:cubicBezTo>
                  <a:lnTo>
                    <a:pt x="256032" y="3931920"/>
                  </a:lnTo>
                  <a:cubicBezTo>
                    <a:pt x="114681" y="3931920"/>
                    <a:pt x="0" y="3817239"/>
                    <a:pt x="0" y="3675888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97280" y="5603367"/>
            <a:ext cx="350443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4F46E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/attendance_logs/{id}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97280" y="6152007"/>
            <a:ext cx="3504438" cy="48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Nhật ký lượt quét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97280" y="6741795"/>
            <a:ext cx="3504438" cy="135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fingerprintId, employeeId, outcome, timestamp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5040630" y="5349240"/>
            <a:ext cx="3984498" cy="2948940"/>
            <a:chOff x="0" y="0"/>
            <a:chExt cx="5312664" cy="39319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12664" cy="3931920"/>
            </a:xfrm>
            <a:custGeom>
              <a:avLst/>
              <a:gdLst/>
              <a:ahLst/>
              <a:cxnLst/>
              <a:rect r="r" b="b" t="t" l="l"/>
              <a:pathLst>
                <a:path h="3931920" w="53126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5056632" y="0"/>
                  </a:lnTo>
                  <a:cubicBezTo>
                    <a:pt x="5197983" y="0"/>
                    <a:pt x="5312664" y="114681"/>
                    <a:pt x="5312664" y="256032"/>
                  </a:cubicBezTo>
                  <a:lnTo>
                    <a:pt x="5312664" y="3675888"/>
                  </a:lnTo>
                  <a:cubicBezTo>
                    <a:pt x="5312664" y="3817239"/>
                    <a:pt x="5197983" y="3931920"/>
                    <a:pt x="5056632" y="3931920"/>
                  </a:cubicBezTo>
                  <a:lnTo>
                    <a:pt x="256032" y="3931920"/>
                  </a:lnTo>
                  <a:cubicBezTo>
                    <a:pt x="114681" y="3931920"/>
                    <a:pt x="0" y="3817239"/>
                    <a:pt x="0" y="3675888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5314950" y="5603367"/>
            <a:ext cx="350443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4F46E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/enrollment_requests/{id}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5314950" y="6152007"/>
            <a:ext cx="3504438" cy="48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Yêu cầu đăng ký vân tay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314950" y="6741795"/>
            <a:ext cx="3504438" cy="135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employeeId, deviceId, status, step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258300" y="5349240"/>
            <a:ext cx="3984498" cy="2948940"/>
            <a:chOff x="0" y="0"/>
            <a:chExt cx="5312664" cy="39319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312664" cy="3931920"/>
            </a:xfrm>
            <a:custGeom>
              <a:avLst/>
              <a:gdLst/>
              <a:ahLst/>
              <a:cxnLst/>
              <a:rect r="r" b="b" t="t" l="l"/>
              <a:pathLst>
                <a:path h="3931920" w="53126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5056632" y="0"/>
                  </a:lnTo>
                  <a:cubicBezTo>
                    <a:pt x="5197983" y="0"/>
                    <a:pt x="5312664" y="114681"/>
                    <a:pt x="5312664" y="256032"/>
                  </a:cubicBezTo>
                  <a:lnTo>
                    <a:pt x="5312664" y="3675888"/>
                  </a:lnTo>
                  <a:cubicBezTo>
                    <a:pt x="5312664" y="3817239"/>
                    <a:pt x="5197983" y="3931920"/>
                    <a:pt x="5056632" y="3931920"/>
                  </a:cubicBezTo>
                  <a:lnTo>
                    <a:pt x="256032" y="3931920"/>
                  </a:lnTo>
                  <a:cubicBezTo>
                    <a:pt x="114681" y="3931920"/>
                    <a:pt x="0" y="3817239"/>
                    <a:pt x="0" y="3675888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9532620" y="5603367"/>
            <a:ext cx="350443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4F46E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/devices/{id}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532620" y="6152007"/>
            <a:ext cx="3504438" cy="48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Trạng thái thiết bị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532620" y="6741795"/>
            <a:ext cx="3504438" cy="135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status, lastSeen, capacity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3475970" y="5349240"/>
            <a:ext cx="3984498" cy="2948940"/>
            <a:chOff x="0" y="0"/>
            <a:chExt cx="5312664" cy="39319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12664" cy="3931920"/>
            </a:xfrm>
            <a:custGeom>
              <a:avLst/>
              <a:gdLst/>
              <a:ahLst/>
              <a:cxnLst/>
              <a:rect r="r" b="b" t="t" l="l"/>
              <a:pathLst>
                <a:path h="3931920" w="53126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5056632" y="0"/>
                  </a:lnTo>
                  <a:cubicBezTo>
                    <a:pt x="5197983" y="0"/>
                    <a:pt x="5312664" y="114681"/>
                    <a:pt x="5312664" y="256032"/>
                  </a:cubicBezTo>
                  <a:lnTo>
                    <a:pt x="5312664" y="3675888"/>
                  </a:lnTo>
                  <a:cubicBezTo>
                    <a:pt x="5312664" y="3817239"/>
                    <a:pt x="5197983" y="3931920"/>
                    <a:pt x="5056632" y="3931920"/>
                  </a:cubicBezTo>
                  <a:lnTo>
                    <a:pt x="256032" y="3931920"/>
                  </a:lnTo>
                  <a:cubicBezTo>
                    <a:pt x="114681" y="3931920"/>
                    <a:pt x="0" y="3817239"/>
                    <a:pt x="0" y="3675888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3750290" y="5603367"/>
            <a:ext cx="3504438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4F46E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/settings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750290" y="6152007"/>
            <a:ext cx="3504438" cy="486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Cấu hình chung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3750290" y="6741795"/>
            <a:ext cx="3504438" cy="1350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companyName, graceMinutesGlobal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822960" y="8572500"/>
            <a:ext cx="16637508" cy="891540"/>
            <a:chOff x="0" y="0"/>
            <a:chExt cx="22183344" cy="118872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2183344" cy="1188720"/>
            </a:xfrm>
            <a:custGeom>
              <a:avLst/>
              <a:gdLst/>
              <a:ahLst/>
              <a:cxnLst/>
              <a:rect r="r" b="b" t="t" l="l"/>
              <a:pathLst>
                <a:path h="1188720" w="2218334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21927313" y="0"/>
                  </a:lnTo>
                  <a:cubicBezTo>
                    <a:pt x="22068664" y="0"/>
                    <a:pt x="22183344" y="114681"/>
                    <a:pt x="22183344" y="256032"/>
                  </a:cubicBezTo>
                  <a:lnTo>
                    <a:pt x="22183344" y="932688"/>
                  </a:lnTo>
                  <a:cubicBezTo>
                    <a:pt x="22183344" y="1074039"/>
                    <a:pt x="22068664" y="1188720"/>
                    <a:pt x="21927313" y="1188720"/>
                  </a:cubicBezTo>
                  <a:lnTo>
                    <a:pt x="256032" y="1188720"/>
                  </a:lnTo>
                  <a:cubicBezTo>
                    <a:pt x="114681" y="1188720"/>
                    <a:pt x="0" y="1074039"/>
                    <a:pt x="0" y="932688"/>
                  </a:cubicBezTo>
                  <a:close/>
                </a:path>
              </a:pathLst>
            </a:custGeom>
            <a:solidFill>
              <a:srgbClr val="4F46E5">
                <a:alpha val="1176"/>
              </a:srgbClr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52144" y="8730234"/>
            <a:ext cx="576072" cy="576072"/>
            <a:chOff x="0" y="0"/>
            <a:chExt cx="768096" cy="76809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96162" y="8874252"/>
            <a:ext cx="288036" cy="288036"/>
            <a:chOff x="0" y="0"/>
            <a:chExt cx="384048" cy="384048"/>
          </a:xfrm>
        </p:grpSpPr>
        <p:sp>
          <p:nvSpPr>
            <p:cNvPr name="Freeform 57" id="57" descr="key"/>
            <p:cNvSpPr/>
            <p:nvPr/>
          </p:nvSpPr>
          <p:spPr>
            <a:xfrm flipH="false" flipV="false" rot="0">
              <a:off x="0" y="0"/>
              <a:ext cx="384048" cy="384048"/>
            </a:xfrm>
            <a:custGeom>
              <a:avLst/>
              <a:gdLst/>
              <a:ahLst/>
              <a:cxnLst/>
              <a:rect r="r" b="b" t="t" l="l"/>
              <a:pathLst>
                <a:path h="384048" w="384048">
                  <a:moveTo>
                    <a:pt x="0" y="0"/>
                  </a:moveTo>
                  <a:lnTo>
                    <a:pt x="384048" y="0"/>
                  </a:lnTo>
                  <a:lnTo>
                    <a:pt x="384048" y="384048"/>
                  </a:lnTo>
                  <a:lnTo>
                    <a:pt x="0" y="384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988820" y="8572500"/>
            <a:ext cx="15197328" cy="891540"/>
            <a:chOff x="0" y="0"/>
            <a:chExt cx="20263104" cy="11887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0263104" cy="1188720"/>
            </a:xfrm>
            <a:custGeom>
              <a:avLst/>
              <a:gdLst/>
              <a:ahLst/>
              <a:cxnLst/>
              <a:rect r="r" b="b" t="t" l="l"/>
              <a:pathLst>
                <a:path h="1188720" w="20263104">
                  <a:moveTo>
                    <a:pt x="0" y="0"/>
                  </a:moveTo>
                  <a:lnTo>
                    <a:pt x="20263104" y="0"/>
                  </a:lnTo>
                  <a:lnTo>
                    <a:pt x="20263104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2144" r="0" b="-282144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47625"/>
              <a:ext cx="20263104" cy="1236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fingerprintId nối mã vân tay từ AS608 với hồ sơ nhân viên. attendance lưu bản ghi theo ngày, attendance_logs lưu từng lượt quét.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1600" y="1028700"/>
            <a:ext cx="16916400" cy="176841"/>
            <a:chOff x="0" y="0"/>
            <a:chExt cx="22555200" cy="2357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242384"/>
            <a:ext cx="16916400" cy="176841"/>
            <a:chOff x="0" y="0"/>
            <a:chExt cx="22555200" cy="2357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20728" y="685800"/>
            <a:ext cx="1066800" cy="914400"/>
          </a:xfrm>
          <a:custGeom>
            <a:avLst/>
            <a:gdLst/>
            <a:ahLst/>
            <a:cxnLst/>
            <a:rect r="r" b="b" t="t" l="l"/>
            <a:pathLst>
              <a:path h="914400" w="10668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25840" y="9734245"/>
            <a:ext cx="8122920" cy="37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057400" y="594360"/>
            <a:ext cx="16637508" cy="1097280"/>
            <a:chOff x="0" y="0"/>
            <a:chExt cx="22183344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833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5441" r="0" b="-24544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14300"/>
              <a:ext cx="22183344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Smart Attendance: hai vai trò người dùng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2125980"/>
            <a:ext cx="4937760" cy="1097280"/>
            <a:chOff x="0" y="0"/>
            <a:chExt cx="6583680" cy="1463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83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58368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6327648" y="0"/>
                  </a:lnTo>
                  <a:cubicBezTo>
                    <a:pt x="6468999" y="0"/>
                    <a:pt x="6583680" y="114681"/>
                    <a:pt x="6583680" y="256032"/>
                  </a:cubicBezTo>
                  <a:lnTo>
                    <a:pt x="6583680" y="1207008"/>
                  </a:lnTo>
                  <a:cubicBezTo>
                    <a:pt x="6583680" y="1348359"/>
                    <a:pt x="6468999" y="1463040"/>
                    <a:pt x="6327648" y="1463040"/>
                  </a:cubicBezTo>
                  <a:lnTo>
                    <a:pt x="256032" y="1463040"/>
                  </a:lnTo>
                  <a:cubicBezTo>
                    <a:pt x="114681" y="1463040"/>
                    <a:pt x="0" y="1348359"/>
                    <a:pt x="0" y="1207008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65860" y="2331720"/>
            <a:ext cx="685800" cy="685800"/>
            <a:chOff x="0" y="0"/>
            <a:chExt cx="9144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337310" y="2503170"/>
            <a:ext cx="342900" cy="342900"/>
            <a:chOff x="0" y="0"/>
            <a:chExt cx="457200" cy="457200"/>
          </a:xfrm>
        </p:grpSpPr>
        <p:sp>
          <p:nvSpPr>
            <p:cNvPr name="Freeform 17" id="17" descr="signin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057400" y="2125980"/>
            <a:ext cx="3497580" cy="1097280"/>
            <a:chOff x="0" y="0"/>
            <a:chExt cx="4663440" cy="14630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663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108" r="0" b="-1210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46634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Đăng nhập Email và mật khẩu (Firebase Auth)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942457" y="2400300"/>
            <a:ext cx="548640" cy="548640"/>
            <a:chOff x="0" y="0"/>
            <a:chExt cx="731520" cy="7315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6079617" y="2537460"/>
            <a:ext cx="274320" cy="274320"/>
            <a:chOff x="0" y="0"/>
            <a:chExt cx="365760" cy="365760"/>
          </a:xfrm>
        </p:grpSpPr>
        <p:sp>
          <p:nvSpPr>
            <p:cNvPr name="Freeform 24" id="24" descr="arrow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672834" y="2125980"/>
            <a:ext cx="4937760" cy="1097280"/>
            <a:chOff x="0" y="0"/>
            <a:chExt cx="6583680" cy="1463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83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58368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6327648" y="0"/>
                  </a:lnTo>
                  <a:cubicBezTo>
                    <a:pt x="6468999" y="0"/>
                    <a:pt x="6583680" y="114681"/>
                    <a:pt x="6583680" y="256032"/>
                  </a:cubicBezTo>
                  <a:lnTo>
                    <a:pt x="6583680" y="1207008"/>
                  </a:lnTo>
                  <a:cubicBezTo>
                    <a:pt x="6583680" y="1348359"/>
                    <a:pt x="6468999" y="1463040"/>
                    <a:pt x="6327648" y="1463040"/>
                  </a:cubicBezTo>
                  <a:lnTo>
                    <a:pt x="256032" y="1463040"/>
                  </a:lnTo>
                  <a:cubicBezTo>
                    <a:pt x="114681" y="1463040"/>
                    <a:pt x="0" y="1348359"/>
                    <a:pt x="0" y="1207008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015734" y="2331720"/>
            <a:ext cx="685800" cy="685800"/>
            <a:chOff x="0" y="0"/>
            <a:chExt cx="91440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187184" y="2503170"/>
            <a:ext cx="342900" cy="342900"/>
            <a:chOff x="0" y="0"/>
            <a:chExt cx="457200" cy="457200"/>
          </a:xfrm>
        </p:grpSpPr>
        <p:sp>
          <p:nvSpPr>
            <p:cNvPr name="Freeform 30" id="30" descr="key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7907274" y="2125980"/>
            <a:ext cx="3497580" cy="1097280"/>
            <a:chOff x="0" y="0"/>
            <a:chExt cx="4663440" cy="14630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63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108" r="0" b="-1210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46634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Đọc role và trạng thái active tại /users/{uid}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792331" y="2400300"/>
            <a:ext cx="548640" cy="548640"/>
            <a:chOff x="0" y="0"/>
            <a:chExt cx="73152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cubicBezTo>
                    <a:pt x="567817" y="0"/>
                    <a:pt x="731520" y="163703"/>
                    <a:pt x="731520" y="365760"/>
                  </a:cubicBezTo>
                  <a:cubicBezTo>
                    <a:pt x="731520" y="567817"/>
                    <a:pt x="567817" y="731520"/>
                    <a:pt x="365760" y="731520"/>
                  </a:cubicBez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64748B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929491" y="2537460"/>
            <a:ext cx="274320" cy="274320"/>
            <a:chOff x="0" y="0"/>
            <a:chExt cx="365760" cy="365760"/>
          </a:xfrm>
        </p:grpSpPr>
        <p:sp>
          <p:nvSpPr>
            <p:cNvPr name="Freeform 37" id="37" descr="arrow"/>
            <p:cNvSpPr/>
            <p:nvPr/>
          </p:nvSpPr>
          <p:spPr>
            <a:xfrm flipH="false" flipV="false" rot="0">
              <a:off x="0" y="0"/>
              <a:ext cx="365760" cy="365760"/>
            </a:xfrm>
            <a:custGeom>
              <a:avLst/>
              <a:gdLst/>
              <a:ahLst/>
              <a:cxnLst/>
              <a:rect r="r" b="b" t="t" l="l"/>
              <a:pathLst>
                <a:path h="365760" w="365760">
                  <a:moveTo>
                    <a:pt x="0" y="0"/>
                  </a:moveTo>
                  <a:lnTo>
                    <a:pt x="365760" y="0"/>
                  </a:lnTo>
                  <a:lnTo>
                    <a:pt x="365760" y="365760"/>
                  </a:lnTo>
                  <a:lnTo>
                    <a:pt x="0" y="365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522708" y="2125980"/>
            <a:ext cx="4937760" cy="1097280"/>
            <a:chOff x="0" y="0"/>
            <a:chExt cx="6583680" cy="14630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836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58368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6327648" y="0"/>
                  </a:lnTo>
                  <a:cubicBezTo>
                    <a:pt x="6468999" y="0"/>
                    <a:pt x="6583680" y="114681"/>
                    <a:pt x="6583680" y="256032"/>
                  </a:cubicBezTo>
                  <a:lnTo>
                    <a:pt x="6583680" y="1207008"/>
                  </a:lnTo>
                  <a:cubicBezTo>
                    <a:pt x="6583680" y="1348359"/>
                    <a:pt x="6468999" y="1463040"/>
                    <a:pt x="6327648" y="1463040"/>
                  </a:cubicBezTo>
                  <a:lnTo>
                    <a:pt x="256032" y="1463040"/>
                  </a:lnTo>
                  <a:cubicBezTo>
                    <a:pt x="114681" y="1463040"/>
                    <a:pt x="0" y="1348359"/>
                    <a:pt x="0" y="1207008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865608" y="2331720"/>
            <a:ext cx="685800" cy="685800"/>
            <a:chOff x="0" y="0"/>
            <a:chExt cx="91440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037058" y="2503170"/>
            <a:ext cx="342900" cy="342900"/>
            <a:chOff x="0" y="0"/>
            <a:chExt cx="457200" cy="457200"/>
          </a:xfrm>
        </p:grpSpPr>
        <p:sp>
          <p:nvSpPr>
            <p:cNvPr name="Freeform 43" id="43" descr="users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757148" y="2125980"/>
            <a:ext cx="3497580" cy="1097280"/>
            <a:chOff x="0" y="0"/>
            <a:chExt cx="4663440" cy="14630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6634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108" r="0" b="-12108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466344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Điều hướng đến giao diện Admin hoặc Employee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822960" y="3703320"/>
            <a:ext cx="8092440" cy="5623560"/>
            <a:chOff x="0" y="0"/>
            <a:chExt cx="10789920" cy="74980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789920" cy="7498080"/>
            </a:xfrm>
            <a:custGeom>
              <a:avLst/>
              <a:gdLst/>
              <a:ahLst/>
              <a:cxnLst/>
              <a:rect r="r" b="b" t="t" l="l"/>
              <a:pathLst>
                <a:path h="7498080" w="1078992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10533888" y="0"/>
                  </a:lnTo>
                  <a:cubicBezTo>
                    <a:pt x="10675366" y="0"/>
                    <a:pt x="10789920" y="114681"/>
                    <a:pt x="10789920" y="256032"/>
                  </a:cubicBezTo>
                  <a:lnTo>
                    <a:pt x="10789920" y="7242048"/>
                  </a:lnTo>
                  <a:cubicBezTo>
                    <a:pt x="10789920" y="7383526"/>
                    <a:pt x="10675239" y="7498080"/>
                    <a:pt x="10533888" y="7498080"/>
                  </a:cubicBezTo>
                  <a:lnTo>
                    <a:pt x="256032" y="7498080"/>
                  </a:lnTo>
                  <a:cubicBezTo>
                    <a:pt x="114681" y="7498080"/>
                    <a:pt x="0" y="7383399"/>
                    <a:pt x="0" y="7242048"/>
                  </a:cubicBez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9368028" y="3703320"/>
            <a:ext cx="8092440" cy="5623560"/>
            <a:chOff x="0" y="0"/>
            <a:chExt cx="10789920" cy="74980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789920" cy="7498080"/>
            </a:xfrm>
            <a:custGeom>
              <a:avLst/>
              <a:gdLst/>
              <a:ahLst/>
              <a:cxnLst/>
              <a:rect r="r" b="b" t="t" l="l"/>
              <a:pathLst>
                <a:path h="7498080" w="1078992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10533888" y="0"/>
                  </a:lnTo>
                  <a:cubicBezTo>
                    <a:pt x="10675366" y="0"/>
                    <a:pt x="10789920" y="114681"/>
                    <a:pt x="10789920" y="256032"/>
                  </a:cubicBezTo>
                  <a:lnTo>
                    <a:pt x="10789920" y="7242048"/>
                  </a:lnTo>
                  <a:cubicBezTo>
                    <a:pt x="10789920" y="7383526"/>
                    <a:pt x="10675239" y="7498080"/>
                    <a:pt x="10533888" y="7498080"/>
                  </a:cubicBezTo>
                  <a:lnTo>
                    <a:pt x="256032" y="7498080"/>
                  </a:lnTo>
                  <a:cubicBezTo>
                    <a:pt x="114681" y="7498080"/>
                    <a:pt x="0" y="7383399"/>
                    <a:pt x="0" y="7242048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34440" y="4114800"/>
            <a:ext cx="960120" cy="960120"/>
            <a:chOff x="0" y="0"/>
            <a:chExt cx="1280160" cy="12801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474470" y="4354830"/>
            <a:ext cx="480060" cy="480060"/>
            <a:chOff x="0" y="0"/>
            <a:chExt cx="640080" cy="640080"/>
          </a:xfrm>
        </p:grpSpPr>
        <p:sp>
          <p:nvSpPr>
            <p:cNvPr name="Freeform 54" id="54" descr="userShield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2537460" y="4114800"/>
            <a:ext cx="6035040" cy="960120"/>
            <a:chOff x="0" y="0"/>
            <a:chExt cx="8046720" cy="12801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046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66675"/>
              <a:ext cx="804672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 (quản trị viên)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9779508" y="4114800"/>
            <a:ext cx="960120" cy="960120"/>
            <a:chOff x="0" y="0"/>
            <a:chExt cx="1280160" cy="128016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019538" y="4354830"/>
            <a:ext cx="480060" cy="480060"/>
            <a:chOff x="0" y="0"/>
            <a:chExt cx="640080" cy="640080"/>
          </a:xfrm>
        </p:grpSpPr>
        <p:sp>
          <p:nvSpPr>
            <p:cNvPr name="Freeform 61" id="61" descr="user"/>
            <p:cNvSpPr/>
            <p:nvPr/>
          </p:nvSpPr>
          <p:spPr>
            <a:xfrm flipH="false" flipV="false" rot="0">
              <a:off x="0" y="0"/>
              <a:ext cx="64008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40080"/>
                  </a:lnTo>
                  <a:lnTo>
                    <a:pt x="0" y="640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082528" y="4114800"/>
            <a:ext cx="6035040" cy="960120"/>
            <a:chOff x="0" y="0"/>
            <a:chExt cx="8046720" cy="12801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0467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66675"/>
              <a:ext cx="8046720" cy="1346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Employee (nhân viên)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371600" y="5379720"/>
            <a:ext cx="7132320" cy="3741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Dashboard</a:t>
            </a: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– thống kê nhanh, trạng thái ESP32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Employees</a:t>
            </a: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– thêm, sửa, xóa nhân viên; đăng ký vân tay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Shifts</a:t>
            </a: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– tạo và chỉnh sửa ca làm việc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History</a:t>
            </a: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– tra cứu, tìm kiếm, lọc lịch sử chấm công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Reports</a:t>
            </a:r>
            <a:r>
              <a:rPr lang="en-US" sz="24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 – tỷ lệ đúng giờ, giờ làm, tăng ca, xuất CSV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916668" y="5379720"/>
            <a:ext cx="7132320" cy="3741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Thông tin cá nhân</a:t>
            </a: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 – hồ sơ và trạng thái làm việc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 làm việc</a:t>
            </a: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 – ca được phân công, giờ bắt đầu và kết thúc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Trạng thái trong ngày</a:t>
            </a: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 – giờ Check-in, Check-out, phút đi trễ</a:t>
            </a:r>
          </a:p>
          <a:p>
            <a:pPr algn="l" marL="434340" indent="-217170" lvl="1">
              <a:lnSpc>
                <a:spcPts val="2879"/>
              </a:lnSpc>
              <a:buFont typeface="Arial"/>
              <a:buChar char="•"/>
            </a:pPr>
            <a:r>
              <a:rPr lang="en-US" b="true" sz="2400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Lịch sử chấm công</a:t>
            </a: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 – giờ làm và tăng ca của bản thân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1600" y="1028700"/>
            <a:ext cx="16916400" cy="176841"/>
            <a:chOff x="0" y="0"/>
            <a:chExt cx="22555200" cy="2357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242384"/>
            <a:ext cx="16916400" cy="176841"/>
            <a:chOff x="0" y="0"/>
            <a:chExt cx="22555200" cy="2357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20728" y="685800"/>
            <a:ext cx="1066800" cy="914400"/>
          </a:xfrm>
          <a:custGeom>
            <a:avLst/>
            <a:gdLst/>
            <a:ahLst/>
            <a:cxnLst/>
            <a:rect r="r" b="b" t="t" l="l"/>
            <a:pathLst>
              <a:path h="914400" w="10668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25840" y="9734245"/>
            <a:ext cx="8122920" cy="37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117364" y="594360"/>
            <a:ext cx="16637508" cy="1097280"/>
            <a:chOff x="0" y="0"/>
            <a:chExt cx="22183344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833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5441" r="0" b="-24544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14300"/>
              <a:ext cx="22183344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Giao diện quản trị viên (Admin)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2057400"/>
            <a:ext cx="3950208" cy="7269480"/>
            <a:chOff x="0" y="0"/>
            <a:chExt cx="5266944" cy="96926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66944" cy="9692639"/>
            </a:xfrm>
            <a:custGeom>
              <a:avLst/>
              <a:gdLst/>
              <a:ahLst/>
              <a:cxnLst/>
              <a:rect r="r" b="b" t="t" l="l"/>
              <a:pathLst>
                <a:path h="9692639" w="526694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5010912" y="0"/>
                  </a:lnTo>
                  <a:cubicBezTo>
                    <a:pt x="5152263" y="0"/>
                    <a:pt x="5266944" y="114681"/>
                    <a:pt x="5266944" y="256032"/>
                  </a:cubicBezTo>
                  <a:lnTo>
                    <a:pt x="5266944" y="9436608"/>
                  </a:lnTo>
                  <a:cubicBezTo>
                    <a:pt x="5266944" y="9577959"/>
                    <a:pt x="5152263" y="9692639"/>
                    <a:pt x="5010912" y="9692639"/>
                  </a:cubicBezTo>
                  <a:lnTo>
                    <a:pt x="256032" y="9692639"/>
                  </a:lnTo>
                  <a:cubicBezTo>
                    <a:pt x="114681" y="9692640"/>
                    <a:pt x="0" y="9577959"/>
                    <a:pt x="0" y="9436608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72003" y="2331720"/>
            <a:ext cx="2652122" cy="5678424"/>
            <a:chOff x="0" y="0"/>
            <a:chExt cx="3536163" cy="75712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536188" cy="7571232"/>
            </a:xfrm>
            <a:custGeom>
              <a:avLst/>
              <a:gdLst/>
              <a:ahLst/>
              <a:cxnLst/>
              <a:rect r="r" b="b" t="t" l="l"/>
              <a:pathLst>
                <a:path h="7571232" w="3536188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316732" y="0"/>
                  </a:lnTo>
                  <a:cubicBezTo>
                    <a:pt x="3437890" y="0"/>
                    <a:pt x="3536188" y="98298"/>
                    <a:pt x="3536188" y="219456"/>
                  </a:cubicBezTo>
                  <a:lnTo>
                    <a:pt x="3536188" y="7351776"/>
                  </a:lnTo>
                  <a:cubicBezTo>
                    <a:pt x="3536188" y="7472934"/>
                    <a:pt x="3437890" y="7571232"/>
                    <a:pt x="3316732" y="7571232"/>
                  </a:cubicBezTo>
                  <a:lnTo>
                    <a:pt x="219456" y="7571232"/>
                  </a:lnTo>
                  <a:cubicBezTo>
                    <a:pt x="98298" y="7571232"/>
                    <a:pt x="0" y="7472934"/>
                    <a:pt x="0" y="7351776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68015" y="2427732"/>
            <a:ext cx="2460098" cy="5486400"/>
            <a:chOff x="0" y="0"/>
            <a:chExt cx="3280131" cy="7315200"/>
          </a:xfrm>
        </p:grpSpPr>
        <p:sp>
          <p:nvSpPr>
            <p:cNvPr name="Freeform 17" id="17" descr="Ảnh chụp màn hình ứng dụng"/>
            <p:cNvSpPr/>
            <p:nvPr/>
          </p:nvSpPr>
          <p:spPr>
            <a:xfrm flipH="false" flipV="false" rot="0">
              <a:off x="0" y="0"/>
              <a:ext cx="3280156" cy="7315200"/>
            </a:xfrm>
            <a:custGeom>
              <a:avLst/>
              <a:gdLst/>
              <a:ahLst/>
              <a:cxnLst/>
              <a:rect r="r" b="b" t="t" l="l"/>
              <a:pathLst>
                <a:path h="7315200" w="3280156">
                  <a:moveTo>
                    <a:pt x="0" y="0"/>
                  </a:moveTo>
                  <a:lnTo>
                    <a:pt x="3280156" y="0"/>
                  </a:lnTo>
                  <a:lnTo>
                    <a:pt x="3280156" y="7315200"/>
                  </a:lnTo>
                  <a:lnTo>
                    <a:pt x="0" y="731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" t="0" r="-5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28700" y="8103870"/>
            <a:ext cx="3538728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Tổng quan vận hành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7280" y="8561832"/>
            <a:ext cx="3401568" cy="65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Thống kê nhanh, trạng thái thiết bị ESP32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052060" y="2057400"/>
            <a:ext cx="3950208" cy="7269480"/>
            <a:chOff x="0" y="0"/>
            <a:chExt cx="5266944" cy="96926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266944" cy="9692639"/>
            </a:xfrm>
            <a:custGeom>
              <a:avLst/>
              <a:gdLst/>
              <a:ahLst/>
              <a:cxnLst/>
              <a:rect r="r" b="b" t="t" l="l"/>
              <a:pathLst>
                <a:path h="9692639" w="526694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5010912" y="0"/>
                  </a:lnTo>
                  <a:cubicBezTo>
                    <a:pt x="5152263" y="0"/>
                    <a:pt x="5266944" y="114681"/>
                    <a:pt x="5266944" y="256032"/>
                  </a:cubicBezTo>
                  <a:lnTo>
                    <a:pt x="5266944" y="9436608"/>
                  </a:lnTo>
                  <a:cubicBezTo>
                    <a:pt x="5266944" y="9577959"/>
                    <a:pt x="5152263" y="9692639"/>
                    <a:pt x="5010912" y="9692639"/>
                  </a:cubicBezTo>
                  <a:lnTo>
                    <a:pt x="256032" y="9692639"/>
                  </a:lnTo>
                  <a:cubicBezTo>
                    <a:pt x="114681" y="9692640"/>
                    <a:pt x="0" y="9577959"/>
                    <a:pt x="0" y="9436608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701103" y="2331720"/>
            <a:ext cx="2652122" cy="5678424"/>
            <a:chOff x="0" y="0"/>
            <a:chExt cx="3536163" cy="75712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536188" cy="7571232"/>
            </a:xfrm>
            <a:custGeom>
              <a:avLst/>
              <a:gdLst/>
              <a:ahLst/>
              <a:cxnLst/>
              <a:rect r="r" b="b" t="t" l="l"/>
              <a:pathLst>
                <a:path h="7571232" w="3536188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316732" y="0"/>
                  </a:lnTo>
                  <a:cubicBezTo>
                    <a:pt x="3437890" y="0"/>
                    <a:pt x="3536188" y="98298"/>
                    <a:pt x="3536188" y="219456"/>
                  </a:cubicBezTo>
                  <a:lnTo>
                    <a:pt x="3536188" y="7351776"/>
                  </a:lnTo>
                  <a:cubicBezTo>
                    <a:pt x="3536188" y="7472934"/>
                    <a:pt x="3437890" y="7571232"/>
                    <a:pt x="3316732" y="7571232"/>
                  </a:cubicBezTo>
                  <a:lnTo>
                    <a:pt x="219456" y="7571232"/>
                  </a:lnTo>
                  <a:cubicBezTo>
                    <a:pt x="98298" y="7571232"/>
                    <a:pt x="0" y="7472934"/>
                    <a:pt x="0" y="7351776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5797115" y="2427732"/>
            <a:ext cx="2460098" cy="5486400"/>
            <a:chOff x="0" y="0"/>
            <a:chExt cx="3280131" cy="7315200"/>
          </a:xfrm>
        </p:grpSpPr>
        <p:sp>
          <p:nvSpPr>
            <p:cNvPr name="Freeform 25" id="25" descr="Ảnh chụp màn hình ứng dụng"/>
            <p:cNvSpPr/>
            <p:nvPr/>
          </p:nvSpPr>
          <p:spPr>
            <a:xfrm flipH="false" flipV="false" rot="0">
              <a:off x="0" y="0"/>
              <a:ext cx="3280156" cy="7315200"/>
            </a:xfrm>
            <a:custGeom>
              <a:avLst/>
              <a:gdLst/>
              <a:ahLst/>
              <a:cxnLst/>
              <a:rect r="r" b="b" t="t" l="l"/>
              <a:pathLst>
                <a:path h="7315200" w="3280156">
                  <a:moveTo>
                    <a:pt x="0" y="0"/>
                  </a:moveTo>
                  <a:lnTo>
                    <a:pt x="3280156" y="0"/>
                  </a:lnTo>
                  <a:lnTo>
                    <a:pt x="3280156" y="7315200"/>
                  </a:lnTo>
                  <a:lnTo>
                    <a:pt x="0" y="731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6" t="0" r="-5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5257800" y="8103870"/>
            <a:ext cx="3538728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Quản lý nhân viên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326380" y="8561832"/>
            <a:ext cx="3401568" cy="65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Thêm, sửa, xóa, khóa; quét lại vân tay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81160" y="2057400"/>
            <a:ext cx="3950208" cy="7269480"/>
            <a:chOff x="0" y="0"/>
            <a:chExt cx="5266944" cy="9692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266944" cy="9692639"/>
            </a:xfrm>
            <a:custGeom>
              <a:avLst/>
              <a:gdLst/>
              <a:ahLst/>
              <a:cxnLst/>
              <a:rect r="r" b="b" t="t" l="l"/>
              <a:pathLst>
                <a:path h="9692639" w="526694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5010912" y="0"/>
                  </a:lnTo>
                  <a:cubicBezTo>
                    <a:pt x="5152263" y="0"/>
                    <a:pt x="5266944" y="114681"/>
                    <a:pt x="5266944" y="256032"/>
                  </a:cubicBezTo>
                  <a:lnTo>
                    <a:pt x="5266944" y="9436608"/>
                  </a:lnTo>
                  <a:cubicBezTo>
                    <a:pt x="5266944" y="9577959"/>
                    <a:pt x="5152263" y="9692639"/>
                    <a:pt x="5010912" y="9692639"/>
                  </a:cubicBezTo>
                  <a:lnTo>
                    <a:pt x="256032" y="9692639"/>
                  </a:lnTo>
                  <a:cubicBezTo>
                    <a:pt x="114681" y="9692640"/>
                    <a:pt x="0" y="9577959"/>
                    <a:pt x="0" y="9436608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930203" y="2331720"/>
            <a:ext cx="2652122" cy="5678424"/>
            <a:chOff x="0" y="0"/>
            <a:chExt cx="3536163" cy="75712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36188" cy="7571232"/>
            </a:xfrm>
            <a:custGeom>
              <a:avLst/>
              <a:gdLst/>
              <a:ahLst/>
              <a:cxnLst/>
              <a:rect r="r" b="b" t="t" l="l"/>
              <a:pathLst>
                <a:path h="7571232" w="3536188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316732" y="0"/>
                  </a:lnTo>
                  <a:cubicBezTo>
                    <a:pt x="3437890" y="0"/>
                    <a:pt x="3536188" y="98298"/>
                    <a:pt x="3536188" y="219456"/>
                  </a:cubicBezTo>
                  <a:lnTo>
                    <a:pt x="3536188" y="7351776"/>
                  </a:lnTo>
                  <a:cubicBezTo>
                    <a:pt x="3536188" y="7472934"/>
                    <a:pt x="3437890" y="7571232"/>
                    <a:pt x="3316732" y="7571232"/>
                  </a:cubicBezTo>
                  <a:lnTo>
                    <a:pt x="219456" y="7571232"/>
                  </a:lnTo>
                  <a:cubicBezTo>
                    <a:pt x="98298" y="7571232"/>
                    <a:pt x="0" y="7472934"/>
                    <a:pt x="0" y="7351776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026215" y="2427732"/>
            <a:ext cx="2460098" cy="5486400"/>
            <a:chOff x="0" y="0"/>
            <a:chExt cx="3280131" cy="7315200"/>
          </a:xfrm>
        </p:grpSpPr>
        <p:sp>
          <p:nvSpPr>
            <p:cNvPr name="Freeform 33" id="33" descr="Ảnh chụp màn hình ứng dụng"/>
            <p:cNvSpPr/>
            <p:nvPr/>
          </p:nvSpPr>
          <p:spPr>
            <a:xfrm flipH="false" flipV="false" rot="0">
              <a:off x="0" y="0"/>
              <a:ext cx="3280156" cy="7315200"/>
            </a:xfrm>
            <a:custGeom>
              <a:avLst/>
              <a:gdLst/>
              <a:ahLst/>
              <a:cxnLst/>
              <a:rect r="r" b="b" t="t" l="l"/>
              <a:pathLst>
                <a:path h="7315200" w="3280156">
                  <a:moveTo>
                    <a:pt x="0" y="0"/>
                  </a:moveTo>
                  <a:lnTo>
                    <a:pt x="3280156" y="0"/>
                  </a:lnTo>
                  <a:lnTo>
                    <a:pt x="3280156" y="7315200"/>
                  </a:lnTo>
                  <a:lnTo>
                    <a:pt x="0" y="731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" t="0" r="-5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486900" y="8103870"/>
            <a:ext cx="3538728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Quản lý ca làm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555480" y="8561832"/>
            <a:ext cx="3401568" cy="65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Giờ ca, thời gian ân hạn, ca qua đêm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3510260" y="2057400"/>
            <a:ext cx="3950208" cy="7269480"/>
            <a:chOff x="0" y="0"/>
            <a:chExt cx="5266944" cy="9692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266944" cy="9692639"/>
            </a:xfrm>
            <a:custGeom>
              <a:avLst/>
              <a:gdLst/>
              <a:ahLst/>
              <a:cxnLst/>
              <a:rect r="r" b="b" t="t" l="l"/>
              <a:pathLst>
                <a:path h="9692639" w="526694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5010912" y="0"/>
                  </a:lnTo>
                  <a:cubicBezTo>
                    <a:pt x="5152263" y="0"/>
                    <a:pt x="5266944" y="114681"/>
                    <a:pt x="5266944" y="256032"/>
                  </a:cubicBezTo>
                  <a:lnTo>
                    <a:pt x="5266944" y="9436608"/>
                  </a:lnTo>
                  <a:cubicBezTo>
                    <a:pt x="5266944" y="9577959"/>
                    <a:pt x="5152263" y="9692639"/>
                    <a:pt x="5010912" y="9692639"/>
                  </a:cubicBezTo>
                  <a:lnTo>
                    <a:pt x="256032" y="9692639"/>
                  </a:lnTo>
                  <a:cubicBezTo>
                    <a:pt x="114681" y="9692640"/>
                    <a:pt x="0" y="9577959"/>
                    <a:pt x="0" y="9436608"/>
                  </a:cubicBezTo>
                  <a:close/>
                </a:path>
              </a:pathLst>
            </a:custGeom>
            <a:solidFill>
              <a:srgbClr val="F1F5F9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4159303" y="2331720"/>
            <a:ext cx="2652122" cy="5678424"/>
            <a:chOff x="0" y="0"/>
            <a:chExt cx="3536163" cy="757123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536188" cy="7571232"/>
            </a:xfrm>
            <a:custGeom>
              <a:avLst/>
              <a:gdLst/>
              <a:ahLst/>
              <a:cxnLst/>
              <a:rect r="r" b="b" t="t" l="l"/>
              <a:pathLst>
                <a:path h="7571232" w="3536188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316732" y="0"/>
                  </a:lnTo>
                  <a:cubicBezTo>
                    <a:pt x="3437890" y="0"/>
                    <a:pt x="3536188" y="98298"/>
                    <a:pt x="3536188" y="219456"/>
                  </a:cubicBezTo>
                  <a:lnTo>
                    <a:pt x="3536188" y="7351776"/>
                  </a:lnTo>
                  <a:cubicBezTo>
                    <a:pt x="3536188" y="7472934"/>
                    <a:pt x="3437890" y="7571232"/>
                    <a:pt x="3316732" y="7571232"/>
                  </a:cubicBezTo>
                  <a:lnTo>
                    <a:pt x="219456" y="7571232"/>
                  </a:lnTo>
                  <a:cubicBezTo>
                    <a:pt x="98298" y="7571232"/>
                    <a:pt x="0" y="7472934"/>
                    <a:pt x="0" y="7351776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4255315" y="2427732"/>
            <a:ext cx="2460098" cy="5486400"/>
            <a:chOff x="0" y="0"/>
            <a:chExt cx="3280131" cy="7315200"/>
          </a:xfrm>
        </p:grpSpPr>
        <p:sp>
          <p:nvSpPr>
            <p:cNvPr name="Freeform 41" id="41" descr="Ảnh chụp màn hình ứng dụng"/>
            <p:cNvSpPr/>
            <p:nvPr/>
          </p:nvSpPr>
          <p:spPr>
            <a:xfrm flipH="false" flipV="false" rot="0">
              <a:off x="0" y="0"/>
              <a:ext cx="3280156" cy="7315200"/>
            </a:xfrm>
            <a:custGeom>
              <a:avLst/>
              <a:gdLst/>
              <a:ahLst/>
              <a:cxnLst/>
              <a:rect r="r" b="b" t="t" l="l"/>
              <a:pathLst>
                <a:path h="7315200" w="3280156">
                  <a:moveTo>
                    <a:pt x="0" y="0"/>
                  </a:moveTo>
                  <a:lnTo>
                    <a:pt x="3280156" y="0"/>
                  </a:lnTo>
                  <a:lnTo>
                    <a:pt x="3280156" y="7315200"/>
                  </a:lnTo>
                  <a:lnTo>
                    <a:pt x="0" y="731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7" t="0" r="-16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3716000" y="8103870"/>
            <a:ext cx="3538728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Báo cáo và thống kê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784580" y="8561832"/>
            <a:ext cx="3401568" cy="655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Tỷ lệ đúng giờ, giờ làm, tăng ca, xuất CSV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1600" y="1028700"/>
            <a:ext cx="16916400" cy="176841"/>
            <a:chOff x="0" y="0"/>
            <a:chExt cx="22555200" cy="2357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242384"/>
            <a:ext cx="16916400" cy="176841"/>
            <a:chOff x="0" y="0"/>
            <a:chExt cx="22555200" cy="2357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20728" y="685800"/>
            <a:ext cx="1066800" cy="914400"/>
          </a:xfrm>
          <a:custGeom>
            <a:avLst/>
            <a:gdLst/>
            <a:ahLst/>
            <a:cxnLst/>
            <a:rect r="r" b="b" t="t" l="l"/>
            <a:pathLst>
              <a:path h="914400" w="10668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25840" y="9734245"/>
            <a:ext cx="8122920" cy="37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058307" y="594360"/>
            <a:ext cx="16637508" cy="1097280"/>
            <a:chOff x="0" y="0"/>
            <a:chExt cx="22183344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83344" cy="1463040"/>
            </a:xfrm>
            <a:custGeom>
              <a:avLst/>
              <a:gdLst/>
              <a:ahLst/>
              <a:cxnLst/>
              <a:rect r="r" b="b" t="t" l="l"/>
              <a:pathLst>
                <a:path h="1463040" w="22183344">
                  <a:moveTo>
                    <a:pt x="0" y="0"/>
                  </a:moveTo>
                  <a:lnTo>
                    <a:pt x="22183344" y="0"/>
                  </a:lnTo>
                  <a:lnTo>
                    <a:pt x="22183344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45441" r="0" b="-24544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14300"/>
              <a:ext cx="22183344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Đăng nhập, nhân viên và lịch sử chấm công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2537460"/>
            <a:ext cx="1097280" cy="1097280"/>
            <a:chOff x="0" y="0"/>
            <a:chExt cx="1463040" cy="1463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2811780"/>
            <a:ext cx="548640" cy="548640"/>
            <a:chOff x="0" y="0"/>
            <a:chExt cx="731520" cy="731520"/>
          </a:xfrm>
        </p:grpSpPr>
        <p:sp>
          <p:nvSpPr>
            <p:cNvPr name="Freeform 15" id="15" descr="lock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2194560" y="2452878"/>
            <a:ext cx="617220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Một ứng dụng, hai vai trò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94560" y="3038475"/>
            <a:ext cx="617220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Đăng nhập qua Firebase Auth, tự điều hướng theo role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22960" y="4732020"/>
            <a:ext cx="1097280" cy="1097280"/>
            <a:chOff x="0" y="0"/>
            <a:chExt cx="1463040" cy="14630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10B981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97280" y="5006340"/>
            <a:ext cx="548640" cy="548640"/>
            <a:chOff x="0" y="0"/>
            <a:chExt cx="731520" cy="731520"/>
          </a:xfrm>
        </p:grpSpPr>
        <p:sp>
          <p:nvSpPr>
            <p:cNvPr name="Freeform 21" id="21" descr="user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2194560" y="4647438"/>
            <a:ext cx="617220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Dashboard nhân viên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194560" y="5233035"/>
            <a:ext cx="617220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Thông tin cá nhân, ca làm và trạng thái trong ngày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22960" y="6926580"/>
            <a:ext cx="1097280" cy="1097280"/>
            <a:chOff x="0" y="0"/>
            <a:chExt cx="1463040" cy="1463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630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463040">
                  <a:moveTo>
                    <a:pt x="0" y="731520"/>
                  </a:moveTo>
                  <a:cubicBezTo>
                    <a:pt x="0" y="327533"/>
                    <a:pt x="327533" y="0"/>
                    <a:pt x="731520" y="0"/>
                  </a:cubicBezTo>
                  <a:cubicBezTo>
                    <a:pt x="1135507" y="0"/>
                    <a:pt x="1463040" y="327533"/>
                    <a:pt x="1463040" y="731520"/>
                  </a:cubicBezTo>
                  <a:cubicBezTo>
                    <a:pt x="1463040" y="1135507"/>
                    <a:pt x="1135507" y="1463040"/>
                    <a:pt x="731520" y="1463040"/>
                  </a:cubicBezTo>
                  <a:cubicBezTo>
                    <a:pt x="327533" y="1463040"/>
                    <a:pt x="0" y="1135507"/>
                    <a:pt x="0" y="731520"/>
                  </a:cubicBezTo>
                  <a:close/>
                </a:path>
              </a:pathLst>
            </a:custGeom>
            <a:solidFill>
              <a:srgbClr val="0EA5E9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97280" y="7200900"/>
            <a:ext cx="548640" cy="548640"/>
            <a:chOff x="0" y="0"/>
            <a:chExt cx="731520" cy="731520"/>
          </a:xfrm>
        </p:grpSpPr>
        <p:sp>
          <p:nvSpPr>
            <p:cNvPr name="Freeform 27" id="27" descr="history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2194560" y="6841998"/>
            <a:ext cx="6172200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Lịch sử chấm công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194560" y="7427595"/>
            <a:ext cx="617220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Giờ vào, giờ ra, phút đi trễ, giờ làm; lọc và tìm kiếm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900589" y="2194560"/>
            <a:ext cx="2652122" cy="5678424"/>
            <a:chOff x="0" y="0"/>
            <a:chExt cx="3536163" cy="75712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536188" cy="7571232"/>
            </a:xfrm>
            <a:custGeom>
              <a:avLst/>
              <a:gdLst/>
              <a:ahLst/>
              <a:cxnLst/>
              <a:rect r="r" b="b" t="t" l="l"/>
              <a:pathLst>
                <a:path h="7571232" w="3536188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316732" y="0"/>
                  </a:lnTo>
                  <a:cubicBezTo>
                    <a:pt x="3437890" y="0"/>
                    <a:pt x="3536188" y="98298"/>
                    <a:pt x="3536188" y="219456"/>
                  </a:cubicBezTo>
                  <a:lnTo>
                    <a:pt x="3536188" y="7351776"/>
                  </a:lnTo>
                  <a:cubicBezTo>
                    <a:pt x="3536188" y="7472934"/>
                    <a:pt x="3437890" y="7571232"/>
                    <a:pt x="3316732" y="7571232"/>
                  </a:cubicBezTo>
                  <a:lnTo>
                    <a:pt x="219456" y="7571232"/>
                  </a:lnTo>
                  <a:cubicBezTo>
                    <a:pt x="98298" y="7571232"/>
                    <a:pt x="0" y="7472934"/>
                    <a:pt x="0" y="7351776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996601" y="2290572"/>
            <a:ext cx="2460098" cy="5486400"/>
            <a:chOff x="0" y="0"/>
            <a:chExt cx="3280131" cy="7315200"/>
          </a:xfrm>
        </p:grpSpPr>
        <p:sp>
          <p:nvSpPr>
            <p:cNvPr name="Freeform 33" id="33" descr="Ảnh chụp màn hình ứng dụng"/>
            <p:cNvSpPr/>
            <p:nvPr/>
          </p:nvSpPr>
          <p:spPr>
            <a:xfrm flipH="false" flipV="false" rot="0">
              <a:off x="0" y="0"/>
              <a:ext cx="3280156" cy="7315200"/>
            </a:xfrm>
            <a:custGeom>
              <a:avLst/>
              <a:gdLst/>
              <a:ahLst/>
              <a:cxnLst/>
              <a:rect r="r" b="b" t="t" l="l"/>
              <a:pathLst>
                <a:path h="7315200" w="3280156">
                  <a:moveTo>
                    <a:pt x="0" y="0"/>
                  </a:moveTo>
                  <a:lnTo>
                    <a:pt x="3280156" y="0"/>
                  </a:lnTo>
                  <a:lnTo>
                    <a:pt x="3280156" y="7315200"/>
                  </a:lnTo>
                  <a:lnTo>
                    <a:pt x="0" y="731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6" t="0" r="-5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8900589" y="8103870"/>
            <a:ext cx="2652122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Đăng nhập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854463" y="2194560"/>
            <a:ext cx="2652122" cy="5678424"/>
            <a:chOff x="0" y="0"/>
            <a:chExt cx="3536163" cy="757123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536188" cy="7571232"/>
            </a:xfrm>
            <a:custGeom>
              <a:avLst/>
              <a:gdLst/>
              <a:ahLst/>
              <a:cxnLst/>
              <a:rect r="r" b="b" t="t" l="l"/>
              <a:pathLst>
                <a:path h="7571232" w="3536188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316732" y="0"/>
                  </a:lnTo>
                  <a:cubicBezTo>
                    <a:pt x="3437890" y="0"/>
                    <a:pt x="3536188" y="98298"/>
                    <a:pt x="3536188" y="219456"/>
                  </a:cubicBezTo>
                  <a:lnTo>
                    <a:pt x="3536188" y="7351776"/>
                  </a:lnTo>
                  <a:cubicBezTo>
                    <a:pt x="3536188" y="7472934"/>
                    <a:pt x="3437890" y="7571232"/>
                    <a:pt x="3316732" y="7571232"/>
                  </a:cubicBezTo>
                  <a:lnTo>
                    <a:pt x="219456" y="7571232"/>
                  </a:lnTo>
                  <a:cubicBezTo>
                    <a:pt x="98298" y="7571232"/>
                    <a:pt x="0" y="7472934"/>
                    <a:pt x="0" y="7351776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950475" y="2290572"/>
            <a:ext cx="2460098" cy="5486400"/>
            <a:chOff x="0" y="0"/>
            <a:chExt cx="3280131" cy="7315200"/>
          </a:xfrm>
        </p:grpSpPr>
        <p:sp>
          <p:nvSpPr>
            <p:cNvPr name="Freeform 38" id="38" descr="Ảnh chụp màn hình ứng dụng"/>
            <p:cNvSpPr/>
            <p:nvPr/>
          </p:nvSpPr>
          <p:spPr>
            <a:xfrm flipH="false" flipV="false" rot="0">
              <a:off x="0" y="0"/>
              <a:ext cx="3280156" cy="7315200"/>
            </a:xfrm>
            <a:custGeom>
              <a:avLst/>
              <a:gdLst/>
              <a:ahLst/>
              <a:cxnLst/>
              <a:rect r="r" b="b" t="t" l="l"/>
              <a:pathLst>
                <a:path h="7315200" w="3280156">
                  <a:moveTo>
                    <a:pt x="0" y="0"/>
                  </a:moveTo>
                  <a:lnTo>
                    <a:pt x="3280156" y="0"/>
                  </a:lnTo>
                  <a:lnTo>
                    <a:pt x="3280156" y="7315200"/>
                  </a:lnTo>
                  <a:lnTo>
                    <a:pt x="0" y="731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6" t="0" r="-5" b="0"/>
              </a:stretch>
            </a:blip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1854463" y="8103870"/>
            <a:ext cx="2652122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Employee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4808346" y="2194560"/>
            <a:ext cx="2652122" cy="5678424"/>
            <a:chOff x="0" y="0"/>
            <a:chExt cx="3536163" cy="757123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536188" cy="7571232"/>
            </a:xfrm>
            <a:custGeom>
              <a:avLst/>
              <a:gdLst/>
              <a:ahLst/>
              <a:cxnLst/>
              <a:rect r="r" b="b" t="t" l="l"/>
              <a:pathLst>
                <a:path h="7571232" w="3536188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3316732" y="0"/>
                  </a:lnTo>
                  <a:cubicBezTo>
                    <a:pt x="3437890" y="0"/>
                    <a:pt x="3536188" y="98298"/>
                    <a:pt x="3536188" y="219456"/>
                  </a:cubicBezTo>
                  <a:lnTo>
                    <a:pt x="3536188" y="7351776"/>
                  </a:lnTo>
                  <a:cubicBezTo>
                    <a:pt x="3536188" y="7472934"/>
                    <a:pt x="3437890" y="7571232"/>
                    <a:pt x="3316732" y="7571232"/>
                  </a:cubicBezTo>
                  <a:lnTo>
                    <a:pt x="219456" y="7571232"/>
                  </a:lnTo>
                  <a:cubicBezTo>
                    <a:pt x="98298" y="7571232"/>
                    <a:pt x="0" y="7472934"/>
                    <a:pt x="0" y="7351776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904358" y="2290572"/>
            <a:ext cx="2460098" cy="5486400"/>
            <a:chOff x="0" y="0"/>
            <a:chExt cx="3280131" cy="7315200"/>
          </a:xfrm>
        </p:grpSpPr>
        <p:sp>
          <p:nvSpPr>
            <p:cNvPr name="Freeform 43" id="43" descr="Ảnh chụp màn hình ứng dụng"/>
            <p:cNvSpPr/>
            <p:nvPr/>
          </p:nvSpPr>
          <p:spPr>
            <a:xfrm flipH="false" flipV="false" rot="0">
              <a:off x="0" y="0"/>
              <a:ext cx="3280156" cy="7315200"/>
            </a:xfrm>
            <a:custGeom>
              <a:avLst/>
              <a:gdLst/>
              <a:ahLst/>
              <a:cxnLst/>
              <a:rect r="r" b="b" t="t" l="l"/>
              <a:pathLst>
                <a:path h="7315200" w="3280156">
                  <a:moveTo>
                    <a:pt x="0" y="0"/>
                  </a:moveTo>
                  <a:lnTo>
                    <a:pt x="3280156" y="0"/>
                  </a:lnTo>
                  <a:lnTo>
                    <a:pt x="3280156" y="7315200"/>
                  </a:lnTo>
                  <a:lnTo>
                    <a:pt x="0" y="731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6" t="0" r="-5" b="0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14808346" y="8103870"/>
            <a:ext cx="2652122" cy="468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Lịch sử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1600" y="1028700"/>
            <a:ext cx="16916400" cy="176841"/>
            <a:chOff x="0" y="0"/>
            <a:chExt cx="22555200" cy="2357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242384"/>
            <a:ext cx="16916400" cy="176841"/>
            <a:chOff x="0" y="0"/>
            <a:chExt cx="22555200" cy="2357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300442" y="3497580"/>
            <a:ext cx="548640" cy="548640"/>
            <a:chOff x="0" y="0"/>
            <a:chExt cx="731520" cy="731520"/>
          </a:xfrm>
        </p:grpSpPr>
        <p:sp>
          <p:nvSpPr>
            <p:cNvPr name="Freeform 8" id="8" descr="chip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1895311" y="111712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358366" y="5072062"/>
            <a:ext cx="3929634" cy="4114800"/>
          </a:xfrm>
          <a:custGeom>
            <a:avLst/>
            <a:gdLst/>
            <a:ahLst/>
            <a:cxnLst/>
            <a:rect r="r" b="b" t="t" l="l"/>
            <a:pathLst>
              <a:path h="4114800" w="3929634">
                <a:moveTo>
                  <a:pt x="0" y="0"/>
                </a:moveTo>
                <a:lnTo>
                  <a:pt x="3929634" y="0"/>
                </a:lnTo>
                <a:lnTo>
                  <a:pt x="39296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625840" y="9734245"/>
            <a:ext cx="8122920" cy="37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0120" y="1463040"/>
            <a:ext cx="10561320" cy="3200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0"/>
              </a:lnSpc>
            </a:pPr>
            <a:r>
              <a:rPr lang="en-US" sz="510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</a:t>
            </a:r>
            <a:r>
              <a:rPr lang="en-US" b="true" sz="5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ÂN LOẠI BIỂN BÁO GIAO THÔNG SỬ DỤNG MẠNG NƠ-RON TÍCH CHẬP CẢI TIẾN ENHANCED LENET-5</a:t>
            </a:r>
          </a:p>
          <a:p>
            <a:pPr algn="l">
              <a:lnSpc>
                <a:spcPts val="612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60120" y="3979545"/>
            <a:ext cx="1056132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Bài</a:t>
            </a:r>
            <a:r>
              <a:rPr lang="en-US" b="true" sz="27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báo tham khảo:</a:t>
            </a: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"A Lightweight Model for Traffic Sign Classification Based on Enhanced LeNet-5 Network" (Zaibi et al., 2021)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60120" y="5968365"/>
            <a:ext cx="548640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spc="46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NHÓM THỰC HIỆN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0120" y="6457950"/>
            <a:ext cx="534924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Trần Dương Công Vinh · 24119216</a:t>
            </a: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Yín Hữu Duy · 24119121</a:t>
            </a: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Trần Hồng Anh Thi · 24119198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446520" y="6457950"/>
            <a:ext cx="5074920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Lê Tiến Thịnh · 24119200</a:t>
            </a:r>
          </a:p>
          <a:p>
            <a:pPr algn="l">
              <a:lnSpc>
                <a:spcPts val="3239"/>
              </a:lnSpc>
            </a:pPr>
            <a:r>
              <a:rPr lang="en-US" sz="2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Võ Ngọc Trai · 24119206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0120" y="8241030"/>
            <a:ext cx="10561320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b="true" sz="26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GVHD: </a:t>
            </a:r>
            <a:r>
              <a:rPr lang="en-US" sz="26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Th.S Huỳnh Hoàng Hà   ·   Lớp MBAD436364_01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1600" y="1028700"/>
            <a:ext cx="16916400" cy="176841"/>
            <a:chOff x="0" y="0"/>
            <a:chExt cx="22555200" cy="2357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242384"/>
            <a:ext cx="16916400" cy="176841"/>
            <a:chOff x="0" y="0"/>
            <a:chExt cx="22555200" cy="2357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20728" y="685800"/>
            <a:ext cx="1066800" cy="914400"/>
          </a:xfrm>
          <a:custGeom>
            <a:avLst/>
            <a:gdLst/>
            <a:ahLst/>
            <a:cxnLst/>
            <a:rect r="r" b="b" t="t" l="l"/>
            <a:pathLst>
              <a:path h="914400" w="10668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25840" y="9734245"/>
            <a:ext cx="8122920" cy="37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856405" y="337869"/>
            <a:ext cx="14892355" cy="1558502"/>
            <a:chOff x="0" y="0"/>
            <a:chExt cx="20970240" cy="21945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970239" cy="2194560"/>
            </a:xfrm>
            <a:custGeom>
              <a:avLst/>
              <a:gdLst/>
              <a:ahLst/>
              <a:cxnLst/>
              <a:rect r="r" b="b" t="t" l="l"/>
              <a:pathLst>
                <a:path h="219456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6190" r="0" b="-13619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14300"/>
              <a:ext cx="20970240" cy="2308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b="true" sz="5000">
                  <a:solidFill>
                    <a:srgbClr val="0F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Nhận diện biển báo giao thông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96497" y="1672571"/>
            <a:ext cx="15727680" cy="1097280"/>
            <a:chOff x="0" y="0"/>
            <a:chExt cx="20970240" cy="14630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9702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2097024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0F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Enhanced</a:t>
              </a:r>
              <a:r>
                <a:rPr lang="en-US" sz="4400">
                  <a:solidFill>
                    <a:srgbClr val="0F2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LeNet-5 trên bộ dữ liệu GTSDB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84583" y="3096263"/>
            <a:ext cx="3683003" cy="3500123"/>
            <a:chOff x="0" y="0"/>
            <a:chExt cx="4910671" cy="46668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910709" cy="4666869"/>
            </a:xfrm>
            <a:custGeom>
              <a:avLst/>
              <a:gdLst/>
              <a:ahLst/>
              <a:cxnLst/>
              <a:rect r="r" b="b" t="t" l="l"/>
              <a:pathLst>
                <a:path h="4666869" w="4910709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4665091" y="0"/>
                  </a:lnTo>
                  <a:cubicBezTo>
                    <a:pt x="4800727" y="0"/>
                    <a:pt x="4910709" y="109982"/>
                    <a:pt x="4910709" y="245618"/>
                  </a:cubicBezTo>
                  <a:lnTo>
                    <a:pt x="4910709" y="4421251"/>
                  </a:lnTo>
                  <a:cubicBezTo>
                    <a:pt x="4910709" y="4556887"/>
                    <a:pt x="4800727" y="4666869"/>
                    <a:pt x="4665091" y="4666869"/>
                  </a:cubicBezTo>
                  <a:lnTo>
                    <a:pt x="245618" y="4666869"/>
                  </a:lnTo>
                  <a:cubicBezTo>
                    <a:pt x="109982" y="4666869"/>
                    <a:pt x="0" y="4556887"/>
                    <a:pt x="0" y="4421251"/>
                  </a:cubicBezTo>
                  <a:close/>
                </a:path>
              </a:pathLst>
            </a:custGeom>
            <a:solidFill>
              <a:srgbClr val="F3F7FB"/>
            </a:solidFill>
            <a:ln w="25400" cap="sq">
              <a:solidFill>
                <a:srgbClr val="D5DEE8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280160" y="3383280"/>
            <a:ext cx="3291840" cy="914400"/>
            <a:chOff x="0" y="0"/>
            <a:chExt cx="438912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89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438912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Ảnh đầu vào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71600" y="4368165"/>
            <a:ext cx="3108960" cy="180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Ảnh đường phố từ GTSDB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754880" y="4206240"/>
            <a:ext cx="548640" cy="914400"/>
            <a:chOff x="0" y="0"/>
            <a:chExt cx="731520" cy="1219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76200"/>
              <a:ext cx="7315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5B6B7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290823" y="3096263"/>
            <a:ext cx="3683003" cy="3500123"/>
            <a:chOff x="0" y="0"/>
            <a:chExt cx="4910671" cy="466683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10709" cy="4666869"/>
            </a:xfrm>
            <a:custGeom>
              <a:avLst/>
              <a:gdLst/>
              <a:ahLst/>
              <a:cxnLst/>
              <a:rect r="r" b="b" t="t" l="l"/>
              <a:pathLst>
                <a:path h="4666869" w="4910709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4665091" y="0"/>
                  </a:lnTo>
                  <a:cubicBezTo>
                    <a:pt x="4800727" y="0"/>
                    <a:pt x="4910709" y="109982"/>
                    <a:pt x="4910709" y="245618"/>
                  </a:cubicBezTo>
                  <a:lnTo>
                    <a:pt x="4910709" y="4421251"/>
                  </a:lnTo>
                  <a:cubicBezTo>
                    <a:pt x="4910709" y="4556887"/>
                    <a:pt x="4800727" y="4666869"/>
                    <a:pt x="4665091" y="4666869"/>
                  </a:cubicBezTo>
                  <a:lnTo>
                    <a:pt x="245618" y="4666869"/>
                  </a:lnTo>
                  <a:cubicBezTo>
                    <a:pt x="109982" y="4666869"/>
                    <a:pt x="0" y="4556887"/>
                    <a:pt x="0" y="4421251"/>
                  </a:cubicBezTo>
                  <a:close/>
                </a:path>
              </a:pathLst>
            </a:custGeom>
            <a:solidFill>
              <a:srgbClr val="F3F7FB"/>
            </a:solidFill>
            <a:ln w="25400" cap="sq">
              <a:solidFill>
                <a:srgbClr val="D5DEE8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5486400" y="3383280"/>
            <a:ext cx="3291840" cy="914400"/>
            <a:chOff x="0" y="0"/>
            <a:chExt cx="438912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389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438912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b="true" sz="3600">
                  <a:solidFill>
                    <a:srgbClr val="0F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Tiền xử lí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961120" y="4206240"/>
            <a:ext cx="548640" cy="914400"/>
            <a:chOff x="0" y="0"/>
            <a:chExt cx="731520" cy="121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7315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5B6B7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497063" y="3096263"/>
            <a:ext cx="3683003" cy="3500123"/>
            <a:chOff x="0" y="0"/>
            <a:chExt cx="4910671" cy="466683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10709" cy="4666869"/>
            </a:xfrm>
            <a:custGeom>
              <a:avLst/>
              <a:gdLst/>
              <a:ahLst/>
              <a:cxnLst/>
              <a:rect r="r" b="b" t="t" l="l"/>
              <a:pathLst>
                <a:path h="4666869" w="4910709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4665091" y="0"/>
                  </a:lnTo>
                  <a:cubicBezTo>
                    <a:pt x="4800727" y="0"/>
                    <a:pt x="4910709" y="109982"/>
                    <a:pt x="4910709" y="245618"/>
                  </a:cubicBezTo>
                  <a:lnTo>
                    <a:pt x="4910709" y="4421251"/>
                  </a:lnTo>
                  <a:cubicBezTo>
                    <a:pt x="4910709" y="4556887"/>
                    <a:pt x="4800727" y="4666869"/>
                    <a:pt x="4665091" y="4666869"/>
                  </a:cubicBezTo>
                  <a:lnTo>
                    <a:pt x="245618" y="4666869"/>
                  </a:lnTo>
                  <a:cubicBezTo>
                    <a:pt x="109982" y="4666869"/>
                    <a:pt x="0" y="4556887"/>
                    <a:pt x="0" y="4421251"/>
                  </a:cubicBezTo>
                  <a:close/>
                </a:path>
              </a:pathLst>
            </a:custGeom>
            <a:solidFill>
              <a:srgbClr val="1E88E5"/>
            </a:solidFill>
            <a:ln w="25400" cap="sq">
              <a:solidFill>
                <a:srgbClr val="1E88E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692640" y="3383280"/>
            <a:ext cx="3291840" cy="914400"/>
            <a:chOff x="0" y="0"/>
            <a:chExt cx="4389120" cy="121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89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66675"/>
              <a:ext cx="438912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LeNet-5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784080" y="4368165"/>
            <a:ext cx="3108960" cy="180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Phân loại loại biển báo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3167360" y="4206240"/>
            <a:ext cx="548640" cy="914400"/>
            <a:chOff x="0" y="0"/>
            <a:chExt cx="731520" cy="12192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15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63839" t="0" r="-163839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76200"/>
              <a:ext cx="73152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280"/>
                </a:lnSpc>
              </a:pPr>
              <a:r>
                <a:rPr lang="en-US" sz="4400">
                  <a:solidFill>
                    <a:srgbClr val="5B6B7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703303" y="3096263"/>
            <a:ext cx="3683003" cy="3500123"/>
            <a:chOff x="0" y="0"/>
            <a:chExt cx="4910671" cy="466683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910709" cy="4666869"/>
            </a:xfrm>
            <a:custGeom>
              <a:avLst/>
              <a:gdLst/>
              <a:ahLst/>
              <a:cxnLst/>
              <a:rect r="r" b="b" t="t" l="l"/>
              <a:pathLst>
                <a:path h="4666869" w="4910709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4665091" y="0"/>
                  </a:lnTo>
                  <a:cubicBezTo>
                    <a:pt x="4800727" y="0"/>
                    <a:pt x="4910709" y="109982"/>
                    <a:pt x="4910709" y="245618"/>
                  </a:cubicBezTo>
                  <a:lnTo>
                    <a:pt x="4910709" y="4421251"/>
                  </a:lnTo>
                  <a:cubicBezTo>
                    <a:pt x="4910709" y="4556887"/>
                    <a:pt x="4800727" y="4666869"/>
                    <a:pt x="4665091" y="4666869"/>
                  </a:cubicBezTo>
                  <a:lnTo>
                    <a:pt x="245618" y="4666869"/>
                  </a:lnTo>
                  <a:cubicBezTo>
                    <a:pt x="109982" y="4666869"/>
                    <a:pt x="0" y="4556887"/>
                    <a:pt x="0" y="4421251"/>
                  </a:cubicBezTo>
                  <a:close/>
                </a:path>
              </a:pathLst>
            </a:custGeom>
            <a:solidFill>
              <a:srgbClr val="F3F7FB"/>
            </a:solidFill>
            <a:ln w="25400" cap="sq">
              <a:solidFill>
                <a:srgbClr val="D5DEE8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3898880" y="3383280"/>
            <a:ext cx="3291840" cy="914400"/>
            <a:chOff x="0" y="0"/>
            <a:chExt cx="4389120" cy="1219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389120" cy="1219200"/>
            </a:xfrm>
            <a:custGeom>
              <a:avLst/>
              <a:gdLst/>
              <a:ahLst/>
              <a:cxnLst/>
              <a:rect r="r" b="b" t="t" l="l"/>
              <a:pathLst>
                <a:path h="121920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4389120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F2A4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Kết quả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3990320" y="4368165"/>
            <a:ext cx="310896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Khung + Label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577840" y="4398645"/>
            <a:ext cx="310896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resize -&gt; ảnh xám -&gt; cân bằng histogram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1600" y="1028700"/>
            <a:ext cx="16916400" cy="176841"/>
            <a:chOff x="0" y="0"/>
            <a:chExt cx="22555200" cy="2357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242384"/>
            <a:ext cx="16916400" cy="176841"/>
            <a:chOff x="0" y="0"/>
            <a:chExt cx="22555200" cy="2357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20728" y="685800"/>
            <a:ext cx="1066800" cy="914400"/>
          </a:xfrm>
          <a:custGeom>
            <a:avLst/>
            <a:gdLst/>
            <a:ahLst/>
            <a:cxnLst/>
            <a:rect r="r" b="b" t="t" l="l"/>
            <a:pathLst>
              <a:path h="914400" w="10668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25840" y="9734245"/>
            <a:ext cx="8122920" cy="37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024982" y="565461"/>
            <a:ext cx="16459200" cy="1280160"/>
            <a:chOff x="0" y="0"/>
            <a:chExt cx="21945600" cy="1706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421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Bài báo gốc: mô hình nhẹ, độ chính xác cao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2491227"/>
            <a:ext cx="9875520" cy="701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Mục tiêu: CNN gọn nhẹ để chạy trên hệ thống nhúng (webcam), vẫn đạt độ chính xác cao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Cải tiến từ LeNet-5: 2 lớp tích chập liên tiếp trước mỗi lần pooling, thêm BatchNorm và Dropout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Chỉ dùng 1 lớp fully connected (500 nút) thay cho 2 lớp (120, 84)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Dùng LeakyReLU và bộ tối ưu Adadelta (lr = 1.0), loss cross-entropy</a:t>
            </a:r>
          </a:p>
          <a:p>
            <a:pPr algn="l" marL="723900" indent="-361950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Tiền xử lý: resize 32×32, ảnh xám, cân bằng histogram, chuẩn hóa; có data augmentation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988803" y="2728085"/>
            <a:ext cx="4963163" cy="1945643"/>
            <a:chOff x="0" y="0"/>
            <a:chExt cx="6617551" cy="25941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17462" cy="2594102"/>
            </a:xfrm>
            <a:custGeom>
              <a:avLst/>
              <a:gdLst/>
              <a:ahLst/>
              <a:cxnLst/>
              <a:rect r="r" b="b" t="t" l="l"/>
              <a:pathLst>
                <a:path h="2594102" w="6617462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6419850" y="0"/>
                  </a:lnTo>
                  <a:cubicBezTo>
                    <a:pt x="6529070" y="0"/>
                    <a:pt x="6617462" y="88519"/>
                    <a:pt x="6617462" y="197612"/>
                  </a:cubicBezTo>
                  <a:lnTo>
                    <a:pt x="6617462" y="2396490"/>
                  </a:lnTo>
                  <a:cubicBezTo>
                    <a:pt x="6617462" y="2505710"/>
                    <a:pt x="6528943" y="2594102"/>
                    <a:pt x="6419850" y="2594102"/>
                  </a:cubicBezTo>
                  <a:lnTo>
                    <a:pt x="197612" y="2594102"/>
                  </a:lnTo>
                  <a:cubicBezTo>
                    <a:pt x="88519" y="2594229"/>
                    <a:pt x="0" y="2505710"/>
                    <a:pt x="0" y="239649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8DEE6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367260" y="2887086"/>
            <a:ext cx="4206240" cy="1005840"/>
            <a:chOff x="0" y="0"/>
            <a:chExt cx="5608320" cy="13411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083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482" r="0" b="-3148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14300"/>
              <a:ext cx="560832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F8B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99.84%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367260" y="3892926"/>
            <a:ext cx="4206240" cy="640080"/>
            <a:chOff x="0" y="0"/>
            <a:chExt cx="5608320" cy="8534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08320" cy="853440"/>
            </a:xfrm>
            <a:custGeom>
              <a:avLst/>
              <a:gdLst/>
              <a:ahLst/>
              <a:cxnLst/>
              <a:rect r="r" b="b" t="t" l="l"/>
              <a:pathLst>
                <a:path h="85344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8044" r="0" b="-78044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6083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 accuracy trên GTSRB (43 lớp)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988803" y="5350003"/>
            <a:ext cx="4963163" cy="1945643"/>
            <a:chOff x="0" y="0"/>
            <a:chExt cx="6617551" cy="25941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17462" cy="2594102"/>
            </a:xfrm>
            <a:custGeom>
              <a:avLst/>
              <a:gdLst/>
              <a:ahLst/>
              <a:cxnLst/>
              <a:rect r="r" b="b" t="t" l="l"/>
              <a:pathLst>
                <a:path h="2594102" w="6617462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6419850" y="0"/>
                  </a:lnTo>
                  <a:cubicBezTo>
                    <a:pt x="6529070" y="0"/>
                    <a:pt x="6617462" y="88519"/>
                    <a:pt x="6617462" y="197612"/>
                  </a:cubicBezTo>
                  <a:lnTo>
                    <a:pt x="6617462" y="2396490"/>
                  </a:lnTo>
                  <a:cubicBezTo>
                    <a:pt x="6617462" y="2505710"/>
                    <a:pt x="6528943" y="2594102"/>
                    <a:pt x="6419850" y="2594102"/>
                  </a:cubicBezTo>
                  <a:lnTo>
                    <a:pt x="197612" y="2594102"/>
                  </a:lnTo>
                  <a:cubicBezTo>
                    <a:pt x="88519" y="2594229"/>
                    <a:pt x="0" y="2505710"/>
                    <a:pt x="0" y="239649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8DEE6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2367260" y="5509004"/>
            <a:ext cx="4206240" cy="1005840"/>
            <a:chOff x="0" y="0"/>
            <a:chExt cx="5608320" cy="13411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6083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482" r="0" b="-3148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14300"/>
              <a:ext cx="560832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F8B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0.38 triệu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367260" y="6514844"/>
            <a:ext cx="4206240" cy="640080"/>
            <a:chOff x="0" y="0"/>
            <a:chExt cx="5608320" cy="8534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608320" cy="853440"/>
            </a:xfrm>
            <a:custGeom>
              <a:avLst/>
              <a:gdLst/>
              <a:ahLst/>
              <a:cxnLst/>
              <a:rect r="r" b="b" t="t" l="l"/>
              <a:pathLst>
                <a:path h="85344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8044" r="0" b="-7804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6083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Số tham số cần huấn luyện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1600" y="1028700"/>
            <a:ext cx="16916400" cy="176841"/>
            <a:chOff x="0" y="0"/>
            <a:chExt cx="22555200" cy="2357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242384"/>
            <a:ext cx="16916400" cy="176841"/>
            <a:chOff x="0" y="0"/>
            <a:chExt cx="22555200" cy="2357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20728" y="685800"/>
            <a:ext cx="1066800" cy="914400"/>
          </a:xfrm>
          <a:custGeom>
            <a:avLst/>
            <a:gdLst/>
            <a:ahLst/>
            <a:cxnLst/>
            <a:rect r="r" b="b" t="t" l="l"/>
            <a:pathLst>
              <a:path h="914400" w="10668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024982" y="565461"/>
            <a:ext cx="16459200" cy="1280160"/>
            <a:chOff x="0" y="0"/>
            <a:chExt cx="21945600" cy="1706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421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Tiền xử lí ảnh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54128" y="3414925"/>
            <a:ext cx="15812828" cy="4119461"/>
          </a:xfrm>
          <a:custGeom>
            <a:avLst/>
            <a:gdLst/>
            <a:ahLst/>
            <a:cxnLst/>
            <a:rect r="r" b="b" t="t" l="l"/>
            <a:pathLst>
              <a:path h="4119461" w="15812828">
                <a:moveTo>
                  <a:pt x="0" y="0"/>
                </a:moveTo>
                <a:lnTo>
                  <a:pt x="15812828" y="0"/>
                </a:lnTo>
                <a:lnTo>
                  <a:pt x="15812828" y="4119461"/>
                </a:lnTo>
                <a:lnTo>
                  <a:pt x="0" y="41194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17" t="0" r="-1417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625840" y="9734245"/>
            <a:ext cx="8122920" cy="37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1600" y="1028700"/>
            <a:ext cx="16916400" cy="176841"/>
            <a:chOff x="0" y="0"/>
            <a:chExt cx="22555200" cy="2357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242384"/>
            <a:ext cx="16916400" cy="176841"/>
            <a:chOff x="0" y="0"/>
            <a:chExt cx="22555200" cy="2357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20728" y="685800"/>
            <a:ext cx="1066800" cy="914400"/>
          </a:xfrm>
          <a:custGeom>
            <a:avLst/>
            <a:gdLst/>
            <a:ahLst/>
            <a:cxnLst/>
            <a:rect r="r" b="b" t="t" l="l"/>
            <a:pathLst>
              <a:path h="914400" w="10668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25840" y="9734245"/>
            <a:ext cx="8122920" cy="37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005180" y="565461"/>
            <a:ext cx="16459200" cy="1280160"/>
            <a:chOff x="0" y="0"/>
            <a:chExt cx="21945600" cy="1706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421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Kiến trúc mô hình triển khai 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1028700" y="2334425"/>
          <a:ext cx="10210800" cy="6391275"/>
        </p:xfrm>
        <a:graphic>
          <a:graphicData uri="http://schemas.openxmlformats.org/drawingml/2006/table">
            <a:tbl>
              <a:tblPr/>
              <a:tblGrid>
                <a:gridCol w="6734302"/>
                <a:gridCol w="3476498"/>
              </a:tblGrid>
              <a:tr h="6391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Lớp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Kích thước đầu ra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6391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Conv 5×5, 60 bộ lọc (+BN, LeakyReLU)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28×28×60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91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Conv 5×5, 60 bộ lọc (+BN, LeakyReLU)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24×24×60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91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MaxPooling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12×12×60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91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Conv 3×3, 30 bộ lọc (+BN, LeakyReLU)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10×10×30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91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Conv 3×3, 30 bộ lọc (+BN, LeakyReLU)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8×8×30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91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MaxPooling + Dropout 0.5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4×4×30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91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Flatten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480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91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Dense 500 (+BN, LeakyReLU) + Dropout 0.5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500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912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Output Softmax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39"/>
                        </a:lnSpc>
                        <a:defRPr/>
                      </a:pPr>
                      <a:r>
                        <a:rPr lang="en-US" sz="2199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13" id="13"/>
          <p:cNvGrpSpPr/>
          <p:nvPr/>
        </p:nvGrpSpPr>
        <p:grpSpPr>
          <a:xfrm rot="0">
            <a:off x="12183171" y="2334425"/>
            <a:ext cx="5486400" cy="859686"/>
            <a:chOff x="0" y="0"/>
            <a:chExt cx="7315200" cy="11462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315200" cy="1146248"/>
            </a:xfrm>
            <a:custGeom>
              <a:avLst/>
              <a:gdLst/>
              <a:ahLst/>
              <a:cxnLst/>
              <a:rect r="r" b="b" t="t" l="l"/>
              <a:pathLst>
                <a:path h="1146248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146248"/>
                  </a:lnTo>
                  <a:lnTo>
                    <a:pt x="0" y="11462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7123" r="0" b="-6157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7315200" cy="12319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59"/>
                </a:lnSpc>
              </a:pPr>
              <a:r>
                <a:rPr lang="en-US" sz="4299" b="true">
                  <a:solidFill>
                    <a:srgbClr val="0F8B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Cấu hình huấn luyện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750493" y="3582200"/>
            <a:ext cx="5669280" cy="353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6286" indent="-398143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Đầu vào 32×32×1 (ảnh xám)</a:t>
            </a:r>
          </a:p>
          <a:p>
            <a:pPr algn="l" marL="796286" indent="-398143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Chia dữ liệu 80/20; lấy 20% của phần train làm validation</a:t>
            </a:r>
          </a:p>
          <a:p>
            <a:pPr algn="l" marL="796286" indent="-398143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Adadelta, lr = 1.0, 20 epoch</a:t>
            </a:r>
          </a:p>
          <a:p>
            <a:pPr algn="l" marL="796286" indent="-398143" lvl="1">
              <a:lnSpc>
                <a:spcPts val="3959"/>
              </a:lnSpc>
              <a:buFont typeface="Arial"/>
              <a:buChar char="•"/>
            </a:pPr>
            <a:r>
              <a:rPr lang="en-US" sz="32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Số tham số ước tính ≈ 0.38 triệu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1600" y="1028700"/>
            <a:ext cx="16916400" cy="176841"/>
            <a:chOff x="0" y="0"/>
            <a:chExt cx="22555200" cy="2357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242384"/>
            <a:ext cx="16916400" cy="176841"/>
            <a:chOff x="0" y="0"/>
            <a:chExt cx="22555200" cy="2357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20728" y="685800"/>
            <a:ext cx="1066800" cy="914400"/>
          </a:xfrm>
          <a:custGeom>
            <a:avLst/>
            <a:gdLst/>
            <a:ahLst/>
            <a:cxnLst/>
            <a:rect r="r" b="b" t="t" l="l"/>
            <a:pathLst>
              <a:path h="914400" w="10668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25840" y="9734245"/>
            <a:ext cx="8122920" cy="37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049842" y="602004"/>
            <a:ext cx="16459200" cy="1280160"/>
            <a:chOff x="0" y="0"/>
            <a:chExt cx="21945600" cy="1706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421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Kết quả huấn luyện: 20 epoch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3040" y="2065044"/>
            <a:ext cx="15361920" cy="5468112"/>
            <a:chOff x="0" y="0"/>
            <a:chExt cx="20482560" cy="7290816"/>
          </a:xfrm>
        </p:grpSpPr>
        <p:sp>
          <p:nvSpPr>
            <p:cNvPr name="Freeform 13" id="13" descr="/mnt/user-data/uploads/Screenshot_2026-10-02_191230.png"/>
            <p:cNvSpPr/>
            <p:nvPr/>
          </p:nvSpPr>
          <p:spPr>
            <a:xfrm flipH="false" flipV="false" rot="0">
              <a:off x="0" y="0"/>
              <a:ext cx="20482561" cy="7290816"/>
            </a:xfrm>
            <a:custGeom>
              <a:avLst/>
              <a:gdLst/>
              <a:ahLst/>
              <a:cxnLst/>
              <a:rect r="r" b="b" t="t" l="l"/>
              <a:pathLst>
                <a:path h="7290816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7290816"/>
                  </a:lnTo>
                  <a:lnTo>
                    <a:pt x="0" y="7290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1" t="0" r="-41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463040" y="7677174"/>
            <a:ext cx="15361920" cy="2251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Accuracy tăng nhanh trong 3 epoch đầu, hội tụ ổn định ở khoảng 99%; loss giảm đều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Validation accuracy (~99.5%) cao hơn train accuracy (~99.0%), không có dấu hiệu overfitting</a:t>
            </a:r>
          </a:p>
          <a:p>
            <a:pPr algn="l" marL="627381" indent="-313690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Nguyên nhân: Dropout và augmentation chỉ tác động lúc train; train metric được tính trung bình trong epoch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1600" y="1028700"/>
            <a:ext cx="16916400" cy="176841"/>
            <a:chOff x="0" y="0"/>
            <a:chExt cx="22555200" cy="2357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242384"/>
            <a:ext cx="16916400" cy="176841"/>
            <a:chOff x="0" y="0"/>
            <a:chExt cx="22555200" cy="2357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20728" y="685800"/>
            <a:ext cx="1066800" cy="914400"/>
          </a:xfrm>
          <a:custGeom>
            <a:avLst/>
            <a:gdLst/>
            <a:ahLst/>
            <a:cxnLst/>
            <a:rect r="r" b="b" t="t" l="l"/>
            <a:pathLst>
              <a:path h="914400" w="10668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25840" y="9734245"/>
            <a:ext cx="8122920" cy="37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117969" y="565461"/>
            <a:ext cx="16459200" cy="1280160"/>
            <a:chOff x="0" y="0"/>
            <a:chExt cx="21945600" cy="1706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421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Kết quả kiểm tra: ma trận nhầm lẫn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24190" y="1845621"/>
            <a:ext cx="8695944" cy="7246620"/>
            <a:chOff x="0" y="0"/>
            <a:chExt cx="10972800" cy="9144000"/>
          </a:xfrm>
        </p:grpSpPr>
        <p:sp>
          <p:nvSpPr>
            <p:cNvPr name="Freeform 13" id="13" descr="/mnt/user-data/uploads/Screenshot_2026-10-02_191328.png"/>
            <p:cNvSpPr/>
            <p:nvPr/>
          </p:nvSpPr>
          <p:spPr>
            <a:xfrm flipH="false" flipV="false" rot="0">
              <a:off x="0" y="0"/>
              <a:ext cx="10972800" cy="9144000"/>
            </a:xfrm>
            <a:custGeom>
              <a:avLst/>
              <a:gdLst/>
              <a:ahLst/>
              <a:cxnLst/>
              <a:rect r="r" b="b" t="t" l="l"/>
              <a:pathLst>
                <a:path h="91440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144000"/>
                  </a:lnTo>
                  <a:lnTo>
                    <a:pt x="0" y="914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8" t="0" r="-28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398108" y="2488376"/>
            <a:ext cx="5725012" cy="2244301"/>
            <a:chOff x="0" y="0"/>
            <a:chExt cx="6617551" cy="25941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17462" cy="2594102"/>
            </a:xfrm>
            <a:custGeom>
              <a:avLst/>
              <a:gdLst/>
              <a:ahLst/>
              <a:cxnLst/>
              <a:rect r="r" b="b" t="t" l="l"/>
              <a:pathLst>
                <a:path h="2594102" w="6617462">
                  <a:moveTo>
                    <a:pt x="0" y="197612"/>
                  </a:moveTo>
                  <a:cubicBezTo>
                    <a:pt x="0" y="88519"/>
                    <a:pt x="88519" y="0"/>
                    <a:pt x="197612" y="0"/>
                  </a:cubicBezTo>
                  <a:lnTo>
                    <a:pt x="6419850" y="0"/>
                  </a:lnTo>
                  <a:cubicBezTo>
                    <a:pt x="6529070" y="0"/>
                    <a:pt x="6617462" y="88519"/>
                    <a:pt x="6617462" y="197612"/>
                  </a:cubicBezTo>
                  <a:lnTo>
                    <a:pt x="6617462" y="2396490"/>
                  </a:lnTo>
                  <a:cubicBezTo>
                    <a:pt x="6617462" y="2505710"/>
                    <a:pt x="6528943" y="2594102"/>
                    <a:pt x="6419850" y="2594102"/>
                  </a:cubicBezTo>
                  <a:lnTo>
                    <a:pt x="197612" y="2594102"/>
                  </a:lnTo>
                  <a:cubicBezTo>
                    <a:pt x="88519" y="2594229"/>
                    <a:pt x="0" y="2505710"/>
                    <a:pt x="0" y="2396490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D8DEE6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0834658" y="2671783"/>
            <a:ext cx="4851901" cy="1160237"/>
            <a:chOff x="0" y="0"/>
            <a:chExt cx="5608320" cy="1341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083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1482" r="0" b="-3148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14300"/>
              <a:ext cx="560832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0F8B8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99.41%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834658" y="3832021"/>
            <a:ext cx="4851901" cy="738333"/>
            <a:chOff x="0" y="0"/>
            <a:chExt cx="5608320" cy="853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608320" cy="853440"/>
            </a:xfrm>
            <a:custGeom>
              <a:avLst/>
              <a:gdLst/>
              <a:ahLst/>
              <a:cxnLst/>
              <a:rect r="r" b="b" t="t" l="l"/>
              <a:pathLst>
                <a:path h="85344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8044" r="0" b="-7804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6083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 accuracy của mô hình tái hiện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420134" y="5308756"/>
            <a:ext cx="7680960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Đường chéo rất đậm, gần như không có ô nhầm lẫn ngoài đường chéo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Các lớp ít mẫu (0, 19, 24, 27, 29, 32, 37, 41, 42) vẫn được nhận diện đúng</a:t>
            </a:r>
          </a:p>
          <a:p>
            <a:pPr algn="l" marL="675639" indent="-33782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F2937"/>
                </a:solidFill>
                <a:latin typeface="Calibri (MS)"/>
                <a:ea typeface="Calibri (MS)"/>
                <a:cs typeface="Calibri (MS)"/>
                <a:sym typeface="Calibri (MS)"/>
              </a:rPr>
              <a:t>Mô hình đã lưu: enhanced_lenet5_gtsrb.h5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1600" y="1028700"/>
            <a:ext cx="16916400" cy="176841"/>
            <a:chOff x="0" y="0"/>
            <a:chExt cx="22555200" cy="2357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242384"/>
            <a:ext cx="16916400" cy="176841"/>
            <a:chOff x="0" y="0"/>
            <a:chExt cx="22555200" cy="2357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20728" y="685800"/>
            <a:ext cx="1066800" cy="914400"/>
          </a:xfrm>
          <a:custGeom>
            <a:avLst/>
            <a:gdLst/>
            <a:ahLst/>
            <a:cxnLst/>
            <a:rect r="r" b="b" t="t" l="l"/>
            <a:pathLst>
              <a:path h="914400" w="10668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25840" y="9734245"/>
            <a:ext cx="8122920" cy="37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049842" y="565461"/>
            <a:ext cx="16459200" cy="1280160"/>
            <a:chOff x="0" y="0"/>
            <a:chExt cx="21945600" cy="17068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421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 sánh với bài báo gốc</a:t>
              </a:r>
            </a:p>
          </p:txBody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914400" y="2194560"/>
          <a:ext cx="15834360" cy="6127345"/>
        </p:xfrm>
        <a:graphic>
          <a:graphicData uri="http://schemas.openxmlformats.org/drawingml/2006/table">
            <a:tbl>
              <a:tblPr/>
              <a:tblGrid>
                <a:gridCol w="7888051"/>
                <a:gridCol w="3973154"/>
                <a:gridCol w="3973154"/>
              </a:tblGrid>
              <a:tr h="10212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Chỉ số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Bài báo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39"/>
                        </a:lnSpc>
                        <a:defRPr/>
                      </a:pPr>
                      <a:r>
                        <a:rPr lang="en-US" sz="21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Tái hiện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10212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Test accuracy (GTSRB)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99.84%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1F2937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99.41%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12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Train accuracy (epoch 20)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0.9879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≈ 0.990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12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Validation accuracy (epoch 20)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0.9989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≈ 0.995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12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Train loss (epoch 20)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0.039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≈ 0.033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122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Validation loss (epoch 20)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0.0042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F2937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≈ 0.017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1600" y="1028700"/>
            <a:ext cx="16916400" cy="176841"/>
            <a:chOff x="0" y="0"/>
            <a:chExt cx="22555200" cy="2357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1600" y="1242384"/>
            <a:ext cx="16916400" cy="176841"/>
            <a:chOff x="0" y="0"/>
            <a:chExt cx="22555200" cy="2357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55200" cy="235839"/>
            </a:xfrm>
            <a:custGeom>
              <a:avLst/>
              <a:gdLst/>
              <a:ahLst/>
              <a:cxnLst/>
              <a:rect r="r" b="b" t="t" l="l"/>
              <a:pathLst>
                <a:path h="235839" w="22555200">
                  <a:moveTo>
                    <a:pt x="0" y="0"/>
                  </a:moveTo>
                  <a:lnTo>
                    <a:pt x="22555200" y="0"/>
                  </a:lnTo>
                  <a:lnTo>
                    <a:pt x="22555200" y="235839"/>
                  </a:lnTo>
                  <a:lnTo>
                    <a:pt x="0" y="235839"/>
                  </a:lnTo>
                  <a:close/>
                </a:path>
              </a:pathLst>
            </a:custGeom>
            <a:gradFill rotWithShape="true">
              <a:gsLst>
                <a:gs pos="0">
                  <a:srgbClr val="969696"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/>
            </a:grad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720728" y="685800"/>
            <a:ext cx="1066800" cy="914400"/>
          </a:xfrm>
          <a:custGeom>
            <a:avLst/>
            <a:gdLst/>
            <a:ahLst/>
            <a:cxnLst/>
            <a:rect r="r" b="b" t="t" l="l"/>
            <a:pathLst>
              <a:path h="914400" w="1066800">
                <a:moveTo>
                  <a:pt x="0" y="0"/>
                </a:moveTo>
                <a:lnTo>
                  <a:pt x="1066800" y="0"/>
                </a:lnTo>
                <a:lnTo>
                  <a:pt x="1066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625840" y="9734245"/>
            <a:ext cx="8122920" cy="379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HCMC University of Technology and Education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55430" y="4274820"/>
            <a:ext cx="10104120" cy="1051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20"/>
              </a:lnSpc>
            </a:pPr>
            <a:r>
              <a:rPr lang="en-US" b="true" sz="8100">
                <a:gradFill>
                  <a:gsLst>
                    <a:gs pos="0">
                      <a:srgbClr val="4987E3">
                        <a:alpha val="100000"/>
                      </a:srgbClr>
                    </a:gs>
                    <a:gs pos="100000">
                      <a:srgbClr val="9CC769">
                        <a:alpha val="100000"/>
                      </a:srgbClr>
                    </a:gs>
                  </a:gsLst>
                  <a:lin ang="5400000"/>
                </a:gradFill>
                <a:latin typeface="Verdana Bold"/>
                <a:ea typeface="Verdana Bold"/>
                <a:cs typeface="Verdana Bold"/>
                <a:sym typeface="Verdana Bold"/>
              </a:rPr>
              <a:t>Thank You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63840" y="8865870"/>
            <a:ext cx="5189220" cy="46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268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www.themegallery.com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DAHVDzUlzMA</dc:identifier>
  <dcterms:modified xsi:type="dcterms:W3CDTF">2011-08-01T06:04:30Z</dcterms:modified>
  <cp:revision>1</cp:revision>
  <dc:title>BaoCao_Tuan4_CK.pptx</dc:title>
</cp:coreProperties>
</file>